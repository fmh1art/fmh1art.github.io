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5.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2"/>
  </p:sldMasterIdLst>
  <p:notesMasterIdLst>
    <p:notesMasterId r:id="rId27"/>
  </p:notesMasterIdLst>
  <p:handoutMasterIdLst>
    <p:handoutMasterId r:id="rId28"/>
  </p:handoutMasterIdLst>
  <p:sldIdLst>
    <p:sldId id="256" r:id="rId3"/>
    <p:sldId id="729" r:id="rId4"/>
    <p:sldId id="748" r:id="rId5"/>
    <p:sldId id="742" r:id="rId6"/>
    <p:sldId id="743" r:id="rId7"/>
    <p:sldId id="737" r:id="rId8"/>
    <p:sldId id="755" r:id="rId9"/>
    <p:sldId id="704" r:id="rId10"/>
    <p:sldId id="745" r:id="rId11"/>
    <p:sldId id="746" r:id="rId12"/>
    <p:sldId id="747" r:id="rId13"/>
    <p:sldId id="736" r:id="rId14"/>
    <p:sldId id="733" r:id="rId15"/>
    <p:sldId id="750" r:id="rId16"/>
    <p:sldId id="752" r:id="rId17"/>
    <p:sldId id="749" r:id="rId18"/>
    <p:sldId id="718" r:id="rId19"/>
    <p:sldId id="719" r:id="rId20"/>
    <p:sldId id="734" r:id="rId21"/>
    <p:sldId id="720" r:id="rId22"/>
    <p:sldId id="756" r:id="rId23"/>
    <p:sldId id="721" r:id="rId24"/>
    <p:sldId id="636" r:id="rId25"/>
    <p:sldId id="665"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CCE"/>
    <a:srgbClr val="336699"/>
    <a:srgbClr val="FAD958"/>
    <a:srgbClr val="7A7A7A"/>
    <a:srgbClr val="E884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50" autoAdjust="0"/>
    <p:restoredTop sz="78114" autoAdjust="0"/>
  </p:normalViewPr>
  <p:slideViewPr>
    <p:cSldViewPr snapToGrid="0" snapToObjects="1">
      <p:cViewPr varScale="1">
        <p:scale>
          <a:sx n="107" d="100"/>
          <a:sy n="107" d="100"/>
        </p:scale>
        <p:origin x="1936" y="17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2025/9/16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179AA5F5-4856-3348-BACD-591727BE2284}" type="datetimeFigureOut">
              <a:rPr kumimoji="1" lang="zh-CN" altLang="en-US" smtClean="0"/>
              <a:t>2025/9/16</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A2F018-EA3F-704C-A9BC-B8CB424C86BE}"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dirty="0"/>
              <a:t>Hello everyone</a:t>
            </a:r>
            <a:r>
              <a:rPr kumimoji="1" lang="zh-CN" altLang="en-GB" dirty="0"/>
              <a:t>，</a:t>
            </a:r>
            <a:r>
              <a:rPr kumimoji="1" lang="en-GB" altLang="zh-CN" dirty="0"/>
              <a:t>I am </a:t>
            </a:r>
            <a:r>
              <a:rPr kumimoji="1" lang="en-GB" altLang="zh-CN" dirty="0" err="1"/>
              <a:t>Meihao</a:t>
            </a:r>
            <a:r>
              <a:rPr kumimoji="1" lang="en-GB" altLang="zh-CN" dirty="0"/>
              <a:t> Fan from </a:t>
            </a:r>
            <a:r>
              <a:rPr kumimoji="1" lang="en-GB" altLang="zh-CN" dirty="0" err="1"/>
              <a:t>RenMin</a:t>
            </a:r>
            <a:r>
              <a:rPr kumimoji="1" lang="en-GB" altLang="zh-CN" dirty="0"/>
              <a:t> university of China, </a:t>
            </a:r>
          </a:p>
          <a:p>
            <a:r>
              <a:rPr lang="en-US" altLang="zh-CN" sz="1200" b="0" i="0" kern="1200" dirty="0">
                <a:solidFill>
                  <a:schemeClr val="tx1"/>
                </a:solidFill>
                <a:effectLst/>
                <a:latin typeface="+mn-lt"/>
                <a:ea typeface="+mn-ea"/>
                <a:cs typeface="+mn-cs"/>
              </a:rPr>
              <a:t>Today I will give a presentation of the paper</a:t>
            </a:r>
            <a:r>
              <a:rPr kumimoji="1" lang="en-US" altLang="en-GB" dirty="0"/>
              <a:t> </a:t>
            </a:r>
            <a:r>
              <a:rPr kumimoji="1" lang="en-GB" altLang="zh-CN" dirty="0"/>
              <a:t>&lt;</a:t>
            </a:r>
            <a:r>
              <a:rPr lang="en-US" altLang="zh-CN" sz="1200" dirty="0" err="1">
                <a:latin typeface="Calibri" panose="020F0502020204030204" charset="0"/>
                <a:cs typeface="Calibri" panose="020F0502020204030204" charset="0"/>
              </a:rPr>
              <a:t>AutoPrep</a:t>
            </a:r>
            <a:r>
              <a:rPr lang="en-US" altLang="zh-CN" sz="1200" dirty="0">
                <a:latin typeface="Calibri" panose="020F0502020204030204" charset="0"/>
                <a:cs typeface="Calibri" panose="020F0502020204030204" charset="0"/>
              </a:rPr>
              <a:t>: Natural Language Question-Aware Data Preparation with a Multi-Agent Framework</a:t>
            </a:r>
            <a:r>
              <a:rPr kumimoji="1" lang="en-GB" altLang="zh-CN" dirty="0"/>
              <a:t>&gt;. This paper </a:t>
            </a:r>
            <a:r>
              <a:rPr kumimoji="1" lang="en-US" altLang="zh-CN" dirty="0"/>
              <a:t>is a joint work by authors from Renmin University of China, The Hong Kong University of Science and Technology, University of Arizona and Tsinghua University.</a:t>
            </a:r>
            <a:endParaRPr kumimoji="1" lang="en-GB" altLang="zh-CN" dirty="0"/>
          </a:p>
          <a:p>
            <a:endParaRPr kumimoji="1" lang="zh-CN" altLang="en-US"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Tabular Question Answering, </a:t>
            </a:r>
            <a:r>
              <a:rPr kumimoji="1" lang="en-US" altLang="zh-CN" sz="1200" dirty="0">
                <a:latin typeface="Calibri" panose="020F0502020204030204" charset="0"/>
                <a:cs typeface="Calibri" panose="020F0502020204030204" charset="0"/>
                <a:sym typeface="+mn-ea"/>
              </a:rPr>
              <a:t>refers to the task of answering natural language (NL) questions based on provided tables</a:t>
            </a:r>
          </a:p>
          <a:p>
            <a:endParaRPr lang="en-US" altLang="zh-CN" sz="1200" dirty="0"/>
          </a:p>
          <a:p>
            <a:endParaRPr lang="en-US" altLang="zh-CN" sz="1200" dirty="0"/>
          </a:p>
          <a:p>
            <a:r>
              <a:rPr lang="en-US" altLang="zh-CN" sz="1200" dirty="0"/>
              <a:t>For example, the figure illustrates a typical TQA case. It requires to generate the answer Italia for the </a:t>
            </a:r>
            <a:r>
              <a:rPr lang="en-US" altLang="zh-CN" sz="1200" dirty="0" err="1"/>
              <a:t>question“which</a:t>
            </a:r>
            <a:r>
              <a:rPr lang="en-US" altLang="zh-CN" sz="1200" dirty="0"/>
              <a:t> country has the most medals in February</a:t>
            </a:r>
            <a:r>
              <a:rPr lang="zh-CN" altLang="en-US" sz="1200" dirty="0"/>
              <a:t>” </a:t>
            </a:r>
            <a:r>
              <a:rPr lang="en-US" altLang="zh-CN" sz="1200" dirty="0"/>
              <a:t>based on the data provided by the table. </a:t>
            </a:r>
          </a:p>
          <a:p>
            <a:endParaRPr lang="en-US" altLang="zh-CN" sz="1200" dirty="0"/>
          </a:p>
          <a:p>
            <a:r>
              <a:rPr lang="en-US" altLang="zh-CN" sz="1200" dirty="0"/>
              <a:t>Previous TQA methods are model centric, which is focused on enhancing model’s reasoning capabilities over tables, such as Direct Prompting method and Code generation method.</a:t>
            </a:r>
            <a:endParaRPr lang="en-US" altLang="zh-CN"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2</a:t>
            </a:fld>
            <a:endParaRPr kumimoji="1" lang="zh-CN" altLang="en-US">
              <a:solidFill>
                <a:prstClr val="black"/>
              </a:solidFill>
            </a:endParaRPr>
          </a:p>
        </p:txBody>
      </p:sp>
    </p:spTree>
    <p:extLst>
      <p:ext uri="{BB962C8B-B14F-4D97-AF65-F5344CB8AC3E}">
        <p14:creationId xmlns:p14="http://schemas.microsoft.com/office/powerpoint/2010/main" val="3600607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dirty="0"/>
              <a:t>However, we find that </a:t>
            </a:r>
            <a:r>
              <a:rPr kumimoji="1" lang="en-US" altLang="zh-CN" sz="1200" dirty="0">
                <a:latin typeface="Calibri" panose="020F0502020204030204" charset="0"/>
                <a:cs typeface="Calibri" panose="020F0502020204030204" charset="0"/>
                <a:sym typeface="+mn-ea"/>
              </a:rPr>
              <a:t>in TQA, data prep issues are most important</a:t>
            </a:r>
            <a:r>
              <a:rPr kumimoji="1" lang="en-US" altLang="zh-CN" sz="1200" b="0" dirty="0"/>
              <a:t> because tables</a:t>
            </a:r>
            <a:r>
              <a:rPr kumimoji="1" lang="en-US" altLang="zh-CN" sz="1200" dirty="0">
                <a:latin typeface="Calibri" panose="020F0502020204030204" charset="0"/>
                <a:cs typeface="Calibri" panose="020F0502020204030204" charset="0"/>
                <a:sym typeface="+mn-ea"/>
              </a:rPr>
              <a:t> are usually from Web or </a:t>
            </a:r>
            <a:r>
              <a:rPr kumimoji="1" lang="en-US" altLang="zh-CN" sz="1200" dirty="0" err="1">
                <a:latin typeface="Calibri" panose="020F0502020204030204" charset="0"/>
                <a:cs typeface="Calibri" panose="020F0502020204030204" charset="0"/>
                <a:sym typeface="+mn-ea"/>
              </a:rPr>
              <a:t>SpreedSheet</a:t>
            </a:r>
            <a:r>
              <a:rPr kumimoji="1" lang="en-US" altLang="zh-CN" sz="1200" dirty="0">
                <a:latin typeface="Calibri" panose="020F0502020204030204" charset="0"/>
                <a:cs typeface="Calibri" panose="020F0502020204030204" charset="0"/>
                <a:sym typeface="+mn-ea"/>
              </a:rPr>
              <a:t>, demanding meticulous data preparation (or data prep) to produce accurate answers.</a:t>
            </a:r>
            <a:endParaRPr kumimoji="1" lang="en-US" altLang="zh-CN" sz="1200" b="0" dirty="0"/>
          </a:p>
          <a:p>
            <a:endParaRPr kumimoji="1" lang="en-US" altLang="zh-CN" sz="1200" b="0" dirty="0"/>
          </a:p>
          <a:p>
            <a:r>
              <a:rPr kumimoji="1" lang="en-US" altLang="zh-CN" sz="1200" b="0" dirty="0"/>
              <a:t>First, Missing Semantics issue. This issue refer to a case where required semantic information for NL question is not explicitly presented in the table. For example, we can not directly answer the question Q1 based on T1, since the country information need to be extracted from the column Cyclist.</a:t>
            </a:r>
          </a:p>
          <a:p>
            <a:endParaRPr kumimoji="1" lang="en-US" altLang="zh-CN" sz="1200" b="0" dirty="0"/>
          </a:p>
          <a:p>
            <a:r>
              <a:rPr kumimoji="1" lang="en-US" altLang="zh-CN" sz="1200" b="0" dirty="0"/>
              <a:t>We provide examples here to illustrate that, although current TQA methods are logically correct for the question, it still fails to generate the correct answer due to the data prep issues.</a:t>
            </a:r>
          </a:p>
          <a:p>
            <a:endParaRPr kumimoji="1" lang="en-US" altLang="zh-CN" sz="1200" b="0" dirty="0"/>
          </a:p>
          <a:p>
            <a:r>
              <a:rPr kumimoji="1" lang="en-US" altLang="zh-CN" sz="1200" b="0" dirty="0"/>
              <a:t>Thus, </a:t>
            </a:r>
            <a:r>
              <a:rPr lang="en" altLang="zh-CN" b="0" i="0" dirty="0">
                <a:effectLst/>
                <a:latin typeface="Inter"/>
              </a:rPr>
              <a:t>it is natural to first perform data prep on the table, then extract the answers.</a:t>
            </a:r>
            <a:endParaRPr kumimoji="1" lang="en-US" altLang="zh-CN" sz="1200" b="0" dirty="0"/>
          </a:p>
          <a:p>
            <a:endParaRPr kumimoji="1" lang="en-US" altLang="zh-CN" sz="1200" b="0"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3</a:t>
            </a:fld>
            <a:endParaRPr kumimoji="1" lang="zh-CN" altLang="en-US">
              <a:solidFill>
                <a:prstClr val="black"/>
              </a:solidFill>
            </a:endParaRPr>
          </a:p>
        </p:txBody>
      </p:sp>
    </p:spTree>
    <p:extLst>
      <p:ext uri="{BB962C8B-B14F-4D97-AF65-F5344CB8AC3E}">
        <p14:creationId xmlns:p14="http://schemas.microsoft.com/office/powerpoint/2010/main" val="2825509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dirty="0"/>
              <a:t>Second, Value Inconsistency issue. Sometimes, the data in the table is integrated from heterogenous</a:t>
            </a:r>
            <a:r>
              <a:rPr kumimoji="1" lang="zh-CN" altLang="en-US" sz="1200" b="0" dirty="0"/>
              <a:t> </a:t>
            </a:r>
            <a:r>
              <a:rPr kumimoji="1" lang="en-US" altLang="zh-CN" sz="1200" b="0" dirty="0"/>
              <a:t>sources, which requires question-dependent normalization. For example, the question Q-five requires to sort by the column “Time”, but values in the column are string, which can not be compared correctly.</a:t>
            </a:r>
            <a:endParaRPr kumimoji="1" lang="zh-CN" altLang="en-US" sz="1200" b="0"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4</a:t>
            </a:fld>
            <a:endParaRPr kumimoji="1" lang="zh-CN" altLang="en-US">
              <a:solidFill>
                <a:prstClr val="black"/>
              </a:solidFill>
            </a:endParaRPr>
          </a:p>
        </p:txBody>
      </p:sp>
    </p:spTree>
    <p:extLst>
      <p:ext uri="{BB962C8B-B14F-4D97-AF65-F5344CB8AC3E}">
        <p14:creationId xmlns:p14="http://schemas.microsoft.com/office/powerpoint/2010/main" val="17362234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dirty="0"/>
              <a:t>Third, irrelevant columns issue. </a:t>
            </a:r>
            <a:r>
              <a:rPr lang="en" altLang="zh-CN" b="0" i="0" dirty="0">
                <a:solidFill>
                  <a:srgbClr val="000000"/>
                </a:solidFill>
                <a:effectLst/>
                <a:latin typeface="PingFang SC" panose="020B0400000000000000" pitchFamily="34" charset="-122"/>
                <a:ea typeface="PingFang SC" panose="020B0400000000000000" pitchFamily="34" charset="-122"/>
              </a:rPr>
              <a:t>Usually, most of the columns in a table are irrelevant for answering questions</a:t>
            </a:r>
            <a:r>
              <a:rPr lang="en-US" altLang="zh-CN" b="0" i="0" dirty="0">
                <a:solidFill>
                  <a:srgbClr val="000000"/>
                </a:solidFill>
                <a:effectLst/>
                <a:latin typeface="PingFang SC" panose="020B0400000000000000" pitchFamily="34" charset="-122"/>
                <a:ea typeface="PingFang SC" panose="020B0400000000000000" pitchFamily="34" charset="-122"/>
              </a:rPr>
              <a:t>. Thus, it may bring issues like Maximum</a:t>
            </a:r>
            <a:r>
              <a:rPr lang="zh-CN" altLang="en-US" b="0" i="0" dirty="0">
                <a:solidFill>
                  <a:srgbClr val="000000"/>
                </a:solidFill>
                <a:effectLst/>
                <a:latin typeface="PingFang SC" panose="020B0400000000000000" pitchFamily="34" charset="-122"/>
                <a:ea typeface="PingFang SC" panose="020B0400000000000000" pitchFamily="34" charset="-122"/>
              </a:rPr>
              <a:t> </a:t>
            </a:r>
            <a:r>
              <a:rPr lang="en-US" altLang="zh-CN" b="0" i="0" dirty="0">
                <a:solidFill>
                  <a:srgbClr val="000000"/>
                </a:solidFill>
                <a:effectLst/>
                <a:latin typeface="PingFang SC" panose="020B0400000000000000" pitchFamily="34" charset="-122"/>
                <a:ea typeface="PingFang SC" panose="020B0400000000000000" pitchFamily="34" charset="-122"/>
              </a:rPr>
              <a:t>Input Token Limit and Lost in the Middle to LLM-based method.</a:t>
            </a:r>
          </a:p>
          <a:p>
            <a:endParaRPr kumimoji="1" lang="en-US" altLang="zh-CN" sz="1200" b="0" i="0" dirty="0">
              <a:solidFill>
                <a:srgbClr val="000000"/>
              </a:solidFill>
              <a:effectLst/>
              <a:latin typeface="PingFang SC" panose="020B0400000000000000" pitchFamily="34" charset="-122"/>
              <a:ea typeface="PingFang SC" panose="020B0400000000000000"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FF0000"/>
                </a:solidFill>
              </a:rPr>
              <a:t>To address these data prep issues, it requires to refer to </a:t>
            </a:r>
            <a:r>
              <a:rPr lang="en-US" altLang="zh-CN" sz="1200" b="1" dirty="0">
                <a:solidFill>
                  <a:srgbClr val="FF0000"/>
                </a:solidFill>
              </a:rPr>
              <a:t>both table and the question</a:t>
            </a:r>
            <a:r>
              <a:rPr lang="en-US" altLang="zh-CN" sz="1200" dirty="0">
                <a:solidFill>
                  <a:srgbClr val="FF0000"/>
                </a:solidFill>
              </a:rPr>
              <a:t>, which can not be addressed by the traditional data prep </a:t>
            </a:r>
            <a:r>
              <a:rPr lang="en-US" altLang="zh-CN" sz="1200" b="1" dirty="0">
                <a:solidFill>
                  <a:srgbClr val="FF0000"/>
                </a:solidFill>
              </a:rPr>
              <a:t>focusing only the data</a:t>
            </a:r>
            <a:r>
              <a:rPr lang="en-US" altLang="zh-CN" sz="1200" dirty="0">
                <a:solidFill>
                  <a:srgbClr val="FF0000"/>
                </a:solidFill>
              </a:rPr>
              <a:t>.</a:t>
            </a:r>
          </a:p>
          <a:p>
            <a:endParaRPr kumimoji="1" lang="zh-CN" altLang="en-US" sz="1200" b="0"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5</a:t>
            </a:fld>
            <a:endParaRPr kumimoji="1" lang="zh-CN" altLang="en-US">
              <a:solidFill>
                <a:prstClr val="black"/>
              </a:solidFill>
            </a:endParaRPr>
          </a:p>
        </p:txBody>
      </p:sp>
    </p:spTree>
    <p:extLst>
      <p:ext uri="{BB962C8B-B14F-4D97-AF65-F5344CB8AC3E}">
        <p14:creationId xmlns:p14="http://schemas.microsoft.com/office/powerpoint/2010/main" val="1767892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dirty="0"/>
              <a:t>We conduct an error analysis of an LLM-based approach across two TQA tasks and find that the bottleneck of current TQA methods is data prep issues instead of model’s reasoning capability. </a:t>
            </a:r>
          </a:p>
          <a:p>
            <a:endParaRPr kumimoji="1" lang="en-US" altLang="zh-CN" sz="1200" b="0" dirty="0"/>
          </a:p>
          <a:p>
            <a:r>
              <a:rPr kumimoji="1" lang="en-US" altLang="zh-CN" sz="1200" b="0" dirty="0"/>
              <a:t>As shown in the figure, very limited errors are stem from the reasoning capabilities of LLMs, illustrated by a small subset of the “Other” category. And most TQA errors stem from inadequately addressing data prep issues, which is 84 percent for </a:t>
            </a:r>
            <a:r>
              <a:rPr kumimoji="1" lang="en-US" altLang="zh-CN" sz="1200" b="0" dirty="0" err="1"/>
              <a:t>WikiTQ</a:t>
            </a:r>
            <a:r>
              <a:rPr kumimoji="1" lang="en-US" altLang="zh-CN" sz="1200" b="0" dirty="0"/>
              <a:t> and 76 percent for </a:t>
            </a:r>
            <a:r>
              <a:rPr kumimoji="1" lang="en-US" altLang="zh-CN" sz="1200" b="0" dirty="0" err="1"/>
              <a:t>TabFact</a:t>
            </a:r>
            <a:r>
              <a:rPr kumimoji="1" lang="en-US" altLang="zh-CN" sz="1200" b="0" dirty="0"/>
              <a:t>.</a:t>
            </a:r>
          </a:p>
          <a:p>
            <a:endParaRPr kumimoji="1" lang="en-US" altLang="zh-CN"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dirty="0"/>
              <a:t>Thus, </a:t>
            </a:r>
            <a:r>
              <a:rPr kumimoji="1" lang="en-US" altLang="zh-CN" sz="1200" dirty="0">
                <a:latin typeface="Calibri" panose="020F0502020204030204" charset="0"/>
                <a:cs typeface="Calibri" panose="020F0502020204030204" charset="0"/>
                <a:sym typeface="+mn-ea"/>
              </a:rPr>
              <a:t>we propose to study </a:t>
            </a:r>
            <a:r>
              <a:rPr kumimoji="1" lang="en-US" altLang="zh-CN" sz="1200" dirty="0">
                <a:solidFill>
                  <a:srgbClr val="FF0000"/>
                </a:solidFill>
                <a:latin typeface="Calibri" panose="020F0502020204030204" charset="0"/>
                <a:cs typeface="Calibri" panose="020F0502020204030204" charset="0"/>
                <a:sym typeface="+mn-ea"/>
              </a:rPr>
              <a:t>a new problem in this paper, which is named as </a:t>
            </a:r>
            <a:r>
              <a:rPr kumimoji="1" lang="en-US" altLang="zh-CN" sz="1200" b="1" dirty="0">
                <a:solidFill>
                  <a:srgbClr val="FF0000"/>
                </a:solidFill>
                <a:latin typeface="Calibri" panose="020F0502020204030204" charset="0"/>
                <a:cs typeface="Calibri" panose="020F0502020204030204" charset="0"/>
                <a:sym typeface="+mn-ea"/>
              </a:rPr>
              <a:t>question-aware data prep </a:t>
            </a:r>
            <a:r>
              <a:rPr kumimoji="1" lang="en-US" altLang="zh-CN" sz="1200" dirty="0">
                <a:solidFill>
                  <a:srgbClr val="FF0000"/>
                </a:solidFill>
                <a:latin typeface="Calibri" panose="020F0502020204030204" charset="0"/>
                <a:cs typeface="Calibri" panose="020F0502020204030204" charset="0"/>
                <a:sym typeface="+mn-ea"/>
              </a:rPr>
              <a:t>for TQA</a:t>
            </a:r>
          </a:p>
          <a:p>
            <a:endParaRPr kumimoji="1" lang="zh-CN" altLang="en-US" sz="1200" b="0"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6</a:t>
            </a:fld>
            <a:endParaRPr kumimoji="1" lang="zh-CN" altLang="en-US">
              <a:solidFill>
                <a:prstClr val="black"/>
              </a:solidFill>
            </a:endParaRPr>
          </a:p>
        </p:txBody>
      </p:sp>
    </p:spTree>
    <p:extLst>
      <p:ext uri="{BB962C8B-B14F-4D97-AF65-F5344CB8AC3E}">
        <p14:creationId xmlns:p14="http://schemas.microsoft.com/office/powerpoint/2010/main" val="36845306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en-GB" sz="1200" dirty="0"/>
              <a:t>Question-aware data prep for TQA inputs with a table T and a question Q, and requires to generate a sequence of high-level data prep operations based on T and Q, such as Derive and Normalize.</a:t>
            </a:r>
          </a:p>
          <a:p>
            <a:endParaRPr kumimoji="1" lang="en-US" altLang="en-GB" sz="1200" dirty="0"/>
          </a:p>
          <a:p>
            <a:r>
              <a:rPr kumimoji="1" lang="en-US" altLang="en-GB" sz="1200" dirty="0"/>
              <a:t>These high-level operations will be implemented by codes to get a clean table, which helps TQA method to extract the final answer</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7</a:t>
            </a:fld>
            <a:endParaRPr kumimoji="1" lang="zh-CN" altLang="en-US">
              <a:solidFill>
                <a:prstClr val="black"/>
              </a:solidFill>
            </a:endParaRPr>
          </a:p>
        </p:txBody>
      </p:sp>
    </p:spTree>
    <p:extLst>
      <p:ext uri="{BB962C8B-B14F-4D97-AF65-F5344CB8AC3E}">
        <p14:creationId xmlns:p14="http://schemas.microsoft.com/office/powerpoint/2010/main" val="1160887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en-GB" sz="1200" dirty="0"/>
              <a:t>However, building such a system is challenging due to the semantic alignment between the table and the question.</a:t>
            </a:r>
          </a:p>
          <a:p>
            <a:endParaRPr kumimoji="1" lang="en-US" altLang="en-GB" sz="1200" dirty="0"/>
          </a:p>
          <a:p>
            <a:r>
              <a:rPr kumimoji="1" lang="en-US" altLang="en-GB" sz="1200" dirty="0"/>
              <a:t>First, how to …</a:t>
            </a:r>
          </a:p>
          <a:p>
            <a:r>
              <a:rPr kumimoji="1" lang="en-US" altLang="en-GB" sz="1200" dirty="0"/>
              <a:t>Ans how to …</a:t>
            </a:r>
          </a:p>
          <a:p>
            <a:endParaRPr kumimoji="1" lang="en-US" altLang="en-GB" sz="1200" dirty="0"/>
          </a:p>
          <a:p>
            <a:r>
              <a:rPr kumimoji="1" lang="en-US" altLang="en-GB" sz="1200" dirty="0"/>
              <a:t>The Figure on the right shows a failure example of a naïve question-aware data prep method. It has two main limitations. </a:t>
            </a:r>
          </a:p>
          <a:p>
            <a:endParaRPr kumimoji="1" lang="en-US" altLang="en-GB" sz="1200" dirty="0"/>
          </a:p>
          <a:p>
            <a:r>
              <a:rPr kumimoji="1" lang="en-US" altLang="en-GB" sz="1200" dirty="0"/>
              <a:t>First, it can not generate correct logical operations. For example, in Circle two, it wrongly convert the irrelevant column age to numerical. Also, in Circle five, although it tries to extract the country values from the column Cyclist, it fails to consider all cases of inconsistent values.</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8</a:t>
            </a:fld>
            <a:endParaRPr kumimoji="1"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To address these challenges, we propose a multi-agent data prep framework for TQA, named </a:t>
            </a:r>
            <a:r>
              <a:rPr kumimoji="1" lang="en-US" altLang="zh-CN" dirty="0" err="1"/>
              <a:t>AutoPrep</a:t>
            </a:r>
            <a:r>
              <a:rPr kumimoji="1" lang="en-US" altLang="zh-CN" dirty="0"/>
              <a:t>. Inspired by DBMS, </a:t>
            </a:r>
            <a:r>
              <a:rPr kumimoji="1" lang="en-US" altLang="zh-CN" dirty="0" err="1"/>
              <a:t>AutoPrep</a:t>
            </a:r>
            <a:r>
              <a:rPr kumimoji="1" lang="en-US" altLang="zh-CN" dirty="0"/>
              <a:t> </a:t>
            </a:r>
            <a:r>
              <a:rPr kumimoji="1" lang="en-US" altLang="zh-CN" sz="1200" dirty="0">
                <a:latin typeface="Calibri" panose="020F0502020204030204" charset="0"/>
                <a:cs typeface="Calibri" panose="020F0502020204030204" charset="0"/>
                <a:sym typeface="+mn-ea"/>
              </a:rPr>
              <a:t>separates high-level (logical) data prep(DP) operations from the concrete codes (physical) for execution</a:t>
            </a:r>
            <a:endParaRPr kumimoji="1" lang="en-US" altLang="zh-CN" dirty="0"/>
          </a:p>
          <a:p>
            <a:r>
              <a:rPr kumimoji="1" lang="en-US" altLang="zh-CN" dirty="0"/>
              <a:t>First, it designs </a:t>
            </a:r>
            <a:r>
              <a:rPr kumimoji="1" lang="en-US" altLang="zh-CN" sz="1200" dirty="0">
                <a:latin typeface="Calibri" panose="020F0502020204030204" charset="0"/>
                <a:cs typeface="Calibri" panose="020F0502020204030204" charset="0"/>
                <a:sym typeface="+mn-ea"/>
              </a:rPr>
              <a:t>Design a </a:t>
            </a:r>
            <a:r>
              <a:rPr kumimoji="1" lang="en-US" altLang="zh-CN" sz="1200" dirty="0">
                <a:solidFill>
                  <a:schemeClr val="bg1"/>
                </a:solidFill>
                <a:highlight>
                  <a:srgbClr val="0000FF"/>
                </a:highlight>
                <a:latin typeface="Calibri" panose="020F0502020204030204" charset="0"/>
                <a:cs typeface="Calibri" panose="020F0502020204030204" charset="0"/>
                <a:sym typeface="+mn-ea"/>
              </a:rPr>
              <a:t>Planner agent</a:t>
            </a:r>
            <a:r>
              <a:rPr kumimoji="1" lang="en-US" altLang="zh-CN" sz="1200" dirty="0">
                <a:solidFill>
                  <a:schemeClr val="bg1"/>
                </a:solidFill>
                <a:latin typeface="Calibri" panose="020F0502020204030204" charset="0"/>
                <a:cs typeface="Calibri" panose="020F0502020204030204" charset="0"/>
                <a:sym typeface="+mn-ea"/>
              </a:rPr>
              <a:t> </a:t>
            </a:r>
            <a:r>
              <a:rPr kumimoji="1" lang="en-US" altLang="zh-CN" sz="1200" dirty="0">
                <a:latin typeface="Calibri" panose="020F0502020204030204" charset="0"/>
                <a:cs typeface="Calibri" panose="020F0502020204030204" charset="0"/>
                <a:sym typeface="+mn-ea"/>
              </a:rPr>
              <a:t>to generate all data prep tasks and plan them in sequence</a:t>
            </a:r>
            <a:endParaRPr kumimoji="1" lang="en-US" altLang="zh-CN"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9</a:t>
            </a:fld>
            <a:endParaRPr kumimoji="1" lang="zh-CN" altLang="en-US">
              <a:solidFill>
                <a:prstClr val="black"/>
              </a:solidFill>
            </a:endParaRPr>
          </a:p>
        </p:txBody>
      </p:sp>
    </p:spTree>
    <p:extLst>
      <p:ext uri="{BB962C8B-B14F-4D97-AF65-F5344CB8AC3E}">
        <p14:creationId xmlns:p14="http://schemas.microsoft.com/office/powerpoint/2010/main" val="1132522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Secondly, after generating the logical operation, it assigns the …</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10</a:t>
            </a:fld>
            <a:endParaRPr kumimoji="1" lang="zh-CN" altLang="en-US">
              <a:solidFill>
                <a:prstClr val="black"/>
              </a:solidFill>
            </a:endParaRPr>
          </a:p>
        </p:txBody>
      </p:sp>
    </p:spTree>
    <p:extLst>
      <p:ext uri="{BB962C8B-B14F-4D97-AF65-F5344CB8AC3E}">
        <p14:creationId xmlns:p14="http://schemas.microsoft.com/office/powerpoint/2010/main" val="3166784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Finally, it outputs a prepared clean table and utilizes a standard TQA method such as NL2SQL or </a:t>
            </a:r>
            <a:r>
              <a:rPr kumimoji="1" lang="en-US" altLang="zh-CN" dirty="0" err="1"/>
              <a:t>CoT</a:t>
            </a:r>
            <a:r>
              <a:rPr kumimoji="1" lang="en-US" altLang="zh-CN" dirty="0"/>
              <a:t> prompting to generate the final answer.</a:t>
            </a:r>
          </a:p>
          <a:p>
            <a:endParaRPr kumimoji="1" lang="en-US" altLang="zh-CN" dirty="0"/>
          </a:p>
          <a:p>
            <a:r>
              <a:rPr kumimoji="1" lang="en-US" altLang="zh-CN" dirty="0"/>
              <a:t>The main idea behind the design is to decompose the complex problem into smaller and manageable sub-tasks.</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11</a:t>
            </a:fld>
            <a:endParaRPr kumimoji="1" lang="zh-CN" altLang="en-US">
              <a:solidFill>
                <a:prstClr val="black"/>
              </a:solidFill>
            </a:endParaRPr>
          </a:p>
        </p:txBody>
      </p:sp>
    </p:spTree>
    <p:extLst>
      <p:ext uri="{BB962C8B-B14F-4D97-AF65-F5344CB8AC3E}">
        <p14:creationId xmlns:p14="http://schemas.microsoft.com/office/powerpoint/2010/main" val="21170199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buFont typeface="Arial" panose="020B0604020202020204" pitchFamily="34" charset="0"/>
              <a:buNone/>
            </a:pPr>
            <a:r>
              <a:rPr kumimoji="1" lang="en-US" altLang="zh-CN" sz="1200" dirty="0">
                <a:latin typeface="Calibri" panose="020F0502020204030204" charset="0"/>
                <a:cs typeface="Calibri" panose="020F0502020204030204" charset="0"/>
                <a:sym typeface="+mn-ea"/>
              </a:rPr>
              <a:t>The Planner agent has a challenge that is how to …</a:t>
            </a:r>
          </a:p>
          <a:p>
            <a:pPr>
              <a:lnSpc>
                <a:spcPct val="100000"/>
              </a:lnSpc>
              <a:buFont typeface="Arial" panose="020B0604020202020204" pitchFamily="34" charset="0"/>
              <a:buNone/>
            </a:pPr>
            <a:endParaRPr kumimoji="1" lang="en-US" altLang="zh-CN" sz="1200" dirty="0">
              <a:latin typeface="Calibri" panose="020F0502020204030204" charset="0"/>
              <a:cs typeface="Calibri" panose="020F0502020204030204" charset="0"/>
              <a:sym typeface="+mn-ea"/>
            </a:endParaRPr>
          </a:p>
          <a:p>
            <a:pPr>
              <a:lnSpc>
                <a:spcPct val="100000"/>
              </a:lnSpc>
              <a:buFont typeface="Arial" panose="020B0604020202020204" pitchFamily="34" charset="0"/>
              <a:buNone/>
            </a:pPr>
            <a:r>
              <a:rPr kumimoji="1" lang="en-US" altLang="zh-CN" sz="1200" dirty="0">
                <a:latin typeface="Calibri" panose="020F0502020204030204" charset="0"/>
                <a:cs typeface="Calibri" panose="020F0502020204030204" charset="0"/>
                <a:sym typeface="+mn-ea"/>
              </a:rPr>
              <a:t>The figure on the left shows a direct prompting baseline method. It fails because it generates incorrect logical operations and misses out important operations</a:t>
            </a:r>
          </a:p>
          <a:p>
            <a:pPr>
              <a:lnSpc>
                <a:spcPct val="100000"/>
              </a:lnSpc>
              <a:buFont typeface="Arial" panose="020B0604020202020204" pitchFamily="34" charset="0"/>
              <a:buChar char="•"/>
            </a:pPr>
            <a:endParaRPr kumimoji="1" lang="en-US" altLang="zh-CN" sz="1200" dirty="0">
              <a:latin typeface="Calibri" panose="020F0502020204030204" charset="0"/>
              <a:cs typeface="Calibri" panose="020F0502020204030204" charset="0"/>
              <a:sym typeface="+mn-ea"/>
            </a:endParaRPr>
          </a:p>
          <a:p>
            <a:pPr>
              <a:lnSpc>
                <a:spcPct val="100000"/>
              </a:lnSpc>
              <a:buFont typeface="Arial" panose="020B0604020202020204" pitchFamily="34" charset="0"/>
              <a:buChar char="•"/>
            </a:pPr>
            <a:r>
              <a:rPr kumimoji="1" lang="en-US" altLang="zh-CN" sz="1200" dirty="0">
                <a:latin typeface="Calibri" panose="020F0502020204030204" charset="0"/>
                <a:cs typeface="Calibri" panose="020F0502020204030204" charset="0"/>
                <a:sym typeface="+mn-ea"/>
              </a:rPr>
              <a:t>Firstly, The </a:t>
            </a:r>
            <a:r>
              <a:rPr kumimoji="1" lang="en-US" altLang="zh-CN" sz="1200" i="1" dirty="0">
                <a:latin typeface="Calibri" panose="020F0502020204030204" charset="0"/>
                <a:cs typeface="Calibri" panose="020F0502020204030204" charset="0"/>
                <a:sym typeface="+mn-ea"/>
              </a:rPr>
              <a:t>Filter</a:t>
            </a:r>
            <a:r>
              <a:rPr kumimoji="1" lang="en-US" altLang="zh-CN" sz="1200" dirty="0">
                <a:latin typeface="Calibri" panose="020F0502020204030204" charset="0"/>
                <a:cs typeface="Calibri" panose="020F0502020204030204" charset="0"/>
                <a:sym typeface="+mn-ea"/>
              </a:rPr>
              <a:t> operation retains the Country column simply because the question mentions “which country” but Incorrectly filters out Cyclist column, which contains the country information.</a:t>
            </a:r>
          </a:p>
          <a:p>
            <a:pPr>
              <a:lnSpc>
                <a:spcPct val="100000"/>
              </a:lnSpc>
              <a:buFont typeface="Arial" panose="020B0604020202020204" pitchFamily="34" charset="0"/>
              <a:buChar char="•"/>
            </a:pPr>
            <a:r>
              <a:rPr kumimoji="1" lang="en-US" altLang="zh-CN" sz="1200" dirty="0">
                <a:latin typeface="Calibri" panose="020F0502020204030204" charset="0"/>
                <a:cs typeface="Calibri" panose="020F0502020204030204" charset="0"/>
                <a:sym typeface="+mn-ea"/>
              </a:rPr>
              <a:t>Secondly, It ignore the data prep operations to normalize the format of date to extract the month value</a:t>
            </a:r>
          </a:p>
          <a:p>
            <a:pPr>
              <a:lnSpc>
                <a:spcPct val="100000"/>
              </a:lnSpc>
              <a:buFont typeface="Arial" panose="020B0604020202020204" pitchFamily="34" charset="0"/>
              <a:buNone/>
            </a:pPr>
            <a:endParaRPr kumimoji="1" lang="en-US" altLang="zh-CN" sz="1200" dirty="0">
              <a:latin typeface="Calibri" panose="020F0502020204030204" charset="0"/>
              <a:cs typeface="Calibri" panose="020F0502020204030204" charset="0"/>
              <a:sym typeface="+mn-ea"/>
            </a:endParaRP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12</a:t>
            </a:fld>
            <a:endParaRPr kumimoji="1" lang="zh-CN" altLang="en-US">
              <a:solidFill>
                <a:prstClr val="black"/>
              </a:solidFill>
            </a:endParaRPr>
          </a:p>
        </p:txBody>
      </p:sp>
    </p:spTree>
    <p:extLst>
      <p:ext uri="{BB962C8B-B14F-4D97-AF65-F5344CB8AC3E}">
        <p14:creationId xmlns:p14="http://schemas.microsoft.com/office/powerpoint/2010/main" val="1212194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dirty="0"/>
              <a:t>In this paper, we design the Planner with a novel …, consisting of two phases. </a:t>
            </a:r>
          </a:p>
          <a:p>
            <a:endParaRPr kumimoji="1" lang="en-US" dirty="0"/>
          </a:p>
          <a:p>
            <a:r>
              <a:rPr kumimoji="1" lang="en-US" dirty="0"/>
              <a:t>First, we ... </a:t>
            </a:r>
          </a:p>
          <a:p>
            <a:endParaRPr kumimoji="1" lang="en-US" dirty="0"/>
          </a:p>
          <a:p>
            <a:r>
              <a:rPr kumimoji="1" lang="en-US" dirty="0"/>
              <a:t>The figure on the right illustrates how the analysis sketch looks like. </a:t>
            </a:r>
          </a:p>
          <a:p>
            <a:endParaRPr kumimoji="1" lang="en-US" dirty="0"/>
          </a:p>
          <a:p>
            <a:r>
              <a:rPr kumimoji="1" lang="en-US" dirty="0"/>
              <a:t>Next</a:t>
            </a:r>
            <a:r>
              <a:rPr kumimoji="1" lang="en-US" altLang="zh-CN" dirty="0"/>
              <a:t>, as shown in the left Figure, </a:t>
            </a:r>
            <a:r>
              <a:rPr kumimoji="1" lang="en-US" dirty="0"/>
              <a:t>after generating the analysis sketch, we extract each clause in the sketch and prompting </a:t>
            </a:r>
            <a:r>
              <a:rPr kumimoji="1" lang="en-US" dirty="0" err="1"/>
              <a:t>llms</a:t>
            </a:r>
            <a:r>
              <a:rPr kumimoji="1" lang="en-US" dirty="0"/>
              <a:t> with corresponding data to generate logical operations</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13</a:t>
            </a:fld>
            <a:endParaRPr kumimoji="1" lang="zh-CN" altLang="en-US">
              <a:solidFill>
                <a:prstClr val="black"/>
              </a:solidFill>
            </a:endParaRPr>
          </a:p>
        </p:txBody>
      </p:sp>
    </p:spTree>
    <p:extLst>
      <p:ext uri="{BB962C8B-B14F-4D97-AF65-F5344CB8AC3E}">
        <p14:creationId xmlns:p14="http://schemas.microsoft.com/office/powerpoint/2010/main" val="17078624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dirty="0"/>
              <a:t>The Programmer in </a:t>
            </a:r>
            <a:r>
              <a:rPr kumimoji="1" lang="en-US" dirty="0" err="1"/>
              <a:t>AutoPrep</a:t>
            </a:r>
            <a:r>
              <a:rPr kumimoji="1" lang="en-US" dirty="0"/>
              <a:t> has one challenge, that is, it’s hard to address,….</a:t>
            </a:r>
          </a:p>
          <a:p>
            <a:endParaRPr kumimoji="1" lang="en-US" dirty="0"/>
          </a:p>
          <a:p>
            <a:r>
              <a:rPr kumimoji="1" lang="en-US" dirty="0"/>
              <a:t>As shown in the example, the method usually fails to convert all inconsistent country values or date values to a consistent format, contributing to an </a:t>
            </a:r>
            <a:r>
              <a:rPr kumimoji="1" lang="en-US" dirty="0" err="1"/>
              <a:t>inadequatly</a:t>
            </a:r>
            <a:r>
              <a:rPr kumimoji="1" lang="en-US" dirty="0"/>
              <a:t> prepared table</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14</a:t>
            </a:fld>
            <a:endParaRPr kumimoji="1" lang="zh-CN" altLang="en-US">
              <a:solidFill>
                <a:prstClr val="black"/>
              </a:solidFill>
            </a:endParaRPr>
          </a:p>
        </p:txBody>
      </p:sp>
    </p:spTree>
    <p:extLst>
      <p:ext uri="{BB962C8B-B14F-4D97-AF65-F5344CB8AC3E}">
        <p14:creationId xmlns:p14="http://schemas.microsoft.com/office/powerpoint/2010/main" val="41331923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dirty="0"/>
              <a:t>In this paper, we introduce a tool-augmented method, enhancing LLMs’ code generation capabilities with predefined API functions.</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15</a:t>
            </a:fld>
            <a:endParaRPr kumimoji="1" lang="zh-CN" altLang="en-US">
              <a:solidFill>
                <a:prstClr val="black"/>
              </a:solidFill>
            </a:endParaRPr>
          </a:p>
        </p:txBody>
      </p:sp>
    </p:spTree>
    <p:extLst>
      <p:ext uri="{BB962C8B-B14F-4D97-AF65-F5344CB8AC3E}">
        <p14:creationId xmlns:p14="http://schemas.microsoft.com/office/powerpoint/2010/main" val="4177756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dirty="0"/>
              <a:t>This figure illustrates how the programmer and executor work in </a:t>
            </a:r>
            <a:r>
              <a:rPr kumimoji="1" lang="en-US" dirty="0" err="1"/>
              <a:t>AutoPrep</a:t>
            </a:r>
            <a:r>
              <a:rPr kumimoji="1" lang="en-US" dirty="0"/>
              <a:t>. </a:t>
            </a:r>
          </a:p>
          <a:p>
            <a:endParaRPr kumimoji="1" lang="en-US" dirty="0"/>
          </a:p>
          <a:p>
            <a:r>
              <a:rPr kumimoji="1" lang="en-US" dirty="0"/>
              <a:t>First, given a logical operation, it prompts the Programmer with related data to select and complete a function to implement it.</a:t>
            </a:r>
          </a:p>
          <a:p>
            <a:endParaRPr kumimoji="1" lang="en-US" dirty="0"/>
          </a:p>
          <a:p>
            <a:r>
              <a:rPr kumimoji="1" lang="en-US" dirty="0"/>
              <a:t>Then, we translate the function to codes for execution. Any execution errors will be diagnosed by an executor agent, which will be passed back for physical operation refinement.</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solidFill>
                  <a:prstClr val="black"/>
                </a:solidFill>
              </a:rPr>
              <a:t>16</a:t>
            </a:fld>
            <a:endParaRPr kumimoji="1" lang="zh-CN" altLang="en-US">
              <a:solidFill>
                <a:prstClr val="black"/>
              </a:solidFill>
            </a:endParaRPr>
          </a:p>
        </p:txBody>
      </p:sp>
    </p:spTree>
    <p:extLst>
      <p:ext uri="{BB962C8B-B14F-4D97-AF65-F5344CB8AC3E}">
        <p14:creationId xmlns:p14="http://schemas.microsoft.com/office/powerpoint/2010/main" val="867157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 the Experiment, we evaluate our method on three datasets, named </a:t>
            </a:r>
            <a:r>
              <a:rPr lang="en-US" dirty="0" err="1"/>
              <a:t>WikiTQ</a:t>
            </a:r>
            <a:r>
              <a:rPr lang="en-US" dirty="0"/>
              <a:t>, </a:t>
            </a:r>
            <a:r>
              <a:rPr lang="en-US" dirty="0" err="1"/>
              <a:t>TabFact</a:t>
            </a:r>
            <a:r>
              <a:rPr lang="en-US" dirty="0"/>
              <a:t> and </a:t>
            </a:r>
            <a:r>
              <a:rPr lang="en-US" dirty="0" err="1"/>
              <a:t>TabBench</a:t>
            </a:r>
            <a:r>
              <a:rPr lang="en-US" dirty="0"/>
              <a:t>. The statistics are shown in the right table.</a:t>
            </a:r>
          </a:p>
          <a:p>
            <a:endParaRPr lang="en-US" dirty="0"/>
          </a:p>
          <a:p>
            <a:r>
              <a:rPr lang="en-US" dirty="0"/>
              <a:t>We compare with three types of baselines over 4 different LLM backbones, named …</a:t>
            </a:r>
          </a:p>
          <a:p>
            <a:endParaRPr lang="en-US" dirty="0"/>
          </a:p>
          <a:p>
            <a:r>
              <a:rPr lang="en-US" dirty="0"/>
              <a:t>We use two metric for evaluation. First, we adopt Binder evaluator to calculate the accuracy of all methods. Second, we record both the time and API cost for all methods.</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17</a:t>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en-US" dirty="0"/>
              <a:t>We first evaluate all TQA baselines with/or without the data preparation of </a:t>
            </a:r>
            <a:r>
              <a:rPr lang="en-US" dirty="0" err="1"/>
              <a:t>AutoPrep</a:t>
            </a:r>
            <a:r>
              <a:rPr lang="en-US" dirty="0"/>
              <a:t>. The main takeaway is:</a:t>
            </a:r>
          </a:p>
          <a:p>
            <a:pPr>
              <a:lnSpc>
                <a:spcPct val="100000"/>
              </a:lnSpc>
            </a:pPr>
            <a:endParaRPr lang="en-US" dirty="0"/>
          </a:p>
          <a:p>
            <a:pPr>
              <a:lnSpc>
                <a:spcPct val="100000"/>
              </a:lnSpc>
            </a:pPr>
            <a:r>
              <a:rPr lang="en-US" dirty="0"/>
              <a:t>The results clearly show the significance of data prep in TQA task.</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18</a:t>
            </a:fld>
            <a:endParaRPr kumimoji="1"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en-US" dirty="0"/>
              <a:t>We also compare </a:t>
            </a:r>
            <a:r>
              <a:rPr lang="en-US" dirty="0" err="1"/>
              <a:t>AutoPrep</a:t>
            </a:r>
            <a:r>
              <a:rPr lang="en-US" dirty="0"/>
              <a:t> with other data prep methods for TQA. The main takeaway is </a:t>
            </a:r>
            <a:r>
              <a:rPr lang="en-US" altLang="zh-CN" sz="1200" dirty="0" err="1">
                <a:sym typeface="+mn-ea"/>
              </a:rPr>
              <a:t>AutoPrep</a:t>
            </a:r>
            <a:r>
              <a:rPr lang="en-US" altLang="zh-CN" sz="1200" dirty="0">
                <a:sym typeface="+mn-ea"/>
              </a:rPr>
              <a:t> achieves the </a:t>
            </a:r>
            <a:r>
              <a:rPr lang="en-US" altLang="zh-CN" sz="1200" b="1" dirty="0">
                <a:solidFill>
                  <a:schemeClr val="bg1"/>
                </a:solidFill>
                <a:highlight>
                  <a:srgbClr val="0000FF"/>
                </a:highlight>
                <a:sym typeface="+mn-ea"/>
              </a:rPr>
              <a:t>(Best Performance)</a:t>
            </a:r>
            <a:r>
              <a:rPr lang="en-US" altLang="zh-CN" sz="1200" dirty="0">
                <a:sym typeface="+mn-ea"/>
              </a:rPr>
              <a:t> over all datasets with different LLM backbones.</a:t>
            </a:r>
            <a:endParaRPr lang="en-US" dirty="0"/>
          </a:p>
          <a:p>
            <a:pPr>
              <a:lnSpc>
                <a:spcPct val="100000"/>
              </a:lnSpc>
            </a:pPr>
            <a:endParaRPr lang="en-US" dirty="0"/>
          </a:p>
          <a:p>
            <a:pPr>
              <a:lnSpc>
                <a:spcPct val="100000"/>
              </a:lnSpc>
            </a:pPr>
            <a:r>
              <a:rPr lang="en-US" dirty="0"/>
              <a:t>First, compared with Chain-of-Table method, </a:t>
            </a:r>
            <a:r>
              <a:rPr lang="en-US" dirty="0" err="1"/>
              <a:t>AutoPrep</a:t>
            </a:r>
            <a:r>
              <a:rPr lang="en-US" dirty="0"/>
              <a:t> achieve new SOTA performance.</a:t>
            </a:r>
          </a:p>
          <a:p>
            <a:pPr>
              <a:lnSpc>
                <a:spcPct val="100000"/>
              </a:lnSpc>
            </a:pPr>
            <a:endParaRPr lang="en-US" dirty="0"/>
          </a:p>
          <a:p>
            <a:pPr>
              <a:lnSpc>
                <a:spcPct val="100000"/>
              </a:lnSpc>
            </a:pPr>
            <a:r>
              <a:rPr lang="en-US" dirty="0"/>
              <a:t>Second, compared with </a:t>
            </a:r>
            <a:r>
              <a:rPr lang="en-US" altLang="zh-CN" dirty="0"/>
              <a:t>Off-Prep, </a:t>
            </a:r>
            <a:r>
              <a:rPr lang="en-US" altLang="zh-CN" dirty="0" err="1"/>
              <a:t>AutoPrep</a:t>
            </a:r>
            <a:r>
              <a:rPr lang="en-US" altLang="zh-CN" dirty="0"/>
              <a:t> achieves remarkable improvement, indicating the significance of question-aware data prep.</a:t>
            </a:r>
            <a:endParaRPr lang="en-US"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19</a:t>
            </a:fld>
            <a:endParaRPr kumimoji="1" lang="zh-CN" altLang="en-US"/>
          </a:p>
        </p:txBody>
      </p:sp>
    </p:spTree>
    <p:extLst>
      <p:ext uri="{BB962C8B-B14F-4D97-AF65-F5344CB8AC3E}">
        <p14:creationId xmlns:p14="http://schemas.microsoft.com/office/powerpoint/2010/main" val="23363411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en-US" dirty="0"/>
              <a:t>Next, We compare </a:t>
            </a:r>
            <a:r>
              <a:rPr lang="en-US" dirty="0" err="1"/>
              <a:t>AutoPrep</a:t>
            </a:r>
            <a:r>
              <a:rPr lang="en-US" dirty="0"/>
              <a:t> with other TQA methods on three metrics, time, API cost in dollars and accuracy. In the figure, each scatter represents different methods. The one with darker color achieves higher accuracy. </a:t>
            </a:r>
          </a:p>
          <a:p>
            <a:pPr>
              <a:lnSpc>
                <a:spcPct val="100000"/>
              </a:lnSpc>
            </a:pPr>
            <a:endParaRPr lang="en" altLang="zh-CN" dirty="0"/>
          </a:p>
          <a:p>
            <a:pPr>
              <a:lnSpc>
                <a:spcPct val="100000"/>
              </a:lnSpc>
            </a:pPr>
            <a:r>
              <a:rPr lang="en" altLang="zh-CN" dirty="0"/>
              <a:t>As shown in the Figure, </a:t>
            </a:r>
            <a:r>
              <a:rPr lang="en" altLang="zh-CN" dirty="0" err="1"/>
              <a:t>AutoPrep</a:t>
            </a:r>
            <a:r>
              <a:rPr lang="en" altLang="zh-CN" dirty="0"/>
              <a:t> achieves the highest efficiency. </a:t>
            </a:r>
            <a:endParaRPr lang="en-US"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20</a:t>
            </a:fld>
            <a:endParaRPr kumimoji="1"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r>
              <a:rPr lang="en-US" dirty="0">
                <a:sym typeface="+mn-ea"/>
              </a:rPr>
              <a:t>We compared </a:t>
            </a:r>
            <a:r>
              <a:rPr lang="en-US" dirty="0" err="1">
                <a:sym typeface="+mn-ea"/>
              </a:rPr>
              <a:t>AutoPrep</a:t>
            </a:r>
            <a:r>
              <a:rPr lang="en-US" dirty="0">
                <a:sym typeface="+mn-ea"/>
              </a:rPr>
              <a:t> with other methods by extensibility and generalization. </a:t>
            </a:r>
          </a:p>
          <a:p>
            <a:pPr>
              <a:lnSpc>
                <a:spcPct val="100000"/>
              </a:lnSpc>
            </a:pPr>
            <a:endParaRPr lang="en-US" dirty="0">
              <a:sym typeface="+mn-ea"/>
            </a:endParaRPr>
          </a:p>
          <a:p>
            <a:pPr>
              <a:lnSpc>
                <a:spcPct val="100000"/>
              </a:lnSpc>
            </a:pPr>
            <a:r>
              <a:rPr lang="en-US" dirty="0">
                <a:sym typeface="+mn-ea"/>
              </a:rPr>
              <a:t>Specifically, we evaluate on a more complex dataset that require Table Transformation operations.</a:t>
            </a:r>
          </a:p>
          <a:p>
            <a:pPr>
              <a:lnSpc>
                <a:spcPct val="100000"/>
              </a:lnSpc>
            </a:pPr>
            <a:endParaRPr lang="en-US" dirty="0">
              <a:sym typeface="+mn-ea"/>
            </a:endParaRPr>
          </a:p>
          <a:p>
            <a:r>
              <a:rPr lang="en-US" dirty="0">
                <a:sym typeface="+mn-ea"/>
              </a:rPr>
              <a:t>The experimental results show that: </a:t>
            </a:r>
            <a:r>
              <a:rPr lang="en-US" altLang="zh-CN" sz="2800" dirty="0" err="1">
                <a:sym typeface="+mn-ea"/>
              </a:rPr>
              <a:t>AutoPrep</a:t>
            </a:r>
            <a:r>
              <a:rPr lang="en-US" altLang="zh-CN" sz="2800" dirty="0">
                <a:sym typeface="+mn-ea"/>
              </a:rPr>
              <a:t> achieves the </a:t>
            </a:r>
            <a:r>
              <a:rPr lang="en-US" altLang="zh-CN" sz="2800" b="1" dirty="0">
                <a:solidFill>
                  <a:schemeClr val="bg1"/>
                </a:solidFill>
                <a:highlight>
                  <a:srgbClr val="0000FF"/>
                </a:highlight>
                <a:sym typeface="+mn-ea"/>
              </a:rPr>
              <a:t>(Best Extensibility)</a:t>
            </a:r>
            <a:endParaRPr lang="en-US" altLang="zh-CN" sz="2800" dirty="0">
              <a:sym typeface="+mn-ea"/>
            </a:endParaRPr>
          </a:p>
          <a:p>
            <a:endParaRPr lang="en-US" altLang="zh-CN" sz="2800" dirty="0">
              <a:sym typeface="+mn-ea"/>
            </a:endParaRPr>
          </a:p>
          <a:p>
            <a:r>
              <a:rPr lang="en-US" altLang="zh-CN" sz="2400" dirty="0">
                <a:sym typeface="+mn-ea"/>
              </a:rPr>
              <a:t>After integrating a new logical operation </a:t>
            </a:r>
            <a:r>
              <a:rPr lang="en-US" altLang="zh-CN" sz="2400" i="1" dirty="0">
                <a:sym typeface="+mn-ea"/>
              </a:rPr>
              <a:t>Transform</a:t>
            </a:r>
            <a:r>
              <a:rPr lang="en-US" altLang="zh-CN" sz="2400" dirty="0">
                <a:sym typeface="+mn-ea"/>
              </a:rPr>
              <a:t>, </a:t>
            </a:r>
            <a:r>
              <a:rPr lang="en-US" altLang="zh-CN" sz="2400" dirty="0" err="1">
                <a:sym typeface="+mn-ea"/>
              </a:rPr>
              <a:t>AutoPrep</a:t>
            </a:r>
            <a:r>
              <a:rPr lang="en-US" altLang="zh-CN" sz="2400" dirty="0">
                <a:sym typeface="+mn-ea"/>
              </a:rPr>
              <a:t> performs the best without degrading performance on original </a:t>
            </a:r>
            <a:r>
              <a:rPr lang="en-US" altLang="zh-CN" sz="2400" dirty="0" err="1">
                <a:sym typeface="+mn-ea"/>
              </a:rPr>
              <a:t>WikiTQ</a:t>
            </a:r>
            <a:r>
              <a:rPr lang="en-US" altLang="zh-CN" sz="2400" dirty="0">
                <a:sym typeface="+mn-ea"/>
              </a:rPr>
              <a:t> dataset</a:t>
            </a:r>
          </a:p>
          <a:p>
            <a:pPr>
              <a:lnSpc>
                <a:spcPct val="100000"/>
              </a:lnSpc>
            </a:pPr>
            <a:endParaRPr lang="en-US" dirty="0">
              <a:sym typeface="+mn-ea"/>
            </a:endParaRP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21</a:t>
            </a:fld>
            <a:endParaRPr kumimoji="1" lang="zh-CN" altLang="en-US"/>
          </a:p>
        </p:txBody>
      </p:sp>
    </p:spTree>
    <p:extLst>
      <p:ext uri="{BB962C8B-B14F-4D97-AF65-F5344CB8AC3E}">
        <p14:creationId xmlns:p14="http://schemas.microsoft.com/office/powerpoint/2010/main" val="1060258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00000"/>
              </a:lnSpc>
            </a:pPr>
            <a:endParaRPr lang="en-US" dirty="0"/>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22</a:t>
            </a:fld>
            <a:endParaRPr kumimoji="1"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dirty="0"/>
              <a:t>In summary, </a:t>
            </a:r>
          </a:p>
        </p:txBody>
      </p:sp>
      <p:sp>
        <p:nvSpPr>
          <p:cNvPr id="4" name="灯片编号占位符 3"/>
          <p:cNvSpPr>
            <a:spLocks noGrp="1"/>
          </p:cNvSpPr>
          <p:nvPr>
            <p:ph type="sldNum" sz="quarter" idx="5"/>
          </p:nvPr>
        </p:nvSpPr>
        <p:spPr/>
        <p:txBody>
          <a:bodyPr/>
          <a:lstStyle/>
          <a:p>
            <a:fld id="{E1A2F018-EA3F-704C-A9BC-B8CB424C86BE}" type="slidenum">
              <a:rPr kumimoji="1" lang="zh-CN" altLang="en-US" smtClean="0"/>
              <a:t>23</a:t>
            </a:fld>
            <a:endParaRPr kumimoji="1"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GB" altLang="zh-CN" dirty="0">
                <a:sym typeface="+mn-ea"/>
              </a:rPr>
              <a:t>That's all, Thank you for listening.</a:t>
            </a:r>
            <a:endParaRPr kumimoji="1" lang="en-GB" altLang="zh-CN" dirty="0"/>
          </a:p>
          <a:p>
            <a:endParaRPr lang="zh-CN" altLang="en-US" dirty="0"/>
          </a:p>
        </p:txBody>
      </p:sp>
      <p:sp>
        <p:nvSpPr>
          <p:cNvPr id="4" name="灯片编号占位符 3"/>
          <p:cNvSpPr>
            <a:spLocks noGrp="1"/>
          </p:cNvSpPr>
          <p:nvPr>
            <p:ph type="sldNum" sz="quarter" idx="5"/>
          </p:nvPr>
        </p:nvSpPr>
        <p:spPr/>
        <p:txBody>
          <a:bodyPr/>
          <a:lstStyle/>
          <a:p>
            <a:fld id="{17D28823-7C57-476D-915D-C48165F01717}" type="slidenum">
              <a:rPr lang="zh-CN" altLang="en-US" smtClean="0"/>
              <a:t>24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8061923F-2C96-1F47-B800-98F048A1A4B9}"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C282494D-4F7B-3D4A-B73F-790D7BD426D7}"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D03A35FD-63B3-7C4A-92A7-F9BF2526664D}"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BBFCB600-6E3E-CC40-BEF1-B7E05321834B}"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8E1A61BA-85C8-5143-904B-471068A2C08D}" type="datetime1">
              <a:rPr kumimoji="1" lang="zh-CN" altLang="en-US" smtClean="0"/>
              <a:t>2025/9/16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灯片编号占位符 8"/>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3372506B-A1AD-AF46-8769-665EE34355B0}" type="datetime1">
              <a:rPr kumimoji="1" lang="zh-CN" altLang="en-US" smtClean="0"/>
              <a:t>2025/9/16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1FE7E45-9247-994C-A320-DEAA81CE745D}" type="datetime1">
              <a:rPr kumimoji="1" lang="zh-CN" altLang="en-US" smtClean="0"/>
              <a:t>2025/9/16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灯片编号占位符 3"/>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DD0A206A-CEF9-4E45-B006-9CBC01631D74}"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B6381795-9779-D746-B49C-1400A0533ED9}"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灯片编号占位符 6"/>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字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56699D54-61C0-4041-861B-B62062A1FFA3}"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BE3B1495-8431-574B-91A9-ABA3808BC51C}"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灯片编号占位符 5"/>
          <p:cNvSpPr>
            <a:spLocks noGrp="1"/>
          </p:cNvSpPr>
          <p:nvPr>
            <p:ph type="sldNum" sz="quarter" idx="12"/>
          </p:nvPr>
        </p:nvSpPr>
        <p:spPr/>
        <p:txBody>
          <a:bodyPr/>
          <a:lstStyle/>
          <a:p>
            <a:fld id="{D241722B-BB2F-BB49-B192-E72523CC1CA1}"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p:spPr>
        <p:txBody>
          <a:bodyPr/>
          <a:lstStyle/>
          <a:p>
            <a:r>
              <a:rPr kumimoji="1"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kumimoji="1" lang="zh-CN" altLang="en-US"/>
              <a:t>单击此处编辑母版副标题样式</a:t>
            </a:r>
          </a:p>
        </p:txBody>
      </p:sp>
      <p:sp>
        <p:nvSpPr>
          <p:cNvPr id="4" name="日期占位符 3"/>
          <p:cNvSpPr>
            <a:spLocks noGrp="1"/>
          </p:cNvSpPr>
          <p:nvPr>
            <p:ph type="dt" sz="half" idx="10"/>
          </p:nvPr>
        </p:nvSpPr>
        <p:spPr/>
        <p:txBody>
          <a:bodyPr/>
          <a:lstStyle/>
          <a:p>
            <a:fld id="{68BC602D-3F00-694E-A91E-AF26268A2D31}" type="datetime1">
              <a:rPr kumimoji="1" lang="zh-CN" altLang="en-US" smtClean="0"/>
              <a:t>2025/9/16</a:t>
            </a:fld>
            <a:endParaRPr kumimoji="1" lang="zh-CN" altLang="en-US"/>
          </a:p>
        </p:txBody>
      </p:sp>
      <p:sp>
        <p:nvSpPr>
          <p:cNvPr id="5" name="页脚占位符 4"/>
          <p:cNvSpPr>
            <a:spLocks noGrp="1"/>
          </p:cNvSpPr>
          <p:nvPr>
            <p:ph type="ftr" sz="quarter" idx="11"/>
          </p:nvPr>
        </p:nvSpPr>
        <p:spPr>
          <a:xfrm>
            <a:off x="4056000" y="6356352"/>
            <a:ext cx="4080000" cy="365125"/>
          </a:xfrm>
        </p:spPr>
        <p:txBody>
          <a:bodyPr/>
          <a:lstStyle/>
          <a:p>
            <a:endParaRPr kumimoji="1" lang="zh-CN" altLang="en-US" dirty="0"/>
          </a:p>
        </p:txBody>
      </p:sp>
      <p:sp>
        <p:nvSpPr>
          <p:cNvPr id="6" name="幻灯片编号占位符 5"/>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10093"/>
            <a:ext cx="10972800" cy="880372"/>
          </a:xfrm>
        </p:spPr>
        <p:txBody>
          <a:bodyPr>
            <a:normAutofit/>
          </a:bodyPr>
          <a:lstStyle>
            <a:lvl1pPr algn="l">
              <a:defRPr sz="4560">
                <a:latin typeface="Calibri" panose="020F0502020204030204" charset="0"/>
                <a:ea typeface="Calibri" panose="020F0502020204030204" charset="0"/>
                <a:cs typeface="Calibri" panose="020F0502020204030204" charset="0"/>
              </a:defRPr>
            </a:lvl1pPr>
          </a:lstStyle>
          <a:p>
            <a:r>
              <a:rPr kumimoji="1" lang="zh-CN" altLang="en-US" dirty="0"/>
              <a:t>单击此处编辑母版标题样式</a:t>
            </a:r>
          </a:p>
        </p:txBody>
      </p:sp>
      <p:sp>
        <p:nvSpPr>
          <p:cNvPr id="3" name="内容占位符 2"/>
          <p:cNvSpPr>
            <a:spLocks noGrp="1"/>
          </p:cNvSpPr>
          <p:nvPr>
            <p:ph idx="1"/>
          </p:nvPr>
        </p:nvSpPr>
        <p:spPr>
          <a:xfrm>
            <a:off x="609600" y="1370572"/>
            <a:ext cx="10972800" cy="4842572"/>
          </a:xfrm>
        </p:spPr>
        <p:txBody>
          <a:bodyPr/>
          <a:lstStyle>
            <a:lvl1pPr>
              <a:defRPr sz="3360"/>
            </a:lvl1pPr>
            <a:lvl2pPr>
              <a:defRPr sz="2880"/>
            </a:lvl2pPr>
            <a:lvl3pPr>
              <a:defRPr sz="2400"/>
            </a:lvl3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10"/>
          </p:nvPr>
        </p:nvSpPr>
        <p:spPr/>
        <p:txBody>
          <a:bodyPr/>
          <a:lstStyle/>
          <a:p>
            <a:fld id="{13A1A571-2726-CC43-9A1A-CC57FE948C67}"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
        <p:nvSpPr>
          <p:cNvPr id="7" name="矩形 6"/>
          <p:cNvSpPr/>
          <p:nvPr userDrawn="1"/>
        </p:nvSpPr>
        <p:spPr>
          <a:xfrm>
            <a:off x="288032" y="1203087"/>
            <a:ext cx="10608501" cy="54863"/>
          </a:xfrm>
          <a:prstGeom prst="rect">
            <a:avLst/>
          </a:prstGeom>
          <a:solidFill>
            <a:srgbClr val="C30012"/>
          </a:solidFill>
          <a:ln w="19050">
            <a:solidFill>
              <a:srgbClr val="C300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60" b="1">
              <a:solidFill>
                <a:srgbClr val="AE0B2A"/>
              </a:solidFill>
            </a:endParaRPr>
          </a:p>
        </p:txBody>
      </p:sp>
      <p:pic>
        <p:nvPicPr>
          <p:cNvPr id="8"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0984" y="147969"/>
            <a:ext cx="1047217" cy="942496"/>
          </a:xfrm>
          <a:prstGeom prst="rect">
            <a:avLst/>
          </a:prstGeom>
          <a:effectLst>
            <a:reflection blurRad="6350" stA="52000" endA="300" endPos="35000" dir="5400000" sy="-100000" algn="bl" rotWithShape="0"/>
          </a:effec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6"/>
          </a:xfrm>
        </p:spPr>
        <p:txBody>
          <a:bodyPr anchor="t"/>
          <a:lstStyle>
            <a:lvl1pPr algn="l">
              <a:defRPr sz="4800" b="1" cap="all"/>
            </a:lvl1pPr>
          </a:lstStyle>
          <a:p>
            <a:r>
              <a:rPr kumimoji="1"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400">
                <a:solidFill>
                  <a:schemeClr val="tx1">
                    <a:tint val="7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fld id="{9672A69F-DA07-8A4E-ACD9-2B92C9503F57}"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609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97600" y="1600200"/>
            <a:ext cx="5384800" cy="4525963"/>
          </a:xfrm>
        </p:spPr>
        <p:txBody>
          <a:bodyPr/>
          <a:lstStyle>
            <a:lvl1pPr>
              <a:defRPr sz="3360"/>
            </a:lvl1pPr>
            <a:lvl2pPr>
              <a:defRPr sz="2880"/>
            </a:lvl2pPr>
            <a:lvl3pPr>
              <a:defRPr sz="2400"/>
            </a:lvl3pPr>
            <a:lvl4pPr>
              <a:defRPr sz="2160"/>
            </a:lvl4pPr>
            <a:lvl5pPr>
              <a:defRPr sz="2160"/>
            </a:lvl5pPr>
            <a:lvl6pPr>
              <a:defRPr sz="2160"/>
            </a:lvl6pPr>
            <a:lvl7pPr>
              <a:defRPr sz="2160"/>
            </a:lvl7pPr>
            <a:lvl8pPr>
              <a:defRPr sz="2160"/>
            </a:lvl8pPr>
            <a:lvl9pPr>
              <a:defRPr sz="216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fld id="{8BAD23C3-1442-CB4A-A7D5-93C7E5F5F6E4}"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1" lang="zh-CN" altLang="en-US"/>
              <a:t>单击此处编辑母版标题样式</a:t>
            </a:r>
          </a:p>
        </p:txBody>
      </p:sp>
      <p:sp>
        <p:nvSpPr>
          <p:cNvPr id="3" name="文本占位符 2"/>
          <p:cNvSpPr>
            <a:spLocks noGrp="1"/>
          </p:cNvSpPr>
          <p:nvPr>
            <p:ph type="body" idx="1"/>
          </p:nvPr>
        </p:nvSpPr>
        <p:spPr>
          <a:xfrm>
            <a:off x="609600" y="1535114"/>
            <a:ext cx="5386917"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kumimoji="1"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93369" y="1535114"/>
            <a:ext cx="5389033" cy="639762"/>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kumimoji="1"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880"/>
            </a:lvl1pPr>
            <a:lvl2pPr>
              <a:defRPr sz="2400"/>
            </a:lvl2pPr>
            <a:lvl3pPr>
              <a:defRPr sz="2160"/>
            </a:lvl3pPr>
            <a:lvl4pPr>
              <a:defRPr sz="1920"/>
            </a:lvl4pPr>
            <a:lvl5pPr>
              <a:defRPr sz="1920"/>
            </a:lvl5pPr>
            <a:lvl6pPr>
              <a:defRPr sz="1920"/>
            </a:lvl6pPr>
            <a:lvl7pPr>
              <a:defRPr sz="1920"/>
            </a:lvl7pPr>
            <a:lvl8pPr>
              <a:defRPr sz="1920"/>
            </a:lvl8pPr>
            <a:lvl9pPr>
              <a:defRPr sz="192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fld id="{A5F11016-A854-374E-9CDC-19F3F8B97817}" type="datetime1">
              <a:rPr kumimoji="1" lang="zh-CN" altLang="en-US" smtClean="0"/>
              <a:t>2025/9/16</a:t>
            </a:fld>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fld id="{8D9AFEE1-8E27-224A-B999-B61787DD8958}" type="datetime1">
              <a:rPr kumimoji="1" lang="zh-CN" altLang="en-US" smtClean="0"/>
              <a:t>2025/9/16</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1E66EAB-E69F-6B41-9EDB-80B0EEA96D8B}" type="datetime1">
              <a:rPr kumimoji="1" lang="zh-CN" altLang="en-US" smtClean="0"/>
              <a:t>2025/9/16</a:t>
            </a:fld>
            <a:endParaRPr kumimoji="1" lang="zh-CN" altLang="en-US"/>
          </a:p>
        </p:txBody>
      </p:sp>
      <p:sp>
        <p:nvSpPr>
          <p:cNvPr id="3" name="页脚占位符 2"/>
          <p:cNvSpPr>
            <a:spLocks noGrp="1"/>
          </p:cNvSpPr>
          <p:nvPr>
            <p:ph type="ftr" sz="quarter" idx="11"/>
          </p:nvPr>
        </p:nvSpPr>
        <p:spPr/>
        <p:txBody>
          <a:bodyPr/>
          <a:lstStyle/>
          <a:p>
            <a:endParaRPr kumimoji="1" lang="zh-CN" altLang="en-US"/>
          </a:p>
        </p:txBody>
      </p:sp>
      <p:sp>
        <p:nvSpPr>
          <p:cNvPr id="4" name="幻灯片编号占位符 3"/>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1"/>
            <a:ext cx="4011084" cy="1162050"/>
          </a:xfrm>
        </p:spPr>
        <p:txBody>
          <a:bodyPr anchor="b"/>
          <a:lstStyle>
            <a:lvl1pPr algn="l">
              <a:defRPr sz="2400" b="1"/>
            </a:lvl1pPr>
          </a:lstStyle>
          <a:p>
            <a:r>
              <a:rPr kumimoji="1" lang="zh-CN" altLang="en-US"/>
              <a:t>单击此处编辑母版标题样式</a:t>
            </a:r>
          </a:p>
        </p:txBody>
      </p:sp>
      <p:sp>
        <p:nvSpPr>
          <p:cNvPr id="3" name="内容占位符 2"/>
          <p:cNvSpPr>
            <a:spLocks noGrp="1"/>
          </p:cNvSpPr>
          <p:nvPr>
            <p:ph idx="1"/>
          </p:nvPr>
        </p:nvSpPr>
        <p:spPr>
          <a:xfrm>
            <a:off x="4766733" y="273050"/>
            <a:ext cx="6815667" cy="5853113"/>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609602" y="1435101"/>
            <a:ext cx="4011084" cy="4691063"/>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78E66B0D-AA2B-2F4E-8682-043815B5EC43}"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400" b="1"/>
            </a:lvl1pPr>
          </a:lstStyle>
          <a:p>
            <a:r>
              <a:rPr kumimoji="1"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kumimoji="1" lang="zh-CN" altLang="en-US"/>
          </a:p>
        </p:txBody>
      </p:sp>
      <p:sp>
        <p:nvSpPr>
          <p:cNvPr id="4" name="文本占位符 3"/>
          <p:cNvSpPr>
            <a:spLocks noGrp="1"/>
          </p:cNvSpPr>
          <p:nvPr>
            <p:ph type="body" sz="half" idx="2"/>
          </p:nvPr>
        </p:nvSpPr>
        <p:spPr>
          <a:xfrm>
            <a:off x="2389717" y="5367338"/>
            <a:ext cx="7315200" cy="804862"/>
          </a:xfrm>
        </p:spPr>
        <p:txBody>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fld id="{8E123C1E-FE0A-1B43-B26E-2DDD8E3D5E5B}" type="datetime1">
              <a:rPr kumimoji="1" lang="zh-CN" altLang="en-US" smtClean="0"/>
              <a:t>2025/9/16</a:t>
            </a:fld>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900D6AD-0898-3B45-A3D9-FA9BC03A56E6}"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fld id="{4CEDD8D5-5529-8E4A-A4C2-0FD541915F53}" type="datetime1">
              <a:rPr kumimoji="1" lang="zh-CN" altLang="en-US" smtClean="0"/>
              <a:t>2025/9/16</a:t>
            </a:fld>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666ED1DC-EB24-2D46-9C9F-DBDF840474EE}" type="slidenum">
              <a:rPr kumimoji="1" lang="zh-CN" altLang="en-US" smtClean="0"/>
              <a:t>‹#›</a:t>
            </a:fld>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emf"/><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385FE6-AC6F-3A4A-B36F-88815E271C1D}" type="datetime1">
              <a:rPr kumimoji="1" lang="zh-CN" altLang="en-US" smtClean="0"/>
              <a:t>2025/9/16</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1722B-BB2F-BB49-B192-E72523CC1CA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10092"/>
            <a:ext cx="10972800" cy="993600"/>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609600" y="1504344"/>
            <a:ext cx="10972800" cy="4708800"/>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440">
                <a:solidFill>
                  <a:schemeClr val="tx1">
                    <a:tint val="75000"/>
                  </a:schemeClr>
                </a:solidFill>
              </a:defRPr>
            </a:lvl1pPr>
          </a:lstStyle>
          <a:p>
            <a:fld id="{97DE06CF-8ED4-8346-90A2-3B1F1E271494}" type="datetime1">
              <a:rPr kumimoji="1" lang="zh-CN" altLang="en-US" smtClean="0"/>
              <a:t>2025/9/16</a:t>
            </a:fld>
            <a:endParaRPr kumimoji="1" lang="zh-CN" altLang="en-US"/>
          </a:p>
        </p:txBody>
      </p:sp>
      <p:sp>
        <p:nvSpPr>
          <p:cNvPr id="5" name="页脚占位符 4"/>
          <p:cNvSpPr>
            <a:spLocks noGrp="1"/>
          </p:cNvSpPr>
          <p:nvPr>
            <p:ph type="ftr" sz="quarter" idx="3"/>
          </p:nvPr>
        </p:nvSpPr>
        <p:spPr>
          <a:xfrm>
            <a:off x="4056000" y="6356352"/>
            <a:ext cx="4080000" cy="365125"/>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kumimoji="1" lang="zh-CN" altLang="en-US" dirty="0"/>
          </a:p>
        </p:txBody>
      </p:sp>
      <p:sp>
        <p:nvSpPr>
          <p:cNvPr id="6" name="幻灯片编号占位符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440">
                <a:solidFill>
                  <a:schemeClr val="tx1">
                    <a:tint val="75000"/>
                  </a:schemeClr>
                </a:solidFill>
              </a:defRPr>
            </a:lvl1pPr>
          </a:lstStyle>
          <a:p>
            <a:fld id="{666ED1DC-EB24-2D46-9C9F-DBDF840474EE}"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548640" rtl="0" eaLnBrk="1" latinLnBrk="0" hangingPunct="1">
        <a:spcBef>
          <a:spcPct val="0"/>
        </a:spcBef>
        <a:buNone/>
        <a:defRPr sz="5280" kern="1200">
          <a:solidFill>
            <a:schemeClr val="tx1"/>
          </a:solidFill>
          <a:latin typeface="+mj-lt"/>
          <a:ea typeface="+mj-ea"/>
          <a:cs typeface="+mj-cs"/>
        </a:defRPr>
      </a:lvl1pPr>
    </p:titleStyle>
    <p:bodyStyle>
      <a:lvl1pPr marL="411480" indent="-411480" algn="l" defTabSz="548640" rtl="0" eaLnBrk="1" latinLnBrk="0" hangingPunct="1">
        <a:spcBef>
          <a:spcPct val="20000"/>
        </a:spcBef>
        <a:buFont typeface="Arial" panose="020B0604020202020204"/>
        <a:buChar char="•"/>
        <a:defRPr sz="384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p:bodyStyle>
    <p:otherStyle>
      <a:defPPr>
        <a:defRPr lang="zh-CN"/>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xml"/><Relationship Id="rId7" Type="http://schemas.openxmlformats.org/officeDocument/2006/relationships/image" Target="../media/image4.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1.xml"/><Relationship Id="rId11" Type="http://schemas.openxmlformats.org/officeDocument/2006/relationships/image" Target="../media/image8.png"/><Relationship Id="rId5" Type="http://schemas.openxmlformats.org/officeDocument/2006/relationships/slideLayout" Target="../slideLayouts/slideLayout1.xml"/><Relationship Id="rId10" Type="http://schemas.openxmlformats.org/officeDocument/2006/relationships/image" Target="../media/image7.png"/><Relationship Id="rId4" Type="http://schemas.openxmlformats.org/officeDocument/2006/relationships/tags" Target="../tags/tag4.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9.emf"/></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6.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8.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9.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Visio_Drawing4.vsdx"/><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0.emf"/></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Visio_Drawing5.vsdx"/><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Visio_Drawing7.vsdx"/><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emf"/></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31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tags" Target="../tags/tag5.xml"/><Relationship Id="rId5" Type="http://schemas.openxmlformats.org/officeDocument/2006/relationships/hyperlink" Target="mailto:fanj@ruc.edu.cn" TargetMode="External"/><Relationship Id="rId4" Type="http://schemas.openxmlformats.org/officeDocument/2006/relationships/hyperlink" Target="https://github.com/fmh1art/AutoPrep/"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microsoft.com/office/2007/relationships/hdphoto" Target="../media/hdphoto1.wdp"/><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2399" y="1253855"/>
            <a:ext cx="12194399" cy="1449669"/>
          </a:xfrm>
        </p:spPr>
        <p:txBody>
          <a:bodyPr>
            <a:normAutofit/>
          </a:bodyPr>
          <a:lstStyle/>
          <a:p>
            <a:r>
              <a:rPr kumimoji="1" lang="en-US" altLang="zh-CN" sz="4400" b="1" dirty="0">
                <a:latin typeface="Calibri Regular" panose="020F0702030404030204" charset="0"/>
                <a:cs typeface="Calibri Regular" panose="020F0702030404030204" charset="0"/>
                <a:sym typeface="+mn-ea"/>
              </a:rPr>
              <a:t>AutoPrep:</a:t>
            </a:r>
            <a:r>
              <a:rPr kumimoji="1" lang="en-US" altLang="zh-CN" sz="4400" dirty="0">
                <a:latin typeface="Calibri Regular" panose="020F0702030404030204" charset="0"/>
                <a:cs typeface="Calibri Regular" panose="020F0702030404030204" charset="0"/>
                <a:sym typeface="+mn-ea"/>
              </a:rPr>
              <a:t> Natural Language Question-Aware Data Preparation with a Multi-Agent Framework</a:t>
            </a:r>
          </a:p>
        </p:txBody>
      </p:sp>
      <p:sp>
        <p:nvSpPr>
          <p:cNvPr id="5" name="灯片编号占位符 4"/>
          <p:cNvSpPr>
            <a:spLocks noGrp="1"/>
          </p:cNvSpPr>
          <p:nvPr>
            <p:ph type="sldNum" sz="quarter" idx="12"/>
          </p:nvPr>
        </p:nvSpPr>
        <p:spPr>
          <a:xfrm>
            <a:off x="9289046" y="6413817"/>
            <a:ext cx="2743200" cy="365125"/>
          </a:xfrm>
        </p:spPr>
        <p:txBody>
          <a:bodyPr/>
          <a:lstStyle/>
          <a:p>
            <a:fld id="{D241722B-BB2F-BB49-B192-E72523CC1CA1}" type="slidenum">
              <a:rPr kumimoji="1" lang="zh-CN" altLang="en-US" smtClean="0"/>
              <a:t>1</a:t>
            </a:fld>
            <a:endParaRPr kumimoji="1" lang="zh-CN" altLang="en-US" dirty="0"/>
          </a:p>
        </p:txBody>
      </p:sp>
      <p:pic>
        <p:nvPicPr>
          <p:cNvPr id="20" name="图片 19" descr="HKUST(GZ)_Logo"/>
          <p:cNvPicPr>
            <a:picLocks noChangeAspect="1"/>
          </p:cNvPicPr>
          <p:nvPr/>
        </p:nvPicPr>
        <p:blipFill>
          <a:blip r:embed="rId7"/>
          <a:stretch>
            <a:fillRect/>
          </a:stretch>
        </p:blipFill>
        <p:spPr>
          <a:xfrm>
            <a:off x="3213314" y="5060485"/>
            <a:ext cx="3258820" cy="889000"/>
          </a:xfrm>
          <a:prstGeom prst="rect">
            <a:avLst/>
          </a:prstGeom>
        </p:spPr>
      </p:pic>
      <p:grpSp>
        <p:nvGrpSpPr>
          <p:cNvPr id="18" name="Group 17">
            <a:extLst>
              <a:ext uri="{FF2B5EF4-FFF2-40B4-BE49-F238E27FC236}">
                <a16:creationId xmlns:a16="http://schemas.microsoft.com/office/drawing/2014/main" id="{C878147E-0959-D009-0394-B9256196FAA2}"/>
              </a:ext>
            </a:extLst>
          </p:cNvPr>
          <p:cNvGrpSpPr/>
          <p:nvPr/>
        </p:nvGrpSpPr>
        <p:grpSpPr>
          <a:xfrm>
            <a:off x="2338732" y="3133617"/>
            <a:ext cx="7512135" cy="1252260"/>
            <a:chOff x="2382327" y="3204082"/>
            <a:chExt cx="7512135" cy="1252260"/>
          </a:xfrm>
        </p:grpSpPr>
        <p:sp>
          <p:nvSpPr>
            <p:cNvPr id="3" name="文本框 2"/>
            <p:cNvSpPr txBox="1"/>
            <p:nvPr/>
          </p:nvSpPr>
          <p:spPr>
            <a:xfrm>
              <a:off x="2382327" y="3204082"/>
              <a:ext cx="2157730" cy="521970"/>
            </a:xfrm>
            <a:prstGeom prst="rect">
              <a:avLst/>
            </a:prstGeom>
            <a:noFill/>
          </p:spPr>
          <p:txBody>
            <a:bodyPr wrap="none" rtlCol="0">
              <a:spAutoFit/>
            </a:bodyPr>
            <a:lstStyle/>
            <a:p>
              <a:pPr algn="ctr"/>
              <a:r>
                <a:rPr lang="en-US" altLang="en-GB" sz="2800" b="1" dirty="0">
                  <a:solidFill>
                    <a:srgbClr val="FF0000"/>
                  </a:solidFill>
                  <a:latin typeface="Calibri" panose="020F0502020204030204" charset="0"/>
                  <a:cs typeface="Calibri" panose="020F0502020204030204" charset="0"/>
                </a:rPr>
                <a:t>Meihao Fan</a:t>
              </a:r>
              <a:r>
                <a:rPr lang="en-US" altLang="en-GB" sz="2800" b="1" baseline="30000" dirty="0">
                  <a:solidFill>
                    <a:srgbClr val="FF0000"/>
                  </a:solidFill>
                  <a:latin typeface="Calibri" panose="020F0502020204030204" charset="0"/>
                  <a:cs typeface="Calibri" panose="020F0502020204030204" charset="0"/>
                </a:rPr>
                <a:t>1</a:t>
              </a:r>
              <a:endParaRPr kumimoji="1" lang="en-US" altLang="en-GB" sz="2800" b="1" baseline="30000" dirty="0">
                <a:solidFill>
                  <a:srgbClr val="FF0000"/>
                </a:solidFill>
                <a:latin typeface="Calibri" panose="020F0502020204030204" charset="0"/>
                <a:cs typeface="Calibri" panose="020F0502020204030204" charset="0"/>
              </a:endParaRPr>
            </a:p>
          </p:txBody>
        </p:sp>
        <p:sp>
          <p:nvSpPr>
            <p:cNvPr id="8" name="文本框 7"/>
            <p:cNvSpPr txBox="1"/>
            <p:nvPr/>
          </p:nvSpPr>
          <p:spPr>
            <a:xfrm>
              <a:off x="5524184" y="3204082"/>
              <a:ext cx="1207382" cy="523220"/>
            </a:xfrm>
            <a:prstGeom prst="rect">
              <a:avLst/>
            </a:prstGeom>
            <a:noFill/>
          </p:spPr>
          <p:txBody>
            <a:bodyPr wrap="none" rtlCol="0">
              <a:spAutoFit/>
            </a:bodyPr>
            <a:lstStyle/>
            <a:p>
              <a:pPr algn="ctr"/>
              <a:r>
                <a:rPr lang="en-US" sz="2800" dirty="0" err="1">
                  <a:latin typeface="Calibri" panose="020F0502020204030204" charset="0"/>
                  <a:cs typeface="Calibri" panose="020F0502020204030204" charset="0"/>
                </a:rPr>
                <a:t>Ju Fan</a:t>
              </a:r>
              <a:r>
                <a:rPr lang="en-US" altLang="en-GB" sz="2800" baseline="30000" dirty="0">
                  <a:latin typeface="Calibri" panose="020F0502020204030204" charset="0"/>
                  <a:cs typeface="Calibri" panose="020F0502020204030204" charset="0"/>
                </a:rPr>
                <a:t>1</a:t>
              </a:r>
              <a:endParaRPr kumimoji="1" lang="en-US" altLang="en-GB" sz="2800" baseline="30000" dirty="0">
                <a:latin typeface="Calibri" panose="020F0502020204030204" charset="0"/>
                <a:cs typeface="Calibri" panose="020F0502020204030204" charset="0"/>
              </a:endParaRPr>
            </a:p>
          </p:txBody>
        </p:sp>
        <p:sp>
          <p:nvSpPr>
            <p:cNvPr id="10" name="文本框 9"/>
            <p:cNvSpPr txBox="1"/>
            <p:nvPr/>
          </p:nvSpPr>
          <p:spPr>
            <a:xfrm>
              <a:off x="7934664" y="3210320"/>
              <a:ext cx="1738745" cy="523220"/>
            </a:xfrm>
            <a:prstGeom prst="rect">
              <a:avLst/>
            </a:prstGeom>
            <a:noFill/>
          </p:spPr>
          <p:txBody>
            <a:bodyPr wrap="none" rtlCol="0">
              <a:spAutoFit/>
            </a:bodyPr>
            <a:lstStyle/>
            <a:p>
              <a:pPr algn="ctr"/>
              <a:r>
                <a:rPr lang="en-US" altLang="en-GB" sz="2800" dirty="0" err="1">
                  <a:latin typeface="Calibri" panose="020F0502020204030204" charset="0"/>
                  <a:cs typeface="Calibri" panose="020F0502020204030204" charset="0"/>
                </a:rPr>
                <a:t>Nan Tang</a:t>
              </a:r>
              <a:r>
                <a:rPr lang="en-US" altLang="en-GB" sz="2800" baseline="30000" dirty="0">
                  <a:latin typeface="Calibri" panose="020F0502020204030204" charset="0"/>
                  <a:cs typeface="Calibri" panose="020F0502020204030204" charset="0"/>
                </a:rPr>
                <a:t>2</a:t>
              </a:r>
              <a:r>
                <a:rPr lang="en-GB" altLang="zh-CN" sz="2800" dirty="0">
                  <a:latin typeface="Calibri" panose="020F0502020204030204" charset="0"/>
                  <a:cs typeface="Calibri" panose="020F0502020204030204" charset="0"/>
                </a:rPr>
                <a:t> </a:t>
              </a:r>
              <a:endParaRPr kumimoji="1" lang="en-GB" altLang="zh-CN" sz="2800" dirty="0">
                <a:latin typeface="Calibri" panose="020F0502020204030204" charset="0"/>
                <a:cs typeface="Calibri" panose="020F0502020204030204" charset="0"/>
                <a:sym typeface="+mn-ea"/>
              </a:endParaRPr>
            </a:p>
          </p:txBody>
        </p:sp>
        <p:sp>
          <p:nvSpPr>
            <p:cNvPr id="4" name="文本框 3">
              <a:extLst>
                <a:ext uri="{FF2B5EF4-FFF2-40B4-BE49-F238E27FC236}">
                  <a16:creationId xmlns:a16="http://schemas.microsoft.com/office/drawing/2014/main" id="{1D3A48E8-DD27-12EC-63B6-F7C8A8C19590}"/>
                </a:ext>
              </a:extLst>
            </p:cNvPr>
            <p:cNvSpPr txBox="1"/>
            <p:nvPr/>
          </p:nvSpPr>
          <p:spPr>
            <a:xfrm>
              <a:off x="2775748" y="3933122"/>
              <a:ext cx="1370888" cy="523220"/>
            </a:xfrm>
            <a:prstGeom prst="rect">
              <a:avLst/>
            </a:prstGeom>
            <a:noFill/>
          </p:spPr>
          <p:txBody>
            <a:bodyPr wrap="none" rtlCol="0">
              <a:spAutoFit/>
            </a:bodyPr>
            <a:lstStyle/>
            <a:p>
              <a:pPr algn="ctr">
                <a:buClrTx/>
                <a:buSzTx/>
                <a:buFontTx/>
              </a:pPr>
              <a:r>
                <a:rPr lang="en-US" altLang="en-GB" sz="2800" dirty="0">
                  <a:solidFill>
                    <a:schemeClr val="tx1"/>
                  </a:solidFill>
                  <a:latin typeface="Calibri" panose="020F0502020204030204" charset="0"/>
                  <a:cs typeface="Calibri" panose="020F0502020204030204" charset="0"/>
                </a:rPr>
                <a:t>Lei Cao</a:t>
              </a:r>
              <a:r>
                <a:rPr lang="en-US" altLang="en-GB" sz="2800" baseline="30000" dirty="0">
                  <a:solidFill>
                    <a:schemeClr val="tx1"/>
                  </a:solidFill>
                  <a:latin typeface="Calibri" panose="020F0502020204030204" charset="0"/>
                  <a:cs typeface="Calibri" panose="020F0502020204030204" charset="0"/>
                </a:rPr>
                <a:t>3</a:t>
              </a:r>
              <a:endParaRPr kumimoji="1" lang="en-US" altLang="en-GB" sz="2800" baseline="30000" dirty="0">
                <a:solidFill>
                  <a:schemeClr val="tx1"/>
                </a:solidFill>
                <a:latin typeface="Calibri" panose="020F0502020204030204" charset="0"/>
                <a:cs typeface="Calibri" panose="020F0502020204030204" charset="0"/>
              </a:endParaRPr>
            </a:p>
          </p:txBody>
        </p:sp>
        <p:sp>
          <p:nvSpPr>
            <p:cNvPr id="6" name="文本框 5">
              <a:extLst>
                <a:ext uri="{FF2B5EF4-FFF2-40B4-BE49-F238E27FC236}">
                  <a16:creationId xmlns:a16="http://schemas.microsoft.com/office/drawing/2014/main" id="{8535B415-568B-9CD0-A655-932D09D77428}"/>
                </a:ext>
              </a:extLst>
            </p:cNvPr>
            <p:cNvSpPr txBox="1"/>
            <p:nvPr/>
          </p:nvSpPr>
          <p:spPr>
            <a:xfrm>
              <a:off x="5148280" y="3933122"/>
              <a:ext cx="1959191" cy="523220"/>
            </a:xfrm>
            <a:prstGeom prst="rect">
              <a:avLst/>
            </a:prstGeom>
            <a:noFill/>
          </p:spPr>
          <p:txBody>
            <a:bodyPr wrap="none" rtlCol="0">
              <a:spAutoFit/>
            </a:bodyPr>
            <a:lstStyle/>
            <a:p>
              <a:pPr algn="ctr"/>
              <a:r>
                <a:rPr lang="en-US" sz="2800" dirty="0">
                  <a:latin typeface="Calibri" panose="020F0502020204030204" charset="0"/>
                  <a:cs typeface="Calibri" panose="020F0502020204030204" charset="0"/>
                </a:rPr>
                <a:t>Guoliang Li</a:t>
              </a:r>
              <a:r>
                <a:rPr lang="en-US" sz="2800" baseline="30000" dirty="0">
                  <a:latin typeface="Calibri" panose="020F0502020204030204" charset="0"/>
                  <a:cs typeface="Calibri" panose="020F0502020204030204" charset="0"/>
                </a:rPr>
                <a:t>4</a:t>
              </a:r>
              <a:endParaRPr kumimoji="1" lang="en-US" altLang="en-GB" sz="2800" baseline="30000" dirty="0">
                <a:latin typeface="Calibri" panose="020F0502020204030204" charset="0"/>
                <a:cs typeface="Calibri" panose="020F0502020204030204" charset="0"/>
              </a:endParaRPr>
            </a:p>
          </p:txBody>
        </p:sp>
        <p:sp>
          <p:nvSpPr>
            <p:cNvPr id="7" name="文本框 6">
              <a:extLst>
                <a:ext uri="{FF2B5EF4-FFF2-40B4-BE49-F238E27FC236}">
                  <a16:creationId xmlns:a16="http://schemas.microsoft.com/office/drawing/2014/main" id="{0FEAE490-71BA-DDB6-956D-7CE5D87F59C3}"/>
                </a:ext>
              </a:extLst>
            </p:cNvPr>
            <p:cNvSpPr txBox="1"/>
            <p:nvPr/>
          </p:nvSpPr>
          <p:spPr>
            <a:xfrm>
              <a:off x="7713609" y="3917619"/>
              <a:ext cx="2180853" cy="523220"/>
            </a:xfrm>
            <a:prstGeom prst="rect">
              <a:avLst/>
            </a:prstGeom>
            <a:noFill/>
          </p:spPr>
          <p:txBody>
            <a:bodyPr wrap="none" rtlCol="0">
              <a:spAutoFit/>
            </a:bodyPr>
            <a:lstStyle/>
            <a:p>
              <a:pPr algn="ctr"/>
              <a:r>
                <a:rPr lang="en-US" altLang="en-GB" sz="2800" dirty="0" err="1">
                  <a:latin typeface="Calibri" panose="020F0502020204030204" charset="0"/>
                  <a:cs typeface="Calibri" panose="020F0502020204030204" charset="0"/>
                </a:rPr>
                <a:t>Xiaoyong</a:t>
              </a:r>
              <a:r>
                <a:rPr lang="en-US" altLang="en-GB" sz="2800" dirty="0">
                  <a:latin typeface="Calibri" panose="020F0502020204030204" charset="0"/>
                  <a:cs typeface="Calibri" panose="020F0502020204030204" charset="0"/>
                </a:rPr>
                <a:t> Du</a:t>
              </a:r>
              <a:r>
                <a:rPr lang="en-US" altLang="en-GB" sz="2800" baseline="30000" dirty="0">
                  <a:latin typeface="Calibri" panose="020F0502020204030204" charset="0"/>
                  <a:cs typeface="Calibri" panose="020F0502020204030204" charset="0"/>
                </a:rPr>
                <a:t>1</a:t>
              </a:r>
              <a:endParaRPr kumimoji="1" lang="en-US" altLang="en-GB" sz="2800" baseline="30000" dirty="0">
                <a:latin typeface="Calibri" panose="020F0502020204030204" charset="0"/>
                <a:cs typeface="Calibri" panose="020F0502020204030204" charset="0"/>
                <a:sym typeface="+mn-ea"/>
              </a:endParaRPr>
            </a:p>
          </p:txBody>
        </p:sp>
      </p:grpSp>
      <p:pic>
        <p:nvPicPr>
          <p:cNvPr id="14" name="图片 13">
            <a:extLst>
              <a:ext uri="{FF2B5EF4-FFF2-40B4-BE49-F238E27FC236}">
                <a16:creationId xmlns:a16="http://schemas.microsoft.com/office/drawing/2014/main" id="{1227D9C4-49BC-E2A8-62A8-0D876918223E}"/>
              </a:ext>
            </a:extLst>
          </p:cNvPr>
          <p:cNvPicPr>
            <a:picLocks noChangeAspect="1"/>
          </p:cNvPicPr>
          <p:nvPr/>
        </p:nvPicPr>
        <p:blipFill rotWithShape="1">
          <a:blip r:embed="rId8"/>
          <a:srcRect l="27803" t="5395" r="23222" b="33126"/>
          <a:stretch>
            <a:fillRect/>
          </a:stretch>
        </p:blipFill>
        <p:spPr>
          <a:xfrm>
            <a:off x="9858850" y="4861644"/>
            <a:ext cx="1492449" cy="1406623"/>
          </a:xfrm>
          <a:prstGeom prst="rect">
            <a:avLst/>
          </a:prstGeom>
        </p:spPr>
      </p:pic>
      <p:pic>
        <p:nvPicPr>
          <p:cNvPr id="15" name="图片 14">
            <a:extLst>
              <a:ext uri="{FF2B5EF4-FFF2-40B4-BE49-F238E27FC236}">
                <a16:creationId xmlns:a16="http://schemas.microsoft.com/office/drawing/2014/main" id="{98827B46-4D89-A6EB-7549-00132F74F3AD}"/>
              </a:ext>
            </a:extLst>
          </p:cNvPr>
          <p:cNvPicPr>
            <a:picLocks noChangeAspect="1"/>
          </p:cNvPicPr>
          <p:nvPr/>
        </p:nvPicPr>
        <p:blipFill rotWithShape="1">
          <a:blip r:embed="rId9"/>
          <a:srcRect r="79786"/>
          <a:stretch>
            <a:fillRect/>
          </a:stretch>
        </p:blipFill>
        <p:spPr>
          <a:xfrm>
            <a:off x="1190418" y="4861644"/>
            <a:ext cx="1318455" cy="1296000"/>
          </a:xfrm>
          <a:prstGeom prst="rect">
            <a:avLst/>
          </a:prstGeom>
        </p:spPr>
      </p:pic>
      <p:pic>
        <p:nvPicPr>
          <p:cNvPr id="1026" name="Picture 2" descr="VLDB 2025 London, United Kingdom">
            <a:extLst>
              <a:ext uri="{FF2B5EF4-FFF2-40B4-BE49-F238E27FC236}">
                <a16:creationId xmlns:a16="http://schemas.microsoft.com/office/drawing/2014/main" id="{9376AE2C-B3FE-77C4-590B-09197143E368}"/>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33863"/>
          <a:stretch>
            <a:fillRect/>
          </a:stretch>
        </p:blipFill>
        <p:spPr bwMode="auto">
          <a:xfrm>
            <a:off x="398342" y="94187"/>
            <a:ext cx="4205466" cy="614358"/>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24">
            <a:extLst>
              <a:ext uri="{FF2B5EF4-FFF2-40B4-BE49-F238E27FC236}">
                <a16:creationId xmlns:a16="http://schemas.microsoft.com/office/drawing/2014/main" id="{3939D5AA-5C86-B3EE-80BB-17AE5917F77F}"/>
              </a:ext>
            </a:extLst>
          </p:cNvPr>
          <p:cNvSpPr txBox="1"/>
          <p:nvPr>
            <p:custDataLst>
              <p:tags r:id="rId1"/>
            </p:custDataLst>
          </p:nvPr>
        </p:nvSpPr>
        <p:spPr>
          <a:xfrm>
            <a:off x="597122" y="6214855"/>
            <a:ext cx="2505045" cy="338554"/>
          </a:xfrm>
          <a:prstGeom prst="rect">
            <a:avLst/>
          </a:prstGeom>
          <a:noFill/>
        </p:spPr>
        <p:txBody>
          <a:bodyPr wrap="none" rtlCol="0">
            <a:spAutoFit/>
          </a:bodyPr>
          <a:lstStyle/>
          <a:p>
            <a:pPr algn="ctr"/>
            <a:r>
              <a:rPr lang="en-US" altLang="en-GB" sz="1600" baseline="30000" dirty="0">
                <a:solidFill>
                  <a:schemeClr val="tx1"/>
                </a:solidFill>
                <a:latin typeface="Calibri" panose="020F0702030404030204" charset="0"/>
                <a:cs typeface="Calibri" panose="020F0702030404030204" charset="0"/>
              </a:rPr>
              <a:t>1</a:t>
            </a:r>
            <a:r>
              <a:rPr lang="en-US" altLang="en-GB" sz="1600" dirty="0">
                <a:solidFill>
                  <a:schemeClr val="tx1"/>
                </a:solidFill>
                <a:latin typeface="Calibri" panose="020F0702030404030204" charset="0"/>
                <a:cs typeface="Calibri" panose="020F0702030404030204" charset="0"/>
              </a:rPr>
              <a:t>Renmin </a:t>
            </a:r>
            <a:r>
              <a:rPr lang="en-US" altLang="zh-CN" sz="1600" dirty="0">
                <a:latin typeface="Calibri" panose="020F0702030404030204" charset="0"/>
                <a:cs typeface="Calibri" panose="020F0702030404030204" charset="0"/>
              </a:rPr>
              <a:t>U</a:t>
            </a:r>
            <a:r>
              <a:rPr lang="en-US" altLang="en-GB" sz="1600" dirty="0">
                <a:solidFill>
                  <a:schemeClr val="tx1"/>
                </a:solidFill>
                <a:latin typeface="Calibri" panose="020F0702030404030204" charset="0"/>
                <a:cs typeface="Calibri" panose="020F0702030404030204" charset="0"/>
              </a:rPr>
              <a:t>n</a:t>
            </a:r>
            <a:r>
              <a:rPr lang="en-US" altLang="zh-CN" sz="1600" dirty="0">
                <a:solidFill>
                  <a:schemeClr val="tx1"/>
                </a:solidFill>
                <a:latin typeface="Calibri" panose="020F0702030404030204" charset="0"/>
                <a:cs typeface="Calibri" panose="020F0702030404030204" charset="0"/>
              </a:rPr>
              <a:t>i</a:t>
            </a:r>
            <a:r>
              <a:rPr lang="en-US" altLang="en-GB" sz="1600" dirty="0">
                <a:solidFill>
                  <a:schemeClr val="tx1"/>
                </a:solidFill>
                <a:latin typeface="Calibri" panose="020F0702030404030204" charset="0"/>
                <a:cs typeface="Calibri" panose="020F0702030404030204" charset="0"/>
              </a:rPr>
              <a:t>versity of China</a:t>
            </a:r>
            <a:endParaRPr kumimoji="1" lang="en-US" altLang="en-GB" sz="1600" dirty="0">
              <a:solidFill>
                <a:schemeClr val="tx1"/>
              </a:solidFill>
              <a:latin typeface="Calibri" panose="020F0702030404030204" charset="0"/>
              <a:cs typeface="Calibri" panose="020F0702030404030204" charset="0"/>
            </a:endParaRPr>
          </a:p>
        </p:txBody>
      </p:sp>
      <p:sp>
        <p:nvSpPr>
          <p:cNvPr id="12" name="文本框 26">
            <a:extLst>
              <a:ext uri="{FF2B5EF4-FFF2-40B4-BE49-F238E27FC236}">
                <a16:creationId xmlns:a16="http://schemas.microsoft.com/office/drawing/2014/main" id="{1CE8A37A-021D-FE0D-428A-9C4366CF410C}"/>
              </a:ext>
            </a:extLst>
          </p:cNvPr>
          <p:cNvSpPr txBox="1"/>
          <p:nvPr>
            <p:custDataLst>
              <p:tags r:id="rId2"/>
            </p:custDataLst>
          </p:nvPr>
        </p:nvSpPr>
        <p:spPr>
          <a:xfrm>
            <a:off x="6948197" y="6214855"/>
            <a:ext cx="2180853" cy="337185"/>
          </a:xfrm>
          <a:prstGeom prst="rect">
            <a:avLst/>
          </a:prstGeom>
          <a:noFill/>
        </p:spPr>
        <p:txBody>
          <a:bodyPr wrap="square" rtlCol="0">
            <a:spAutoFit/>
          </a:bodyPr>
          <a:lstStyle/>
          <a:p>
            <a:pPr algn="ctr"/>
            <a:r>
              <a:rPr lang="en-US" altLang="en-GB" sz="1600" baseline="30000" dirty="0">
                <a:solidFill>
                  <a:schemeClr val="tx1"/>
                </a:solidFill>
                <a:latin typeface="Calibri" panose="020F0702030404030204" charset="0"/>
                <a:cs typeface="Calibri" panose="020F0702030404030204" charset="0"/>
              </a:rPr>
              <a:t>3</a:t>
            </a:r>
            <a:r>
              <a:rPr lang="en-US" altLang="en-GB" sz="1600" dirty="0">
                <a:solidFill>
                  <a:schemeClr val="tx1"/>
                </a:solidFill>
                <a:latin typeface="Calibri" panose="020F0702030404030204" charset="0"/>
                <a:cs typeface="Calibri" panose="020F0702030404030204" charset="0"/>
              </a:rPr>
              <a:t>University of Arizona</a:t>
            </a:r>
          </a:p>
        </p:txBody>
      </p:sp>
      <p:sp>
        <p:nvSpPr>
          <p:cNvPr id="13" name="文本框 28">
            <a:extLst>
              <a:ext uri="{FF2B5EF4-FFF2-40B4-BE49-F238E27FC236}">
                <a16:creationId xmlns:a16="http://schemas.microsoft.com/office/drawing/2014/main" id="{D4B19D5A-D744-AF62-36EC-497A89242A04}"/>
              </a:ext>
            </a:extLst>
          </p:cNvPr>
          <p:cNvSpPr txBox="1"/>
          <p:nvPr>
            <p:custDataLst>
              <p:tags r:id="rId3"/>
            </p:custDataLst>
          </p:nvPr>
        </p:nvSpPr>
        <p:spPr>
          <a:xfrm>
            <a:off x="9673409" y="6213486"/>
            <a:ext cx="1863331" cy="338554"/>
          </a:xfrm>
          <a:prstGeom prst="rect">
            <a:avLst/>
          </a:prstGeom>
          <a:noFill/>
        </p:spPr>
        <p:txBody>
          <a:bodyPr wrap="none" rtlCol="0">
            <a:spAutoFit/>
          </a:bodyPr>
          <a:lstStyle/>
          <a:p>
            <a:pPr algn="ctr"/>
            <a:r>
              <a:rPr lang="en-US" altLang="en-GB" sz="1600" baseline="30000" dirty="0">
                <a:solidFill>
                  <a:schemeClr val="tx1"/>
                </a:solidFill>
                <a:latin typeface="Calibri" panose="020F0702030404030204" charset="0"/>
                <a:cs typeface="Calibri" panose="020F0702030404030204" charset="0"/>
              </a:rPr>
              <a:t>4</a:t>
            </a:r>
            <a:r>
              <a:rPr lang="en-US" altLang="en-GB" sz="1600" dirty="0">
                <a:solidFill>
                  <a:schemeClr val="tx1"/>
                </a:solidFill>
                <a:latin typeface="Calibri" panose="020F0702030404030204" charset="0"/>
                <a:cs typeface="Calibri" panose="020F0702030404030204" charset="0"/>
              </a:rPr>
              <a:t>Tsinghua </a:t>
            </a:r>
            <a:r>
              <a:rPr lang="en-US" altLang="zh-CN" sz="1600" dirty="0">
                <a:solidFill>
                  <a:schemeClr val="tx1"/>
                </a:solidFill>
                <a:latin typeface="Calibri" panose="020F0702030404030204" charset="0"/>
                <a:cs typeface="Calibri" panose="020F0702030404030204" charset="0"/>
              </a:rPr>
              <a:t>University</a:t>
            </a:r>
            <a:endParaRPr lang="en-US" altLang="en-GB" sz="1600" dirty="0">
              <a:solidFill>
                <a:schemeClr val="tx1"/>
              </a:solidFill>
              <a:latin typeface="Calibri" panose="020F0702030404030204" charset="0"/>
              <a:cs typeface="Calibri" panose="020F0702030404030204" charset="0"/>
            </a:endParaRPr>
          </a:p>
        </p:txBody>
      </p:sp>
      <p:sp>
        <p:nvSpPr>
          <p:cNvPr id="16" name="文本框 29">
            <a:extLst>
              <a:ext uri="{FF2B5EF4-FFF2-40B4-BE49-F238E27FC236}">
                <a16:creationId xmlns:a16="http://schemas.microsoft.com/office/drawing/2014/main" id="{5FAF48FB-5D3F-04EA-2752-8608E288A577}"/>
              </a:ext>
            </a:extLst>
          </p:cNvPr>
          <p:cNvSpPr txBox="1"/>
          <p:nvPr>
            <p:custDataLst>
              <p:tags r:id="rId4"/>
            </p:custDataLst>
          </p:nvPr>
        </p:nvSpPr>
        <p:spPr>
          <a:xfrm>
            <a:off x="3213314" y="6214855"/>
            <a:ext cx="3320251" cy="338554"/>
          </a:xfrm>
          <a:prstGeom prst="rect">
            <a:avLst/>
          </a:prstGeom>
          <a:noFill/>
        </p:spPr>
        <p:txBody>
          <a:bodyPr wrap="square" rtlCol="0">
            <a:spAutoFit/>
          </a:bodyPr>
          <a:lstStyle/>
          <a:p>
            <a:pPr algn="ctr"/>
            <a:r>
              <a:rPr lang="en-US" altLang="zh-CN" sz="1600" baseline="30000" dirty="0">
                <a:solidFill>
                  <a:schemeClr val="tx1"/>
                </a:solidFill>
                <a:latin typeface="Calibri" panose="020F0702030404030204" charset="0"/>
                <a:cs typeface="Calibri" panose="020F0702030404030204" charset="0"/>
              </a:rPr>
              <a:t>2</a:t>
            </a:r>
            <a:r>
              <a:rPr lang="en-US" altLang="en-GB" sz="1600" dirty="0">
                <a:solidFill>
                  <a:schemeClr val="tx1"/>
                </a:solidFill>
                <a:latin typeface="Calibri" panose="020F0702030404030204" charset="0"/>
                <a:cs typeface="Calibri" panose="020F0702030404030204" charset="0"/>
              </a:rPr>
              <a:t>HKUST (</a:t>
            </a:r>
            <a:r>
              <a:rPr lang="en-US" altLang="zh-CN" sz="1600" dirty="0">
                <a:solidFill>
                  <a:schemeClr val="tx1"/>
                </a:solidFill>
                <a:latin typeface="Calibri" panose="020F0702030404030204" charset="0"/>
                <a:cs typeface="Calibri" panose="020F0702030404030204" charset="0"/>
              </a:rPr>
              <a:t>GZ</a:t>
            </a:r>
            <a:r>
              <a:rPr lang="en-US" altLang="en-GB" sz="1600" dirty="0">
                <a:solidFill>
                  <a:schemeClr val="tx1"/>
                </a:solidFill>
                <a:latin typeface="Calibri" panose="020F0702030404030204" charset="0"/>
                <a:cs typeface="Calibri" panose="020F0702030404030204" charset="0"/>
              </a:rPr>
              <a:t>)</a:t>
            </a:r>
          </a:p>
        </p:txBody>
      </p:sp>
      <p:pic>
        <p:nvPicPr>
          <p:cNvPr id="17" name="图片 11" descr="University-of-Arizona-Logo">
            <a:extLst>
              <a:ext uri="{FF2B5EF4-FFF2-40B4-BE49-F238E27FC236}">
                <a16:creationId xmlns:a16="http://schemas.microsoft.com/office/drawing/2014/main" id="{D312FE5B-37ED-FD7C-8EDD-BF5A4BEC490B}"/>
              </a:ext>
            </a:extLst>
          </p:cNvPr>
          <p:cNvPicPr>
            <a:picLocks noChangeAspect="1"/>
          </p:cNvPicPr>
          <p:nvPr/>
        </p:nvPicPr>
        <p:blipFill rotWithShape="1">
          <a:blip r:embed="rId11"/>
          <a:srcRect l="3928" r="-3928" b="21625"/>
          <a:stretch>
            <a:fillRect/>
          </a:stretch>
        </p:blipFill>
        <p:spPr>
          <a:xfrm>
            <a:off x="7136819" y="4904280"/>
            <a:ext cx="1799222" cy="1296000"/>
          </a:xfrm>
          <a:prstGeom prst="rect">
            <a:avLst/>
          </a:prstGeom>
        </p:spPr>
      </p:pic>
      <p:sp>
        <p:nvSpPr>
          <p:cNvPr id="11" name="标题 1">
            <a:extLst>
              <a:ext uri="{FF2B5EF4-FFF2-40B4-BE49-F238E27FC236}">
                <a16:creationId xmlns:a16="http://schemas.microsoft.com/office/drawing/2014/main" id="{55CAA32C-9BEF-61DB-5558-283DA140CA42}"/>
              </a:ext>
            </a:extLst>
          </p:cNvPr>
          <p:cNvSpPr txBox="1">
            <a:spLocks/>
          </p:cNvSpPr>
          <p:nvPr/>
        </p:nvSpPr>
        <p:spPr>
          <a:xfrm>
            <a:off x="5705856" y="-1"/>
            <a:ext cx="6486144" cy="463957"/>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kumimoji="1" lang="en-US" altLang="zh-CN" sz="2400" b="1" dirty="0">
                <a:solidFill>
                  <a:srgbClr val="336699"/>
                </a:solidFill>
                <a:latin typeface="Calibri Regular" panose="020F0702030404030204" charset="0"/>
                <a:cs typeface="Calibri Regular" panose="020F0702030404030204" charset="0"/>
                <a:sym typeface="+mn-ea"/>
              </a:rPr>
              <a:t>Research 36: Data Cleaning and Preparation II</a:t>
            </a:r>
          </a:p>
        </p:txBody>
      </p:sp>
    </p:spTree>
  </p:cSld>
  <p:clrMapOvr>
    <a:masterClrMapping/>
  </p:clrMapOvr>
  <mc:AlternateContent xmlns:mc="http://schemas.openxmlformats.org/markup-compatibility/2006" xmlns:p14="http://schemas.microsoft.com/office/powerpoint/2010/main">
    <mc:Choice Requires="p14">
      <p:transition spd="slow" p14:dur="2000" advTm="15168"/>
    </mc:Choice>
    <mc:Fallback xmlns="">
      <p:transition spd="slow" advTm="1516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6772019" cy="880372"/>
          </a:xfrm>
        </p:spPr>
        <p:txBody>
          <a:bodyPr/>
          <a:lstStyle/>
          <a:p>
            <a:r>
              <a:rPr kumimoji="1" lang="en-US" altLang="zh-CN" sz="4400" dirty="0">
                <a:sym typeface="+mn-ea"/>
              </a:rPr>
              <a:t>Tabular Question Answering</a:t>
            </a:r>
          </a:p>
        </p:txBody>
      </p:sp>
      <p:sp>
        <p:nvSpPr>
          <p:cNvPr id="3" name="内容占位符 2"/>
          <p:cNvSpPr>
            <a:spLocks noGrp="1"/>
          </p:cNvSpPr>
          <p:nvPr>
            <p:ph idx="1"/>
          </p:nvPr>
        </p:nvSpPr>
        <p:spPr>
          <a:xfrm>
            <a:off x="519430" y="1370330"/>
            <a:ext cx="11355070" cy="1423023"/>
          </a:xfrm>
        </p:spPr>
        <p:txBody>
          <a:bodyPr>
            <a:normAutofit/>
          </a:bodyPr>
          <a:lstStyle/>
          <a:p>
            <a:pPr>
              <a:lnSpc>
                <a:spcPct val="100000"/>
              </a:lnSpc>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Tabular Question Answering (TQA) refers to the task of answering natural language (NL) questions based on the provided table</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2</a:t>
            </a:fld>
            <a:endParaRPr kumimoji="1" lang="zh-CN" altLang="en-US">
              <a:solidFill>
                <a:prstClr val="black">
                  <a:tint val="75000"/>
                </a:prstClr>
              </a:solidFill>
            </a:endParaRPr>
          </a:p>
        </p:txBody>
      </p:sp>
      <p:graphicFrame>
        <p:nvGraphicFramePr>
          <p:cNvPr id="6" name="对象 5">
            <a:extLst>
              <a:ext uri="{FF2B5EF4-FFF2-40B4-BE49-F238E27FC236}">
                <a16:creationId xmlns:a16="http://schemas.microsoft.com/office/drawing/2014/main" id="{D0420A03-21BB-498D-AF72-36AEF785785B}"/>
              </a:ext>
            </a:extLst>
          </p:cNvPr>
          <p:cNvGraphicFramePr/>
          <p:nvPr>
            <p:extLst>
              <p:ext uri="{D42A27DB-BD31-4B8C-83A1-F6EECF244321}">
                <p14:modId xmlns:p14="http://schemas.microsoft.com/office/powerpoint/2010/main" val="3018228313"/>
              </p:ext>
            </p:extLst>
          </p:nvPr>
        </p:nvGraphicFramePr>
        <p:xfrm>
          <a:off x="977421" y="2343593"/>
          <a:ext cx="9865759" cy="2711007"/>
        </p:xfrm>
        <a:graphic>
          <a:graphicData uri="http://schemas.openxmlformats.org/presentationml/2006/ole">
            <mc:AlternateContent xmlns:mc="http://schemas.openxmlformats.org/markup-compatibility/2006">
              <mc:Choice xmlns:v="urn:schemas-microsoft-com:vml" Requires="v">
                <p:oleObj name="Visio" r:id="rId3" imgW="4087756" imgH="1088683" progId="Visio.Drawing.15">
                  <p:embed/>
                </p:oleObj>
              </mc:Choice>
              <mc:Fallback>
                <p:oleObj name="Visio" r:id="rId3" imgW="4087756" imgH="1088683" progId="Visio.Drawing.15">
                  <p:embed/>
                  <p:pic>
                    <p:nvPicPr>
                      <p:cNvPr id="6" name="对象 5">
                        <a:extLst>
                          <a:ext uri="{FF2B5EF4-FFF2-40B4-BE49-F238E27FC236}">
                            <a16:creationId xmlns:a16="http://schemas.microsoft.com/office/drawing/2014/main" id="{D0420A03-21BB-498D-AF72-36AEF785785B}"/>
                          </a:ext>
                        </a:extLst>
                      </p:cNvPr>
                      <p:cNvPicPr/>
                      <p:nvPr/>
                    </p:nvPicPr>
                    <p:blipFill>
                      <a:blip r:embed="rId4"/>
                      <a:stretch>
                        <a:fillRect/>
                      </a:stretch>
                    </p:blipFill>
                    <p:spPr>
                      <a:xfrm>
                        <a:off x="977421" y="2343593"/>
                        <a:ext cx="9865759" cy="2711007"/>
                      </a:xfrm>
                      <a:prstGeom prst="rect">
                        <a:avLst/>
                      </a:prstGeom>
                      <a:solidFill>
                        <a:schemeClr val="bg1"/>
                      </a:solidFill>
                    </p:spPr>
                  </p:pic>
                </p:oleObj>
              </mc:Fallback>
            </mc:AlternateContent>
          </a:graphicData>
        </a:graphic>
      </p:graphicFrame>
      <p:sp>
        <p:nvSpPr>
          <p:cNvPr id="15" name="Content Placeholder 2">
            <a:extLst>
              <a:ext uri="{FF2B5EF4-FFF2-40B4-BE49-F238E27FC236}">
                <a16:creationId xmlns:a16="http://schemas.microsoft.com/office/drawing/2014/main" id="{99C10EBF-CF90-743C-7C20-C16248FD93AC}"/>
              </a:ext>
            </a:extLst>
          </p:cNvPr>
          <p:cNvSpPr txBox="1"/>
          <p:nvPr/>
        </p:nvSpPr>
        <p:spPr>
          <a:xfrm>
            <a:off x="2384385" y="5788358"/>
            <a:ext cx="7905509" cy="933120"/>
          </a:xfrm>
          <a:prstGeom prst="rect">
            <a:avLst/>
          </a:prstGeom>
          <a:ln>
            <a:solidFill>
              <a:srgbClr val="FF0000"/>
            </a:solidFill>
          </a:ln>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gn="ctr">
              <a:buNone/>
            </a:pPr>
            <a:r>
              <a:rPr lang="en-US" dirty="0">
                <a:solidFill>
                  <a:srgbClr val="FF0000"/>
                </a:solidFill>
              </a:rPr>
              <a:t>Previous TQA methods are</a:t>
            </a:r>
            <a:r>
              <a:rPr lang="en-US" altLang="zh-CN" dirty="0">
                <a:solidFill>
                  <a:srgbClr val="FF0000"/>
                </a:solidFill>
              </a:rPr>
              <a:t> </a:t>
            </a:r>
            <a:r>
              <a:rPr lang="en-US" dirty="0">
                <a:solidFill>
                  <a:srgbClr val="FF0000"/>
                </a:solidFill>
              </a:rPr>
              <a:t>model-centric, </a:t>
            </a:r>
          </a:p>
          <a:p>
            <a:pPr marL="0" indent="0" algn="ctr">
              <a:buNone/>
            </a:pPr>
            <a:r>
              <a:rPr lang="en-US" dirty="0">
                <a:solidFill>
                  <a:srgbClr val="FF0000"/>
                </a:solidFill>
              </a:rPr>
              <a:t>focusing on enhancing model’s reasoning capabilities.</a:t>
            </a:r>
          </a:p>
          <a:p>
            <a:pPr marL="0" indent="0" algn="ctr">
              <a:buFont typeface="Arial" panose="020B0604020202090204"/>
              <a:buNone/>
            </a:pPr>
            <a:endParaRPr lang="en-US" altLang="zh-CN" dirty="0">
              <a:solidFill>
                <a:srgbClr val="FF0000"/>
              </a:solidFill>
            </a:endParaRPr>
          </a:p>
        </p:txBody>
      </p:sp>
      <p:sp>
        <p:nvSpPr>
          <p:cNvPr id="5" name="左大括号 4">
            <a:extLst>
              <a:ext uri="{FF2B5EF4-FFF2-40B4-BE49-F238E27FC236}">
                <a16:creationId xmlns:a16="http://schemas.microsoft.com/office/drawing/2014/main" id="{34F170DD-0C80-20BE-8B97-E20E4F943BE7}"/>
              </a:ext>
            </a:extLst>
          </p:cNvPr>
          <p:cNvSpPr/>
          <p:nvPr/>
        </p:nvSpPr>
        <p:spPr>
          <a:xfrm>
            <a:off x="8422979" y="2206136"/>
            <a:ext cx="344384" cy="920371"/>
          </a:xfrm>
          <a:prstGeom prst="lef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5A0B2B7-2278-D81B-E4D1-DDF83839C624}"/>
              </a:ext>
            </a:extLst>
          </p:cNvPr>
          <p:cNvSpPr txBox="1"/>
          <p:nvPr/>
        </p:nvSpPr>
        <p:spPr>
          <a:xfrm>
            <a:off x="8737600" y="2068781"/>
            <a:ext cx="2572499" cy="400110"/>
          </a:xfrm>
          <a:prstGeom prst="rect">
            <a:avLst/>
          </a:prstGeom>
          <a:noFill/>
        </p:spPr>
        <p:txBody>
          <a:bodyPr wrap="none" rtlCol="0">
            <a:spAutoFit/>
          </a:bodyPr>
          <a:lstStyle/>
          <a:p>
            <a:r>
              <a:rPr kumimoji="1" lang="en-US" altLang="zh-CN" sz="2000" dirty="0">
                <a:solidFill>
                  <a:srgbClr val="FF0000"/>
                </a:solidFill>
              </a:rPr>
              <a:t>Direct Prompting [1-2] </a:t>
            </a:r>
            <a:endParaRPr kumimoji="1" lang="zh-CN" altLang="en-US" sz="2000" dirty="0">
              <a:solidFill>
                <a:srgbClr val="FF0000"/>
              </a:solidFill>
            </a:endParaRPr>
          </a:p>
        </p:txBody>
      </p:sp>
      <p:sp>
        <p:nvSpPr>
          <p:cNvPr id="8" name="文本框 7">
            <a:extLst>
              <a:ext uri="{FF2B5EF4-FFF2-40B4-BE49-F238E27FC236}">
                <a16:creationId xmlns:a16="http://schemas.microsoft.com/office/drawing/2014/main" id="{773BD9B3-BE80-303B-2CF3-821D75B8EF5C}"/>
              </a:ext>
            </a:extLst>
          </p:cNvPr>
          <p:cNvSpPr txBox="1"/>
          <p:nvPr/>
        </p:nvSpPr>
        <p:spPr>
          <a:xfrm>
            <a:off x="8737600" y="2936503"/>
            <a:ext cx="2502993" cy="400110"/>
          </a:xfrm>
          <a:prstGeom prst="rect">
            <a:avLst/>
          </a:prstGeom>
          <a:noFill/>
        </p:spPr>
        <p:txBody>
          <a:bodyPr wrap="none" rtlCol="0">
            <a:spAutoFit/>
          </a:bodyPr>
          <a:lstStyle/>
          <a:p>
            <a:r>
              <a:rPr kumimoji="1" lang="en-US" altLang="zh-CN" sz="2000" dirty="0">
                <a:solidFill>
                  <a:srgbClr val="FF0000"/>
                </a:solidFill>
              </a:rPr>
              <a:t>Code Generation [3-4]</a:t>
            </a:r>
            <a:endParaRPr kumimoji="1" lang="zh-CN" altLang="en-US" sz="2000" dirty="0">
              <a:solidFill>
                <a:srgbClr val="FF0000"/>
              </a:solidFill>
            </a:endParaRPr>
          </a:p>
        </p:txBody>
      </p:sp>
      <p:sp>
        <p:nvSpPr>
          <p:cNvPr id="9" name="文本框 8">
            <a:extLst>
              <a:ext uri="{FF2B5EF4-FFF2-40B4-BE49-F238E27FC236}">
                <a16:creationId xmlns:a16="http://schemas.microsoft.com/office/drawing/2014/main" id="{20D06427-1482-3557-4785-D84B4444A7E0}"/>
              </a:ext>
            </a:extLst>
          </p:cNvPr>
          <p:cNvSpPr txBox="1"/>
          <p:nvPr/>
        </p:nvSpPr>
        <p:spPr>
          <a:xfrm>
            <a:off x="4477086" y="4172565"/>
            <a:ext cx="7397414" cy="1477328"/>
          </a:xfrm>
          <a:prstGeom prst="rect">
            <a:avLst/>
          </a:prstGeom>
          <a:noFill/>
        </p:spPr>
        <p:txBody>
          <a:bodyPr wrap="square" rtlCol="0">
            <a:spAutoFit/>
          </a:bodyPr>
          <a:lstStyle/>
          <a:p>
            <a:r>
              <a:rPr kumimoji="1" lang="en-US" altLang="zh-CN" dirty="0">
                <a:solidFill>
                  <a:schemeClr val="bg1">
                    <a:lumMod val="65000"/>
                  </a:schemeClr>
                </a:solidFill>
              </a:rPr>
              <a:t>[1] </a:t>
            </a:r>
            <a:r>
              <a:rPr lang="en" altLang="zh-CN" dirty="0">
                <a:solidFill>
                  <a:schemeClr val="bg1">
                    <a:lumMod val="65000"/>
                  </a:schemeClr>
                </a:solidFill>
              </a:rPr>
              <a:t>Large language models are few (1)-shot table reasoners. </a:t>
            </a:r>
            <a:r>
              <a:rPr lang="en" altLang="zh-CN" dirty="0" err="1">
                <a:solidFill>
                  <a:schemeClr val="bg1">
                    <a:lumMod val="65000"/>
                  </a:schemeClr>
                </a:solidFill>
              </a:rPr>
              <a:t>Arxiv</a:t>
            </a:r>
            <a:r>
              <a:rPr lang="en" altLang="zh-CN" dirty="0">
                <a:solidFill>
                  <a:schemeClr val="bg1">
                    <a:lumMod val="65000"/>
                  </a:schemeClr>
                </a:solidFill>
              </a:rPr>
              <a:t>. 2022 </a:t>
            </a:r>
          </a:p>
          <a:p>
            <a:r>
              <a:rPr kumimoji="1" lang="en" altLang="zh-CN" dirty="0">
                <a:solidFill>
                  <a:schemeClr val="bg1">
                    <a:lumMod val="65000"/>
                  </a:schemeClr>
                </a:solidFill>
              </a:rPr>
              <a:t>[2] Chain-of-thought prompting elicits reasoning in large language models . </a:t>
            </a:r>
            <a:r>
              <a:rPr kumimoji="1" lang="en" altLang="zh-CN" dirty="0" err="1">
                <a:solidFill>
                  <a:schemeClr val="bg1">
                    <a:lumMod val="65000"/>
                  </a:schemeClr>
                </a:solidFill>
              </a:rPr>
              <a:t>NeurIPS</a:t>
            </a:r>
            <a:r>
              <a:rPr kumimoji="1" lang="en" altLang="zh-CN" dirty="0">
                <a:solidFill>
                  <a:schemeClr val="bg1">
                    <a:lumMod val="65000"/>
                  </a:schemeClr>
                </a:solidFill>
              </a:rPr>
              <a:t>. 2022</a:t>
            </a:r>
          </a:p>
          <a:p>
            <a:r>
              <a:rPr kumimoji="1" lang="en" altLang="zh-CN" dirty="0">
                <a:solidFill>
                  <a:schemeClr val="bg1">
                    <a:lumMod val="65000"/>
                  </a:schemeClr>
                </a:solidFill>
              </a:rPr>
              <a:t>[3] Binding Language Models in Symbolic Languages. ICLR. 2023</a:t>
            </a:r>
          </a:p>
          <a:p>
            <a:r>
              <a:rPr kumimoji="1" lang="en" altLang="zh-CN" dirty="0">
                <a:solidFill>
                  <a:schemeClr val="bg1">
                    <a:lumMod val="65000"/>
                  </a:schemeClr>
                </a:solidFill>
              </a:rPr>
              <a:t>[4] </a:t>
            </a:r>
            <a:r>
              <a:rPr kumimoji="1" lang="en" altLang="zh-CN" dirty="0" err="1">
                <a:solidFill>
                  <a:schemeClr val="bg1">
                    <a:lumMod val="65000"/>
                  </a:schemeClr>
                </a:solidFill>
              </a:rPr>
              <a:t>ReAcTable</a:t>
            </a:r>
            <a:r>
              <a:rPr kumimoji="1" lang="en" altLang="zh-CN" dirty="0">
                <a:solidFill>
                  <a:schemeClr val="bg1">
                    <a:lumMod val="65000"/>
                  </a:schemeClr>
                </a:solidFill>
              </a:rPr>
              <a:t>: Enhancing </a:t>
            </a:r>
            <a:r>
              <a:rPr kumimoji="1" lang="en" altLang="zh-CN" dirty="0" err="1">
                <a:solidFill>
                  <a:schemeClr val="bg1">
                    <a:lumMod val="65000"/>
                  </a:schemeClr>
                </a:solidFill>
              </a:rPr>
              <a:t>ReAct</a:t>
            </a:r>
            <a:r>
              <a:rPr kumimoji="1" lang="en" altLang="zh-CN" dirty="0">
                <a:solidFill>
                  <a:schemeClr val="bg1">
                    <a:lumMod val="65000"/>
                  </a:schemeClr>
                </a:solidFill>
              </a:rPr>
              <a:t> for Table Question Answering. VLDB. 2024</a:t>
            </a:r>
            <a:endParaRPr kumimoji="1" lang="zh-CN" altLang="en-US" dirty="0">
              <a:solidFill>
                <a:schemeClr val="bg1">
                  <a:lumMod val="65000"/>
                </a:schemeClr>
              </a:solidFill>
            </a:endParaRPr>
          </a:p>
        </p:txBody>
      </p:sp>
    </p:spTree>
    <p:extLst>
      <p:ext uri="{BB962C8B-B14F-4D97-AF65-F5344CB8AC3E}">
        <p14:creationId xmlns:p14="http://schemas.microsoft.com/office/powerpoint/2010/main" val="2305640138"/>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lstStyle/>
          <a:p>
            <a:r>
              <a:rPr kumimoji="1" lang="en-US" altLang="zh-CN" sz="4400" dirty="0">
                <a:sym typeface="+mn-ea"/>
              </a:rPr>
              <a:t>Data Prep Issues in TQA method</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3</a:t>
            </a:fld>
            <a:endParaRPr kumimoji="1" lang="zh-CN" altLang="en-US">
              <a:solidFill>
                <a:prstClr val="black">
                  <a:tint val="75000"/>
                </a:prstClr>
              </a:solidFill>
            </a:endParaRPr>
          </a:p>
        </p:txBody>
      </p:sp>
      <p:sp>
        <p:nvSpPr>
          <p:cNvPr id="14" name="矩形 13">
            <a:extLst>
              <a:ext uri="{FF2B5EF4-FFF2-40B4-BE49-F238E27FC236}">
                <a16:creationId xmlns:a16="http://schemas.microsoft.com/office/drawing/2014/main" id="{744B78EA-C679-B1AB-5AB9-B442A7B62FD8}"/>
              </a:ext>
            </a:extLst>
          </p:cNvPr>
          <p:cNvSpPr/>
          <p:nvPr/>
        </p:nvSpPr>
        <p:spPr>
          <a:xfrm>
            <a:off x="860159" y="3231455"/>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Missing Semantics</a:t>
            </a:r>
            <a:endParaRPr kumimoji="1" lang="zh-CN" altLang="en-US" dirty="0">
              <a:solidFill>
                <a:schemeClr val="bg1"/>
              </a:solidFill>
            </a:endParaRPr>
          </a:p>
        </p:txBody>
      </p:sp>
      <p:pic>
        <p:nvPicPr>
          <p:cNvPr id="6" name="图片 5">
            <a:extLst>
              <a:ext uri="{FF2B5EF4-FFF2-40B4-BE49-F238E27FC236}">
                <a16:creationId xmlns:a16="http://schemas.microsoft.com/office/drawing/2014/main" id="{C5982BE3-D751-58B3-EE53-EBA154E43EC7}"/>
              </a:ext>
            </a:extLst>
          </p:cNvPr>
          <p:cNvPicPr>
            <a:picLocks noChangeAspect="1"/>
          </p:cNvPicPr>
          <p:nvPr/>
        </p:nvPicPr>
        <p:blipFill>
          <a:blip r:embed="rId3"/>
          <a:stretch>
            <a:fillRect/>
          </a:stretch>
        </p:blipFill>
        <p:spPr>
          <a:xfrm>
            <a:off x="2659582" y="2885974"/>
            <a:ext cx="7830488" cy="1292086"/>
          </a:xfrm>
          <a:prstGeom prst="rect">
            <a:avLst/>
          </a:prstGeom>
        </p:spPr>
      </p:pic>
      <p:sp>
        <p:nvSpPr>
          <p:cNvPr id="5" name="矩形 4">
            <a:extLst>
              <a:ext uri="{FF2B5EF4-FFF2-40B4-BE49-F238E27FC236}">
                <a16:creationId xmlns:a16="http://schemas.microsoft.com/office/drawing/2014/main" id="{67F21D4B-0EDF-EBA6-E301-4D33372DEA01}"/>
              </a:ext>
            </a:extLst>
          </p:cNvPr>
          <p:cNvSpPr/>
          <p:nvPr/>
        </p:nvSpPr>
        <p:spPr>
          <a:xfrm>
            <a:off x="2659582" y="2885974"/>
            <a:ext cx="2518060" cy="1292086"/>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3" name="内容占位符 2"/>
          <p:cNvSpPr>
            <a:spLocks noGrp="1"/>
          </p:cNvSpPr>
          <p:nvPr>
            <p:ph idx="1"/>
          </p:nvPr>
        </p:nvSpPr>
        <p:spPr>
          <a:xfrm>
            <a:off x="519430" y="1370330"/>
            <a:ext cx="11355070" cy="1639173"/>
          </a:xfrm>
        </p:spPr>
        <p:txBody>
          <a:bodyPr>
            <a:normAutofit/>
          </a:bodyPr>
          <a:lstStyle/>
          <a:p>
            <a:pPr>
              <a:lnSpc>
                <a:spcPct val="100000"/>
              </a:lnSpc>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However, we find that in TQA, data prep issues are most important</a:t>
            </a:r>
          </a:p>
          <a:p>
            <a:pPr lvl="1">
              <a:buFont typeface="Arial" panose="020B0604020202020204" pitchFamily="34" charset="0"/>
              <a:buChar char="•"/>
            </a:pPr>
            <a:r>
              <a:rPr kumimoji="1" lang="en-US" altLang="zh-CN" sz="2400" dirty="0">
                <a:latin typeface="Calibri" panose="020F0502020204030204" charset="0"/>
                <a:cs typeface="Calibri" panose="020F0502020204030204" charset="0"/>
                <a:sym typeface="+mn-ea"/>
              </a:rPr>
              <a:t>Tables are usually from Web or </a:t>
            </a:r>
            <a:r>
              <a:rPr kumimoji="1" lang="en-US" altLang="zh-CN" sz="2400" dirty="0" err="1">
                <a:latin typeface="Calibri" panose="020F0502020204030204" charset="0"/>
                <a:cs typeface="Calibri" panose="020F0502020204030204" charset="0"/>
                <a:sym typeface="+mn-ea"/>
              </a:rPr>
              <a:t>SpreedSheet</a:t>
            </a:r>
            <a:r>
              <a:rPr kumimoji="1" lang="en-US" altLang="zh-CN" sz="2400" dirty="0">
                <a:latin typeface="Calibri" panose="020F0502020204030204" charset="0"/>
                <a:cs typeface="Calibri" panose="020F0502020204030204" charset="0"/>
                <a:sym typeface="+mn-ea"/>
              </a:rPr>
              <a:t>, demanding meticulous data preparation (or data prep) to produce the accurate answer.</a:t>
            </a:r>
          </a:p>
        </p:txBody>
      </p:sp>
      <p:sp>
        <p:nvSpPr>
          <p:cNvPr id="7" name="矩形 6">
            <a:extLst>
              <a:ext uri="{FF2B5EF4-FFF2-40B4-BE49-F238E27FC236}">
                <a16:creationId xmlns:a16="http://schemas.microsoft.com/office/drawing/2014/main" id="{A66F3C3E-5419-86E6-6C6A-172CD89AADFD}"/>
              </a:ext>
            </a:extLst>
          </p:cNvPr>
          <p:cNvSpPr/>
          <p:nvPr/>
        </p:nvSpPr>
        <p:spPr>
          <a:xfrm>
            <a:off x="519430" y="4590069"/>
            <a:ext cx="6202004" cy="22384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50195643-5601-72A9-409D-219B5C5A9C92}"/>
              </a:ext>
            </a:extLst>
          </p:cNvPr>
          <p:cNvSpPr txBox="1"/>
          <p:nvPr/>
        </p:nvSpPr>
        <p:spPr>
          <a:xfrm>
            <a:off x="943801" y="4625386"/>
            <a:ext cx="2310553" cy="369332"/>
          </a:xfrm>
          <a:prstGeom prst="rect">
            <a:avLst/>
          </a:prstGeom>
          <a:noFill/>
        </p:spPr>
        <p:txBody>
          <a:bodyPr wrap="square" rtlCol="0">
            <a:spAutoFit/>
          </a:bodyPr>
          <a:lstStyle/>
          <a:p>
            <a:pPr algn="ctr"/>
            <a:r>
              <a:rPr kumimoji="1" lang="en-US" altLang="zh-CN" b="1" dirty="0"/>
              <a:t>Direct Prompting</a:t>
            </a:r>
            <a:endParaRPr kumimoji="1" lang="zh-CN" altLang="en-US" b="1" dirty="0"/>
          </a:p>
        </p:txBody>
      </p:sp>
      <p:sp>
        <p:nvSpPr>
          <p:cNvPr id="11" name="文本框 10">
            <a:extLst>
              <a:ext uri="{FF2B5EF4-FFF2-40B4-BE49-F238E27FC236}">
                <a16:creationId xmlns:a16="http://schemas.microsoft.com/office/drawing/2014/main" id="{7BF48CE3-352F-E608-1A01-90313629FC34}"/>
              </a:ext>
            </a:extLst>
          </p:cNvPr>
          <p:cNvSpPr txBox="1"/>
          <p:nvPr/>
        </p:nvSpPr>
        <p:spPr>
          <a:xfrm>
            <a:off x="552432" y="5006593"/>
            <a:ext cx="3093293" cy="1754326"/>
          </a:xfrm>
          <a:prstGeom prst="rect">
            <a:avLst/>
          </a:prstGeom>
          <a:noFill/>
        </p:spPr>
        <p:txBody>
          <a:bodyPr wrap="square" rtlCol="0">
            <a:spAutoFit/>
          </a:bodyPr>
          <a:lstStyle/>
          <a:p>
            <a:r>
              <a:rPr kumimoji="1" lang="en-US" altLang="zh-CN" dirty="0"/>
              <a:t>To answer the question, we need to first extract the country values. We find that 3 medals were won by </a:t>
            </a:r>
            <a:r>
              <a:rPr kumimoji="1" lang="en-US" altLang="zh-CN" dirty="0" err="1"/>
              <a:t>Alej</a:t>
            </a:r>
            <a:r>
              <a:rPr kumimoji="1" lang="en-US" altLang="zh-CN" dirty="0"/>
              <a:t> from ESP, 2 medals for ITA, and 2 for Italia. Thus, the answer is </a:t>
            </a:r>
            <a:r>
              <a:rPr kumimoji="1" lang="en-US" altLang="zh-CN" dirty="0">
                <a:solidFill>
                  <a:srgbClr val="FF0000"/>
                </a:solidFill>
              </a:rPr>
              <a:t>ESP</a:t>
            </a:r>
            <a:endParaRPr kumimoji="1" lang="zh-CN" altLang="en-US" dirty="0">
              <a:solidFill>
                <a:srgbClr val="FF0000"/>
              </a:solidFill>
            </a:endParaRPr>
          </a:p>
        </p:txBody>
      </p:sp>
      <p:sp>
        <p:nvSpPr>
          <p:cNvPr id="12" name="文本框 11">
            <a:extLst>
              <a:ext uri="{FF2B5EF4-FFF2-40B4-BE49-F238E27FC236}">
                <a16:creationId xmlns:a16="http://schemas.microsoft.com/office/drawing/2014/main" id="{5F3DFB5C-A16C-2183-EFC5-93FB1B7D3736}"/>
              </a:ext>
            </a:extLst>
          </p:cNvPr>
          <p:cNvSpPr txBox="1"/>
          <p:nvPr/>
        </p:nvSpPr>
        <p:spPr>
          <a:xfrm>
            <a:off x="4042270" y="4625386"/>
            <a:ext cx="2310553" cy="369332"/>
          </a:xfrm>
          <a:prstGeom prst="rect">
            <a:avLst/>
          </a:prstGeom>
          <a:noFill/>
        </p:spPr>
        <p:txBody>
          <a:bodyPr wrap="square" rtlCol="0">
            <a:spAutoFit/>
          </a:bodyPr>
          <a:lstStyle/>
          <a:p>
            <a:pPr algn="ctr"/>
            <a:r>
              <a:rPr kumimoji="1" lang="en-US" altLang="zh-CN" b="1" dirty="0"/>
              <a:t>Code Generation</a:t>
            </a:r>
            <a:endParaRPr kumimoji="1" lang="zh-CN" altLang="en-US" b="1" dirty="0"/>
          </a:p>
        </p:txBody>
      </p:sp>
      <p:sp>
        <p:nvSpPr>
          <p:cNvPr id="13" name="文本框 12">
            <a:extLst>
              <a:ext uri="{FF2B5EF4-FFF2-40B4-BE49-F238E27FC236}">
                <a16:creationId xmlns:a16="http://schemas.microsoft.com/office/drawing/2014/main" id="{0EB83A9D-B569-ECCB-3017-731EF05403B9}"/>
              </a:ext>
            </a:extLst>
          </p:cNvPr>
          <p:cNvSpPr txBox="1"/>
          <p:nvPr/>
        </p:nvSpPr>
        <p:spPr>
          <a:xfrm>
            <a:off x="3780540" y="5003446"/>
            <a:ext cx="2834015" cy="1200329"/>
          </a:xfrm>
          <a:prstGeom prst="rect">
            <a:avLst/>
          </a:prstGeom>
          <a:noFill/>
          <a:ln>
            <a:solidFill>
              <a:schemeClr val="tx1"/>
            </a:solidFill>
          </a:ln>
        </p:spPr>
        <p:txBody>
          <a:bodyPr wrap="square" rtlCol="0">
            <a:spAutoFit/>
          </a:bodyPr>
          <a:lstStyle/>
          <a:p>
            <a:r>
              <a:rPr lang="en" altLang="zh-CN" dirty="0">
                <a:effectLst/>
              </a:rPr>
              <a:t>SELECT</a:t>
            </a:r>
            <a:r>
              <a:rPr lang="en" altLang="zh-CN" dirty="0"/>
              <a:t> Country</a:t>
            </a:r>
            <a:r>
              <a:rPr lang="en" altLang="zh-CN" dirty="0">
                <a:effectLst/>
              </a:rPr>
              <a:t>, SUM(M</a:t>
            </a:r>
            <a:r>
              <a:rPr lang="en" altLang="zh-CN" dirty="0"/>
              <a:t>edal</a:t>
            </a:r>
            <a:r>
              <a:rPr lang="en" altLang="zh-CN" dirty="0">
                <a:effectLst/>
              </a:rPr>
              <a:t>)</a:t>
            </a:r>
            <a:r>
              <a:rPr lang="en" altLang="zh-CN" dirty="0"/>
              <a:t> </a:t>
            </a:r>
            <a:r>
              <a:rPr lang="en" altLang="zh-CN" dirty="0">
                <a:effectLst/>
              </a:rPr>
              <a:t>AS</a:t>
            </a:r>
            <a:r>
              <a:rPr lang="en" altLang="zh-CN" dirty="0"/>
              <a:t> Total </a:t>
            </a:r>
            <a:r>
              <a:rPr lang="en" altLang="zh-CN" dirty="0">
                <a:effectLst/>
              </a:rPr>
              <a:t>FROM</a:t>
            </a:r>
            <a:r>
              <a:rPr lang="en" altLang="zh-CN" dirty="0"/>
              <a:t> T </a:t>
            </a:r>
            <a:r>
              <a:rPr lang="en" altLang="zh-CN" dirty="0">
                <a:effectLst/>
              </a:rPr>
              <a:t>GROUP</a:t>
            </a:r>
            <a:r>
              <a:rPr lang="en" altLang="zh-CN" dirty="0"/>
              <a:t> </a:t>
            </a:r>
            <a:r>
              <a:rPr lang="en" altLang="zh-CN" dirty="0">
                <a:effectLst/>
              </a:rPr>
              <a:t>BY</a:t>
            </a:r>
            <a:r>
              <a:rPr lang="en" altLang="zh-CN" dirty="0"/>
              <a:t> </a:t>
            </a:r>
            <a:r>
              <a:rPr lang="en" altLang="zh-CN" dirty="0">
                <a:solidFill>
                  <a:srgbClr val="FF0000"/>
                </a:solidFill>
              </a:rPr>
              <a:t>Country</a:t>
            </a:r>
            <a:r>
              <a:rPr lang="en" altLang="zh-CN" dirty="0"/>
              <a:t> </a:t>
            </a:r>
            <a:r>
              <a:rPr lang="en" altLang="zh-CN" dirty="0">
                <a:effectLst/>
              </a:rPr>
              <a:t>ORDER</a:t>
            </a:r>
            <a:r>
              <a:rPr lang="en" altLang="zh-CN" dirty="0"/>
              <a:t> </a:t>
            </a:r>
            <a:r>
              <a:rPr lang="en" altLang="zh-CN" dirty="0">
                <a:effectLst/>
              </a:rPr>
              <a:t>BY</a:t>
            </a:r>
            <a:r>
              <a:rPr lang="en" altLang="zh-CN" dirty="0"/>
              <a:t> Total </a:t>
            </a:r>
            <a:r>
              <a:rPr lang="en" altLang="zh-CN" dirty="0">
                <a:effectLst/>
              </a:rPr>
              <a:t>DESC</a:t>
            </a:r>
            <a:r>
              <a:rPr lang="en" altLang="zh-CN" dirty="0"/>
              <a:t> </a:t>
            </a:r>
            <a:r>
              <a:rPr lang="en" altLang="zh-CN" dirty="0">
                <a:effectLst/>
              </a:rPr>
              <a:t>LIMIT</a:t>
            </a:r>
            <a:r>
              <a:rPr lang="en" altLang="zh-CN" dirty="0"/>
              <a:t> </a:t>
            </a:r>
            <a:r>
              <a:rPr lang="en" altLang="zh-CN" dirty="0">
                <a:effectLst/>
              </a:rPr>
              <a:t>1;</a:t>
            </a:r>
            <a:endParaRPr kumimoji="1" lang="zh-CN" altLang="en-US" dirty="0"/>
          </a:p>
        </p:txBody>
      </p:sp>
      <p:sp>
        <p:nvSpPr>
          <p:cNvPr id="15" name="文本框 14">
            <a:extLst>
              <a:ext uri="{FF2B5EF4-FFF2-40B4-BE49-F238E27FC236}">
                <a16:creationId xmlns:a16="http://schemas.microsoft.com/office/drawing/2014/main" id="{E5EB8BF7-852F-CDF8-2957-405F1775402C}"/>
              </a:ext>
            </a:extLst>
          </p:cNvPr>
          <p:cNvSpPr txBox="1"/>
          <p:nvPr/>
        </p:nvSpPr>
        <p:spPr>
          <a:xfrm>
            <a:off x="4584202" y="6379068"/>
            <a:ext cx="1226688" cy="369332"/>
          </a:xfrm>
          <a:prstGeom prst="rect">
            <a:avLst/>
          </a:prstGeom>
          <a:noFill/>
          <a:ln>
            <a:solidFill>
              <a:schemeClr val="tx1"/>
            </a:solidFill>
          </a:ln>
        </p:spPr>
        <p:txBody>
          <a:bodyPr wrap="square" rtlCol="0">
            <a:spAutoFit/>
          </a:bodyPr>
          <a:lstStyle/>
          <a:p>
            <a:pPr algn="ctr"/>
            <a:r>
              <a:rPr lang="en" altLang="zh-CN" dirty="0">
                <a:effectLst/>
              </a:rPr>
              <a:t>Execution</a:t>
            </a:r>
            <a:endParaRPr kumimoji="1" lang="zh-CN" altLang="en-US" dirty="0"/>
          </a:p>
        </p:txBody>
      </p:sp>
      <p:cxnSp>
        <p:nvCxnSpPr>
          <p:cNvPr id="17" name="直线箭头连接符 16">
            <a:extLst>
              <a:ext uri="{FF2B5EF4-FFF2-40B4-BE49-F238E27FC236}">
                <a16:creationId xmlns:a16="http://schemas.microsoft.com/office/drawing/2014/main" id="{7286067D-D0FD-7F83-3BD2-9ED54E69C964}"/>
              </a:ext>
            </a:extLst>
          </p:cNvPr>
          <p:cNvCxnSpPr>
            <a:cxnSpLocks/>
            <a:stCxn id="13" idx="2"/>
            <a:endCxn id="15" idx="0"/>
          </p:cNvCxnSpPr>
          <p:nvPr/>
        </p:nvCxnSpPr>
        <p:spPr>
          <a:xfrm flipH="1">
            <a:off x="5197546" y="6203775"/>
            <a:ext cx="2" cy="17529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直线箭头连接符 19">
            <a:extLst>
              <a:ext uri="{FF2B5EF4-FFF2-40B4-BE49-F238E27FC236}">
                <a16:creationId xmlns:a16="http://schemas.microsoft.com/office/drawing/2014/main" id="{55CA502C-8E1D-61B5-5198-AAAF83E78706}"/>
              </a:ext>
            </a:extLst>
          </p:cNvPr>
          <p:cNvCxnSpPr>
            <a:stCxn id="5" idx="2"/>
            <a:endCxn id="7" idx="0"/>
          </p:cNvCxnSpPr>
          <p:nvPr/>
        </p:nvCxnSpPr>
        <p:spPr>
          <a:xfrm flipH="1">
            <a:off x="3620432" y="4178060"/>
            <a:ext cx="298180" cy="412009"/>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1" name="矩形 20">
            <a:extLst>
              <a:ext uri="{FF2B5EF4-FFF2-40B4-BE49-F238E27FC236}">
                <a16:creationId xmlns:a16="http://schemas.microsoft.com/office/drawing/2014/main" id="{390D2EBE-FCA9-A0DA-836A-EBCE7BA7641D}"/>
              </a:ext>
            </a:extLst>
          </p:cNvPr>
          <p:cNvSpPr/>
          <p:nvPr/>
        </p:nvSpPr>
        <p:spPr>
          <a:xfrm>
            <a:off x="7019138" y="4590068"/>
            <a:ext cx="3587902" cy="2238447"/>
          </a:xfrm>
          <a:prstGeom prst="rect">
            <a:avLst/>
          </a:prstGeom>
          <a:noFill/>
          <a:ln w="19050" cap="flat" cmpd="sng" algn="ctr">
            <a:solidFill>
              <a:srgbClr val="0070C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3CE698AC-8209-D305-A98C-6394374631BF}"/>
              </a:ext>
            </a:extLst>
          </p:cNvPr>
          <p:cNvSpPr txBox="1"/>
          <p:nvPr/>
        </p:nvSpPr>
        <p:spPr>
          <a:xfrm>
            <a:off x="7671991" y="4634114"/>
            <a:ext cx="2310553" cy="369332"/>
          </a:xfrm>
          <a:prstGeom prst="rect">
            <a:avLst/>
          </a:prstGeom>
          <a:noFill/>
        </p:spPr>
        <p:txBody>
          <a:bodyPr wrap="square" rtlCol="0">
            <a:spAutoFit/>
          </a:bodyPr>
          <a:lstStyle/>
          <a:p>
            <a:pPr algn="ctr"/>
            <a:r>
              <a:rPr kumimoji="1" lang="en-US" altLang="zh-CN" b="1" dirty="0"/>
              <a:t>TQA with Data Prep</a:t>
            </a:r>
            <a:endParaRPr kumimoji="1" lang="zh-CN" altLang="en-US" b="1" dirty="0"/>
          </a:p>
        </p:txBody>
      </p:sp>
      <p:cxnSp>
        <p:nvCxnSpPr>
          <p:cNvPr id="23" name="直线箭头连接符 22">
            <a:extLst>
              <a:ext uri="{FF2B5EF4-FFF2-40B4-BE49-F238E27FC236}">
                <a16:creationId xmlns:a16="http://schemas.microsoft.com/office/drawing/2014/main" id="{E2543984-964D-CBF2-2CBA-BD06078BF6CC}"/>
              </a:ext>
            </a:extLst>
          </p:cNvPr>
          <p:cNvCxnSpPr>
            <a:cxnSpLocks/>
            <a:stCxn id="5" idx="2"/>
            <a:endCxn id="21" idx="0"/>
          </p:cNvCxnSpPr>
          <p:nvPr/>
        </p:nvCxnSpPr>
        <p:spPr>
          <a:xfrm>
            <a:off x="3918612" y="4178060"/>
            <a:ext cx="4894477" cy="412008"/>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6" name="文本框 25">
            <a:extLst>
              <a:ext uri="{FF2B5EF4-FFF2-40B4-BE49-F238E27FC236}">
                <a16:creationId xmlns:a16="http://schemas.microsoft.com/office/drawing/2014/main" id="{5C03C912-B083-A48F-55ED-595B3476CD44}"/>
              </a:ext>
            </a:extLst>
          </p:cNvPr>
          <p:cNvSpPr txBox="1"/>
          <p:nvPr/>
        </p:nvSpPr>
        <p:spPr>
          <a:xfrm>
            <a:off x="7089274" y="5259299"/>
            <a:ext cx="1165433" cy="369332"/>
          </a:xfrm>
          <a:prstGeom prst="rect">
            <a:avLst/>
          </a:prstGeom>
          <a:noFill/>
          <a:ln>
            <a:solidFill>
              <a:schemeClr val="tx1"/>
            </a:solidFill>
          </a:ln>
        </p:spPr>
        <p:txBody>
          <a:bodyPr wrap="square" rtlCol="0">
            <a:spAutoFit/>
          </a:bodyPr>
          <a:lstStyle/>
          <a:p>
            <a:pPr algn="ctr"/>
            <a:r>
              <a:rPr lang="en" altLang="zh-CN" dirty="0">
                <a:effectLst/>
              </a:rPr>
              <a:t>Data Prep</a:t>
            </a:r>
            <a:endParaRPr kumimoji="1" lang="zh-CN" altLang="en-US" dirty="0"/>
          </a:p>
        </p:txBody>
      </p:sp>
      <p:sp>
        <p:nvSpPr>
          <p:cNvPr id="27" name="文本框 26">
            <a:extLst>
              <a:ext uri="{FF2B5EF4-FFF2-40B4-BE49-F238E27FC236}">
                <a16:creationId xmlns:a16="http://schemas.microsoft.com/office/drawing/2014/main" id="{0C388A59-535C-EEF5-FC8A-D81404404D1D}"/>
              </a:ext>
            </a:extLst>
          </p:cNvPr>
          <p:cNvSpPr txBox="1"/>
          <p:nvPr/>
        </p:nvSpPr>
        <p:spPr>
          <a:xfrm>
            <a:off x="8665153" y="5103492"/>
            <a:ext cx="743063" cy="184666"/>
          </a:xfrm>
          <a:prstGeom prst="rect">
            <a:avLst/>
          </a:prstGeom>
          <a:solidFill>
            <a:srgbClr val="F5CCCE"/>
          </a:solidFill>
          <a:ln>
            <a:solidFill>
              <a:schemeClr val="tx1"/>
            </a:solidFill>
          </a:ln>
        </p:spPr>
        <p:txBody>
          <a:bodyPr wrap="square" lIns="0" tIns="0" rIns="0" bIns="0" rtlCol="0">
            <a:spAutoFit/>
          </a:bodyPr>
          <a:lstStyle/>
          <a:p>
            <a:pPr algn="ctr"/>
            <a:r>
              <a:rPr lang="en" altLang="zh-CN" sz="1200" dirty="0">
                <a:effectLst/>
              </a:rPr>
              <a:t>Cyclist</a:t>
            </a:r>
            <a:endParaRPr kumimoji="1" lang="zh-CN" altLang="en-US" sz="1200" dirty="0"/>
          </a:p>
        </p:txBody>
      </p:sp>
      <p:sp>
        <p:nvSpPr>
          <p:cNvPr id="28" name="文本框 27">
            <a:extLst>
              <a:ext uri="{FF2B5EF4-FFF2-40B4-BE49-F238E27FC236}">
                <a16:creationId xmlns:a16="http://schemas.microsoft.com/office/drawing/2014/main" id="{2F74C0AC-C2DC-AF65-C7E8-7D7FFC77AFA6}"/>
              </a:ext>
            </a:extLst>
          </p:cNvPr>
          <p:cNvSpPr txBox="1"/>
          <p:nvPr/>
        </p:nvSpPr>
        <p:spPr>
          <a:xfrm>
            <a:off x="8665153" y="5283494"/>
            <a:ext cx="743063" cy="184666"/>
          </a:xfrm>
          <a:prstGeom prst="rect">
            <a:avLst/>
          </a:prstGeom>
          <a:noFill/>
          <a:ln>
            <a:solidFill>
              <a:schemeClr val="tx1"/>
            </a:solidFill>
          </a:ln>
        </p:spPr>
        <p:txBody>
          <a:bodyPr wrap="square" lIns="0" tIns="0" rIns="0" bIns="0" rtlCol="0">
            <a:spAutoFit/>
          </a:bodyPr>
          <a:lstStyle/>
          <a:p>
            <a:pPr algn="ctr"/>
            <a:r>
              <a:rPr lang="en" altLang="zh-CN" sz="1200" dirty="0" err="1">
                <a:effectLst/>
              </a:rPr>
              <a:t>Alej</a:t>
            </a:r>
            <a:r>
              <a:rPr lang="en" altLang="zh-CN" sz="1200" dirty="0">
                <a:effectLst/>
              </a:rPr>
              <a:t>(ESP)</a:t>
            </a:r>
            <a:endParaRPr kumimoji="1" lang="zh-CN" altLang="en-US" sz="1200" dirty="0"/>
          </a:p>
        </p:txBody>
      </p:sp>
      <p:sp>
        <p:nvSpPr>
          <p:cNvPr id="29" name="文本框 28">
            <a:extLst>
              <a:ext uri="{FF2B5EF4-FFF2-40B4-BE49-F238E27FC236}">
                <a16:creationId xmlns:a16="http://schemas.microsoft.com/office/drawing/2014/main" id="{9AAD4B7A-1323-441A-CE89-80A9C0FC4495}"/>
              </a:ext>
            </a:extLst>
          </p:cNvPr>
          <p:cNvSpPr txBox="1"/>
          <p:nvPr/>
        </p:nvSpPr>
        <p:spPr>
          <a:xfrm>
            <a:off x="8665153" y="5465355"/>
            <a:ext cx="743063" cy="184666"/>
          </a:xfrm>
          <a:prstGeom prst="rect">
            <a:avLst/>
          </a:prstGeom>
          <a:noFill/>
          <a:ln>
            <a:solidFill>
              <a:schemeClr val="tx1"/>
            </a:solidFill>
          </a:ln>
        </p:spPr>
        <p:txBody>
          <a:bodyPr wrap="square" lIns="0" tIns="0" rIns="0" bIns="0" rtlCol="0">
            <a:spAutoFit/>
          </a:bodyPr>
          <a:lstStyle/>
          <a:p>
            <a:pPr algn="ctr"/>
            <a:r>
              <a:rPr lang="en" altLang="zh-CN" sz="1200" dirty="0" err="1">
                <a:effectLst/>
              </a:rPr>
              <a:t>Dav</a:t>
            </a:r>
            <a:r>
              <a:rPr lang="en" altLang="zh-CN" sz="1200" dirty="0">
                <a:effectLst/>
              </a:rPr>
              <a:t>. ITA</a:t>
            </a:r>
            <a:endParaRPr kumimoji="1" lang="zh-CN" altLang="en-US" sz="1200" dirty="0"/>
          </a:p>
        </p:txBody>
      </p:sp>
      <p:sp>
        <p:nvSpPr>
          <p:cNvPr id="30" name="文本框 29">
            <a:extLst>
              <a:ext uri="{FF2B5EF4-FFF2-40B4-BE49-F238E27FC236}">
                <a16:creationId xmlns:a16="http://schemas.microsoft.com/office/drawing/2014/main" id="{196E7734-F8A5-A314-D83A-4D26CF758F7E}"/>
              </a:ext>
            </a:extLst>
          </p:cNvPr>
          <p:cNvSpPr txBox="1"/>
          <p:nvPr/>
        </p:nvSpPr>
        <p:spPr>
          <a:xfrm>
            <a:off x="8665153" y="5653824"/>
            <a:ext cx="743063" cy="184666"/>
          </a:xfrm>
          <a:prstGeom prst="rect">
            <a:avLst/>
          </a:prstGeom>
          <a:noFill/>
          <a:ln>
            <a:solidFill>
              <a:schemeClr val="tx1"/>
            </a:solidFill>
          </a:ln>
        </p:spPr>
        <p:txBody>
          <a:bodyPr wrap="square" lIns="0" tIns="0" rIns="0" bIns="0" rtlCol="0">
            <a:spAutoFit/>
          </a:bodyPr>
          <a:lstStyle/>
          <a:p>
            <a:pPr algn="ctr"/>
            <a:r>
              <a:rPr lang="en" altLang="zh-CN" sz="1200" dirty="0">
                <a:effectLst/>
              </a:rPr>
              <a:t>Alex(Italia)</a:t>
            </a:r>
            <a:endParaRPr kumimoji="1" lang="zh-CN" altLang="en-US" sz="1200" dirty="0"/>
          </a:p>
        </p:txBody>
      </p:sp>
      <p:sp>
        <p:nvSpPr>
          <p:cNvPr id="31" name="文本框 30">
            <a:extLst>
              <a:ext uri="{FF2B5EF4-FFF2-40B4-BE49-F238E27FC236}">
                <a16:creationId xmlns:a16="http://schemas.microsoft.com/office/drawing/2014/main" id="{2A50BCFD-18EA-5FC6-F87D-A9B37CF632ED}"/>
              </a:ext>
            </a:extLst>
          </p:cNvPr>
          <p:cNvSpPr txBox="1"/>
          <p:nvPr/>
        </p:nvSpPr>
        <p:spPr>
          <a:xfrm>
            <a:off x="9408216" y="5100406"/>
            <a:ext cx="495950" cy="184666"/>
          </a:xfrm>
          <a:prstGeom prst="rect">
            <a:avLst/>
          </a:prstGeom>
          <a:solidFill>
            <a:srgbClr val="F5CCCE"/>
          </a:solidFill>
          <a:ln>
            <a:solidFill>
              <a:schemeClr val="tx1"/>
            </a:solidFill>
          </a:ln>
        </p:spPr>
        <p:txBody>
          <a:bodyPr wrap="square" lIns="0" tIns="0" rIns="0" bIns="0" rtlCol="0">
            <a:spAutoFit/>
          </a:bodyPr>
          <a:lstStyle/>
          <a:p>
            <a:pPr algn="ctr"/>
            <a:r>
              <a:rPr lang="en" altLang="zh-CN" sz="1200" dirty="0">
                <a:effectLst/>
              </a:rPr>
              <a:t>Medal</a:t>
            </a:r>
            <a:endParaRPr kumimoji="1" lang="zh-CN" altLang="en-US" sz="1200" dirty="0"/>
          </a:p>
        </p:txBody>
      </p:sp>
      <p:sp>
        <p:nvSpPr>
          <p:cNvPr id="32" name="文本框 31">
            <a:extLst>
              <a:ext uri="{FF2B5EF4-FFF2-40B4-BE49-F238E27FC236}">
                <a16:creationId xmlns:a16="http://schemas.microsoft.com/office/drawing/2014/main" id="{15918420-2A4F-7CDB-F165-F3DF43C0C27B}"/>
              </a:ext>
            </a:extLst>
          </p:cNvPr>
          <p:cNvSpPr txBox="1"/>
          <p:nvPr/>
        </p:nvSpPr>
        <p:spPr>
          <a:xfrm>
            <a:off x="9408216" y="5280408"/>
            <a:ext cx="495950" cy="184666"/>
          </a:xfrm>
          <a:prstGeom prst="rect">
            <a:avLst/>
          </a:prstGeom>
          <a:noFill/>
          <a:ln>
            <a:solidFill>
              <a:schemeClr val="tx1"/>
            </a:solidFill>
          </a:ln>
        </p:spPr>
        <p:txBody>
          <a:bodyPr wrap="square" lIns="0" tIns="0" rIns="0" bIns="0" rtlCol="0">
            <a:spAutoFit/>
          </a:bodyPr>
          <a:lstStyle/>
          <a:p>
            <a:pPr algn="ctr"/>
            <a:r>
              <a:rPr lang="en" altLang="zh-CN" sz="1200" dirty="0">
                <a:effectLst/>
              </a:rPr>
              <a:t>3</a:t>
            </a:r>
            <a:endParaRPr kumimoji="1" lang="zh-CN" altLang="en-US" sz="1200" dirty="0"/>
          </a:p>
        </p:txBody>
      </p:sp>
      <p:sp>
        <p:nvSpPr>
          <p:cNvPr id="33" name="文本框 32">
            <a:extLst>
              <a:ext uri="{FF2B5EF4-FFF2-40B4-BE49-F238E27FC236}">
                <a16:creationId xmlns:a16="http://schemas.microsoft.com/office/drawing/2014/main" id="{CBF1FC8D-BEF7-7D8A-5DD0-9CF87A8BF94D}"/>
              </a:ext>
            </a:extLst>
          </p:cNvPr>
          <p:cNvSpPr txBox="1"/>
          <p:nvPr/>
        </p:nvSpPr>
        <p:spPr>
          <a:xfrm>
            <a:off x="9408216" y="5462269"/>
            <a:ext cx="495950" cy="184666"/>
          </a:xfrm>
          <a:prstGeom prst="rect">
            <a:avLst/>
          </a:prstGeom>
          <a:noFill/>
          <a:ln>
            <a:solidFill>
              <a:schemeClr val="tx1"/>
            </a:solidFill>
          </a:ln>
        </p:spPr>
        <p:txBody>
          <a:bodyPr wrap="square" lIns="0" tIns="0" rIns="0" bIns="0" rtlCol="0">
            <a:spAutoFit/>
          </a:bodyPr>
          <a:lstStyle/>
          <a:p>
            <a:pPr algn="ctr"/>
            <a:r>
              <a:rPr lang="en" altLang="zh-CN" sz="1200" dirty="0">
                <a:effectLst/>
              </a:rPr>
              <a:t>2</a:t>
            </a:r>
            <a:endParaRPr kumimoji="1" lang="zh-CN" altLang="en-US" sz="1200" dirty="0"/>
          </a:p>
        </p:txBody>
      </p:sp>
      <p:sp>
        <p:nvSpPr>
          <p:cNvPr id="34" name="文本框 33">
            <a:extLst>
              <a:ext uri="{FF2B5EF4-FFF2-40B4-BE49-F238E27FC236}">
                <a16:creationId xmlns:a16="http://schemas.microsoft.com/office/drawing/2014/main" id="{3725B68D-136B-75A3-89BF-37E049E30EF6}"/>
              </a:ext>
            </a:extLst>
          </p:cNvPr>
          <p:cNvSpPr txBox="1"/>
          <p:nvPr/>
        </p:nvSpPr>
        <p:spPr>
          <a:xfrm>
            <a:off x="9408216" y="5650738"/>
            <a:ext cx="495950" cy="184666"/>
          </a:xfrm>
          <a:prstGeom prst="rect">
            <a:avLst/>
          </a:prstGeom>
          <a:noFill/>
          <a:ln>
            <a:solidFill>
              <a:schemeClr val="tx1"/>
            </a:solidFill>
          </a:ln>
        </p:spPr>
        <p:txBody>
          <a:bodyPr wrap="square" lIns="0" tIns="0" rIns="0" bIns="0" rtlCol="0">
            <a:spAutoFit/>
          </a:bodyPr>
          <a:lstStyle/>
          <a:p>
            <a:pPr algn="ctr"/>
            <a:r>
              <a:rPr lang="en" altLang="zh-CN" sz="1200" dirty="0">
                <a:effectLst/>
              </a:rPr>
              <a:t>2</a:t>
            </a:r>
            <a:endParaRPr kumimoji="1" lang="zh-CN" altLang="en-US" sz="1200" dirty="0"/>
          </a:p>
        </p:txBody>
      </p:sp>
      <p:sp>
        <p:nvSpPr>
          <p:cNvPr id="35" name="文本框 34">
            <a:extLst>
              <a:ext uri="{FF2B5EF4-FFF2-40B4-BE49-F238E27FC236}">
                <a16:creationId xmlns:a16="http://schemas.microsoft.com/office/drawing/2014/main" id="{51370C28-5D54-68C7-C9C9-AC2FB9078379}"/>
              </a:ext>
            </a:extLst>
          </p:cNvPr>
          <p:cNvSpPr txBox="1"/>
          <p:nvPr/>
        </p:nvSpPr>
        <p:spPr>
          <a:xfrm>
            <a:off x="9906553" y="5099054"/>
            <a:ext cx="539667" cy="184666"/>
          </a:xfrm>
          <a:prstGeom prst="rect">
            <a:avLst/>
          </a:prstGeom>
          <a:solidFill>
            <a:srgbClr val="F5CCCE"/>
          </a:solidFill>
          <a:ln>
            <a:solidFill>
              <a:schemeClr val="tx1"/>
            </a:solidFill>
          </a:ln>
        </p:spPr>
        <p:txBody>
          <a:bodyPr wrap="square" lIns="0" tIns="0" rIns="0" bIns="0" rtlCol="0">
            <a:spAutoFit/>
          </a:bodyPr>
          <a:lstStyle/>
          <a:p>
            <a:pPr algn="ctr"/>
            <a:r>
              <a:rPr lang="en" altLang="zh-CN" sz="1200" b="1" dirty="0">
                <a:solidFill>
                  <a:srgbClr val="0070C0"/>
                </a:solidFill>
                <a:effectLst/>
              </a:rPr>
              <a:t>Country</a:t>
            </a:r>
            <a:endParaRPr kumimoji="1" lang="zh-CN" altLang="en-US" sz="1200" b="1" dirty="0">
              <a:solidFill>
                <a:srgbClr val="0070C0"/>
              </a:solidFill>
            </a:endParaRPr>
          </a:p>
        </p:txBody>
      </p:sp>
      <p:sp>
        <p:nvSpPr>
          <p:cNvPr id="36" name="文本框 35">
            <a:extLst>
              <a:ext uri="{FF2B5EF4-FFF2-40B4-BE49-F238E27FC236}">
                <a16:creationId xmlns:a16="http://schemas.microsoft.com/office/drawing/2014/main" id="{4E30B150-4EC4-7CA5-76E1-1769B045CF67}"/>
              </a:ext>
            </a:extLst>
          </p:cNvPr>
          <p:cNvSpPr txBox="1"/>
          <p:nvPr/>
        </p:nvSpPr>
        <p:spPr>
          <a:xfrm>
            <a:off x="9906553" y="5279056"/>
            <a:ext cx="539667" cy="184666"/>
          </a:xfrm>
          <a:prstGeom prst="rect">
            <a:avLst/>
          </a:prstGeom>
          <a:noFill/>
          <a:ln>
            <a:solidFill>
              <a:schemeClr val="tx1"/>
            </a:solidFill>
          </a:ln>
        </p:spPr>
        <p:txBody>
          <a:bodyPr wrap="square" lIns="0" tIns="0" rIns="0" bIns="0" rtlCol="0">
            <a:spAutoFit/>
          </a:bodyPr>
          <a:lstStyle/>
          <a:p>
            <a:pPr algn="ctr"/>
            <a:r>
              <a:rPr lang="en" altLang="zh-CN" sz="1200" b="1" dirty="0">
                <a:solidFill>
                  <a:srgbClr val="0070C0"/>
                </a:solidFill>
                <a:effectLst/>
              </a:rPr>
              <a:t>ESP</a:t>
            </a:r>
            <a:endParaRPr kumimoji="1" lang="zh-CN" altLang="en-US" sz="1200" b="1" dirty="0">
              <a:solidFill>
                <a:srgbClr val="0070C0"/>
              </a:solidFill>
            </a:endParaRPr>
          </a:p>
        </p:txBody>
      </p:sp>
      <p:sp>
        <p:nvSpPr>
          <p:cNvPr id="37" name="文本框 36">
            <a:extLst>
              <a:ext uri="{FF2B5EF4-FFF2-40B4-BE49-F238E27FC236}">
                <a16:creationId xmlns:a16="http://schemas.microsoft.com/office/drawing/2014/main" id="{4FD5071F-8DE2-AC26-AD88-1B0CB0F1234F}"/>
              </a:ext>
            </a:extLst>
          </p:cNvPr>
          <p:cNvSpPr txBox="1"/>
          <p:nvPr/>
        </p:nvSpPr>
        <p:spPr>
          <a:xfrm>
            <a:off x="9906553" y="5460917"/>
            <a:ext cx="539667" cy="184666"/>
          </a:xfrm>
          <a:prstGeom prst="rect">
            <a:avLst/>
          </a:prstGeom>
          <a:noFill/>
          <a:ln>
            <a:solidFill>
              <a:schemeClr val="tx1"/>
            </a:solidFill>
          </a:ln>
        </p:spPr>
        <p:txBody>
          <a:bodyPr wrap="square" lIns="0" tIns="0" rIns="0" bIns="0" rtlCol="0">
            <a:spAutoFit/>
          </a:bodyPr>
          <a:lstStyle/>
          <a:p>
            <a:pPr algn="ctr"/>
            <a:r>
              <a:rPr kumimoji="1" lang="en" altLang="zh-CN" sz="1200" b="1" dirty="0">
                <a:solidFill>
                  <a:srgbClr val="0070C0"/>
                </a:solidFill>
              </a:rPr>
              <a:t>ITA</a:t>
            </a:r>
            <a:endParaRPr kumimoji="1" lang="zh-CN" altLang="en-US" sz="1200" b="1" dirty="0">
              <a:solidFill>
                <a:srgbClr val="0070C0"/>
              </a:solidFill>
            </a:endParaRPr>
          </a:p>
        </p:txBody>
      </p:sp>
      <p:sp>
        <p:nvSpPr>
          <p:cNvPr id="38" name="文本框 37">
            <a:extLst>
              <a:ext uri="{FF2B5EF4-FFF2-40B4-BE49-F238E27FC236}">
                <a16:creationId xmlns:a16="http://schemas.microsoft.com/office/drawing/2014/main" id="{675924B6-8553-E6A4-DAE6-A90E087D3EED}"/>
              </a:ext>
            </a:extLst>
          </p:cNvPr>
          <p:cNvSpPr txBox="1"/>
          <p:nvPr/>
        </p:nvSpPr>
        <p:spPr>
          <a:xfrm>
            <a:off x="9906553" y="5649386"/>
            <a:ext cx="539667" cy="184666"/>
          </a:xfrm>
          <a:prstGeom prst="rect">
            <a:avLst/>
          </a:prstGeom>
          <a:noFill/>
          <a:ln>
            <a:solidFill>
              <a:schemeClr val="tx1"/>
            </a:solidFill>
          </a:ln>
        </p:spPr>
        <p:txBody>
          <a:bodyPr wrap="square" lIns="0" tIns="0" rIns="0" bIns="0" rtlCol="0">
            <a:spAutoFit/>
          </a:bodyPr>
          <a:lstStyle/>
          <a:p>
            <a:pPr algn="ctr"/>
            <a:r>
              <a:rPr kumimoji="1" lang="en" altLang="zh-CN" sz="1200" b="1" dirty="0">
                <a:solidFill>
                  <a:srgbClr val="0070C0"/>
                </a:solidFill>
              </a:rPr>
              <a:t>ITA</a:t>
            </a:r>
            <a:endParaRPr kumimoji="1" lang="zh-CN" altLang="en-US" sz="1200" b="1" dirty="0">
              <a:solidFill>
                <a:srgbClr val="0070C0"/>
              </a:solidFill>
            </a:endParaRPr>
          </a:p>
        </p:txBody>
      </p:sp>
      <p:cxnSp>
        <p:nvCxnSpPr>
          <p:cNvPr id="43" name="直线箭头连接符 42">
            <a:extLst>
              <a:ext uri="{FF2B5EF4-FFF2-40B4-BE49-F238E27FC236}">
                <a16:creationId xmlns:a16="http://schemas.microsoft.com/office/drawing/2014/main" id="{89DB5AFC-F481-C1A1-70A3-533CCC7DA710}"/>
              </a:ext>
            </a:extLst>
          </p:cNvPr>
          <p:cNvCxnSpPr>
            <a:cxnSpLocks/>
          </p:cNvCxnSpPr>
          <p:nvPr/>
        </p:nvCxnSpPr>
        <p:spPr>
          <a:xfrm>
            <a:off x="8264332" y="5443965"/>
            <a:ext cx="3830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7" name="文本框 46">
            <a:extLst>
              <a:ext uri="{FF2B5EF4-FFF2-40B4-BE49-F238E27FC236}">
                <a16:creationId xmlns:a16="http://schemas.microsoft.com/office/drawing/2014/main" id="{76425041-0177-064A-2D22-D32111701EA5}"/>
              </a:ext>
            </a:extLst>
          </p:cNvPr>
          <p:cNvSpPr txBox="1"/>
          <p:nvPr/>
        </p:nvSpPr>
        <p:spPr>
          <a:xfrm>
            <a:off x="7089274" y="6087754"/>
            <a:ext cx="1973514" cy="646331"/>
          </a:xfrm>
          <a:prstGeom prst="rect">
            <a:avLst/>
          </a:prstGeom>
          <a:noFill/>
          <a:ln>
            <a:solidFill>
              <a:schemeClr val="tx1"/>
            </a:solidFill>
          </a:ln>
        </p:spPr>
        <p:txBody>
          <a:bodyPr wrap="square" rtlCol="0">
            <a:spAutoFit/>
          </a:bodyPr>
          <a:lstStyle/>
          <a:p>
            <a:pPr algn="ctr"/>
            <a:r>
              <a:rPr lang="en" altLang="zh-CN" dirty="0">
                <a:effectLst/>
              </a:rPr>
              <a:t>Direct Prompting / Code Generation</a:t>
            </a:r>
            <a:endParaRPr kumimoji="1" lang="zh-CN" altLang="en-US" dirty="0"/>
          </a:p>
        </p:txBody>
      </p:sp>
      <p:sp>
        <p:nvSpPr>
          <p:cNvPr id="48" name="文本框 47">
            <a:extLst>
              <a:ext uri="{FF2B5EF4-FFF2-40B4-BE49-F238E27FC236}">
                <a16:creationId xmlns:a16="http://schemas.microsoft.com/office/drawing/2014/main" id="{D28E82FB-F299-27DE-EEFB-63ECB7261179}"/>
              </a:ext>
            </a:extLst>
          </p:cNvPr>
          <p:cNvSpPr txBox="1"/>
          <p:nvPr/>
        </p:nvSpPr>
        <p:spPr>
          <a:xfrm>
            <a:off x="9467371" y="6092792"/>
            <a:ext cx="1035116" cy="646331"/>
          </a:xfrm>
          <a:prstGeom prst="rect">
            <a:avLst/>
          </a:prstGeom>
          <a:noFill/>
        </p:spPr>
        <p:txBody>
          <a:bodyPr wrap="square" rtlCol="0">
            <a:spAutoFit/>
          </a:bodyPr>
          <a:lstStyle/>
          <a:p>
            <a:pPr algn="ctr"/>
            <a:r>
              <a:rPr kumimoji="1" lang="en-US" altLang="zh-CN" b="1" dirty="0"/>
              <a:t>Answer</a:t>
            </a:r>
            <a:r>
              <a:rPr kumimoji="1" lang="en-US" altLang="zh-CN" dirty="0"/>
              <a:t>: ITA</a:t>
            </a:r>
            <a:endParaRPr kumimoji="1" lang="zh-CN" altLang="en-US" dirty="0">
              <a:solidFill>
                <a:srgbClr val="FF0000"/>
              </a:solidFill>
            </a:endParaRPr>
          </a:p>
        </p:txBody>
      </p:sp>
      <p:cxnSp>
        <p:nvCxnSpPr>
          <p:cNvPr id="49" name="直线箭头连接符 48">
            <a:extLst>
              <a:ext uri="{FF2B5EF4-FFF2-40B4-BE49-F238E27FC236}">
                <a16:creationId xmlns:a16="http://schemas.microsoft.com/office/drawing/2014/main" id="{5C108055-E482-63AC-BD36-6C8A2B85989A}"/>
              </a:ext>
            </a:extLst>
          </p:cNvPr>
          <p:cNvCxnSpPr>
            <a:cxnSpLocks/>
          </p:cNvCxnSpPr>
          <p:nvPr/>
        </p:nvCxnSpPr>
        <p:spPr>
          <a:xfrm>
            <a:off x="9132445" y="6433763"/>
            <a:ext cx="38305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0" name="直线箭头连接符 49">
            <a:extLst>
              <a:ext uri="{FF2B5EF4-FFF2-40B4-BE49-F238E27FC236}">
                <a16:creationId xmlns:a16="http://schemas.microsoft.com/office/drawing/2014/main" id="{A317CBE7-D8EE-E05D-9F86-47051D8597DA}"/>
              </a:ext>
            </a:extLst>
          </p:cNvPr>
          <p:cNvCxnSpPr>
            <a:cxnSpLocks/>
            <a:stCxn id="34" idx="2"/>
            <a:endCxn id="47" idx="0"/>
          </p:cNvCxnSpPr>
          <p:nvPr/>
        </p:nvCxnSpPr>
        <p:spPr>
          <a:xfrm rot="5400000">
            <a:off x="8739936" y="5171499"/>
            <a:ext cx="252350" cy="158016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29698798"/>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lstStyle/>
          <a:p>
            <a:r>
              <a:rPr kumimoji="1" lang="en-US" altLang="zh-CN" sz="4400" dirty="0">
                <a:sym typeface="+mn-ea"/>
              </a:rPr>
              <a:t>Data Prep Issues in TQA method</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4</a:t>
            </a:fld>
            <a:endParaRPr kumimoji="1" lang="zh-CN" altLang="en-US">
              <a:solidFill>
                <a:prstClr val="black">
                  <a:tint val="75000"/>
                </a:prstClr>
              </a:solidFill>
            </a:endParaRPr>
          </a:p>
        </p:txBody>
      </p:sp>
      <p:sp>
        <p:nvSpPr>
          <p:cNvPr id="14" name="矩形 13">
            <a:extLst>
              <a:ext uri="{FF2B5EF4-FFF2-40B4-BE49-F238E27FC236}">
                <a16:creationId xmlns:a16="http://schemas.microsoft.com/office/drawing/2014/main" id="{744B78EA-C679-B1AB-5AB9-B442A7B62FD8}"/>
              </a:ext>
            </a:extLst>
          </p:cNvPr>
          <p:cNvSpPr/>
          <p:nvPr/>
        </p:nvSpPr>
        <p:spPr>
          <a:xfrm>
            <a:off x="931411" y="3085471"/>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Missing Semantics</a:t>
            </a:r>
            <a:endParaRPr kumimoji="1" lang="zh-CN" altLang="en-US" dirty="0">
              <a:solidFill>
                <a:schemeClr val="bg1"/>
              </a:solidFill>
            </a:endParaRPr>
          </a:p>
        </p:txBody>
      </p:sp>
      <p:pic>
        <p:nvPicPr>
          <p:cNvPr id="6" name="图片 5">
            <a:extLst>
              <a:ext uri="{FF2B5EF4-FFF2-40B4-BE49-F238E27FC236}">
                <a16:creationId xmlns:a16="http://schemas.microsoft.com/office/drawing/2014/main" id="{C5982BE3-D751-58B3-EE53-EBA154E43EC7}"/>
              </a:ext>
            </a:extLst>
          </p:cNvPr>
          <p:cNvPicPr>
            <a:picLocks noChangeAspect="1"/>
          </p:cNvPicPr>
          <p:nvPr/>
        </p:nvPicPr>
        <p:blipFill>
          <a:blip r:embed="rId3"/>
          <a:stretch>
            <a:fillRect/>
          </a:stretch>
        </p:blipFill>
        <p:spPr>
          <a:xfrm>
            <a:off x="2730834" y="2739990"/>
            <a:ext cx="7830488" cy="1292086"/>
          </a:xfrm>
          <a:prstGeom prst="rect">
            <a:avLst/>
          </a:prstGeom>
        </p:spPr>
      </p:pic>
      <p:pic>
        <p:nvPicPr>
          <p:cNvPr id="7" name="图片 6">
            <a:extLst>
              <a:ext uri="{FF2B5EF4-FFF2-40B4-BE49-F238E27FC236}">
                <a16:creationId xmlns:a16="http://schemas.microsoft.com/office/drawing/2014/main" id="{21ED9A7D-A4C3-A913-E7C9-47FB243B7E19}"/>
              </a:ext>
            </a:extLst>
          </p:cNvPr>
          <p:cNvPicPr>
            <a:picLocks noChangeAspect="1"/>
          </p:cNvPicPr>
          <p:nvPr/>
        </p:nvPicPr>
        <p:blipFill>
          <a:blip r:embed="rId4"/>
          <a:stretch>
            <a:fillRect/>
          </a:stretch>
        </p:blipFill>
        <p:spPr>
          <a:xfrm>
            <a:off x="2730833" y="4007931"/>
            <a:ext cx="7830488" cy="1362795"/>
          </a:xfrm>
          <a:prstGeom prst="rect">
            <a:avLst/>
          </a:prstGeom>
        </p:spPr>
      </p:pic>
      <p:sp>
        <p:nvSpPr>
          <p:cNvPr id="8" name="矩形 7">
            <a:extLst>
              <a:ext uri="{FF2B5EF4-FFF2-40B4-BE49-F238E27FC236}">
                <a16:creationId xmlns:a16="http://schemas.microsoft.com/office/drawing/2014/main" id="{14F8F92B-DD5A-926F-5B81-439564E6AA94}"/>
              </a:ext>
            </a:extLst>
          </p:cNvPr>
          <p:cNvSpPr/>
          <p:nvPr/>
        </p:nvSpPr>
        <p:spPr>
          <a:xfrm>
            <a:off x="931411" y="4414815"/>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Value Inconsistency</a:t>
            </a:r>
            <a:endParaRPr kumimoji="1" lang="zh-CN" altLang="en-US" dirty="0">
              <a:solidFill>
                <a:schemeClr val="bg1"/>
              </a:solidFill>
            </a:endParaRPr>
          </a:p>
        </p:txBody>
      </p:sp>
      <p:sp>
        <p:nvSpPr>
          <p:cNvPr id="5" name="矩形 4">
            <a:extLst>
              <a:ext uri="{FF2B5EF4-FFF2-40B4-BE49-F238E27FC236}">
                <a16:creationId xmlns:a16="http://schemas.microsoft.com/office/drawing/2014/main" id="{67F21D4B-0EDF-EBA6-E301-4D33372DEA01}"/>
              </a:ext>
            </a:extLst>
          </p:cNvPr>
          <p:cNvSpPr/>
          <p:nvPr/>
        </p:nvSpPr>
        <p:spPr>
          <a:xfrm>
            <a:off x="2944368" y="3081920"/>
            <a:ext cx="438912" cy="170421"/>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FE400EC3-52B0-0CFE-CC02-BE92001D9FF3}"/>
              </a:ext>
            </a:extLst>
          </p:cNvPr>
          <p:cNvSpPr/>
          <p:nvPr/>
        </p:nvSpPr>
        <p:spPr>
          <a:xfrm>
            <a:off x="5375228" y="3215612"/>
            <a:ext cx="1025572" cy="170421"/>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C4A249D8-A018-4ED0-0726-852A346740C8}"/>
              </a:ext>
            </a:extLst>
          </p:cNvPr>
          <p:cNvSpPr/>
          <p:nvPr/>
        </p:nvSpPr>
        <p:spPr>
          <a:xfrm>
            <a:off x="8612204" y="3098288"/>
            <a:ext cx="275764" cy="154054"/>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86DCFE6F-F6F4-E288-8A80-D2B1B98EDC8D}"/>
              </a:ext>
            </a:extLst>
          </p:cNvPr>
          <p:cNvSpPr/>
          <p:nvPr/>
        </p:nvSpPr>
        <p:spPr>
          <a:xfrm>
            <a:off x="2882447" y="4354765"/>
            <a:ext cx="727341"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3B93F9E5-2204-C923-A8B7-C6A4734CDA0F}"/>
              </a:ext>
            </a:extLst>
          </p:cNvPr>
          <p:cNvSpPr/>
          <p:nvPr/>
        </p:nvSpPr>
        <p:spPr>
          <a:xfrm>
            <a:off x="4511035" y="4431168"/>
            <a:ext cx="521153" cy="35649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CB80148C-EA9C-B857-26F0-DAE5D00AE1A2}"/>
              </a:ext>
            </a:extLst>
          </p:cNvPr>
          <p:cNvSpPr/>
          <p:nvPr/>
        </p:nvSpPr>
        <p:spPr>
          <a:xfrm>
            <a:off x="5389991" y="4482927"/>
            <a:ext cx="706010"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F5DF6CA8-3C02-3426-5B5A-917F21E83366}"/>
              </a:ext>
            </a:extLst>
          </p:cNvPr>
          <p:cNvSpPr/>
          <p:nvPr/>
        </p:nvSpPr>
        <p:spPr>
          <a:xfrm>
            <a:off x="7181146" y="4278767"/>
            <a:ext cx="624125" cy="35649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2B9AAFF9-951C-5CA8-7DC6-654CACE2490C}"/>
              </a:ext>
            </a:extLst>
          </p:cNvPr>
          <p:cNvSpPr/>
          <p:nvPr/>
        </p:nvSpPr>
        <p:spPr>
          <a:xfrm>
            <a:off x="9179858" y="4278767"/>
            <a:ext cx="1087717" cy="532306"/>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5663A393-2E99-B8F4-8B2F-091CC2C7A330}"/>
              </a:ext>
            </a:extLst>
          </p:cNvPr>
          <p:cNvSpPr/>
          <p:nvPr/>
        </p:nvSpPr>
        <p:spPr>
          <a:xfrm>
            <a:off x="8471774" y="4243768"/>
            <a:ext cx="546720"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2" name="内容占位符 2">
            <a:extLst>
              <a:ext uri="{FF2B5EF4-FFF2-40B4-BE49-F238E27FC236}">
                <a16:creationId xmlns:a16="http://schemas.microsoft.com/office/drawing/2014/main" id="{9823C500-A074-5412-A971-CFFD6D700FCD}"/>
              </a:ext>
            </a:extLst>
          </p:cNvPr>
          <p:cNvSpPr>
            <a:spLocks noGrp="1"/>
          </p:cNvSpPr>
          <p:nvPr>
            <p:ph idx="1"/>
          </p:nvPr>
        </p:nvSpPr>
        <p:spPr>
          <a:xfrm>
            <a:off x="519430" y="1370330"/>
            <a:ext cx="11355070" cy="1639173"/>
          </a:xfrm>
        </p:spPr>
        <p:txBody>
          <a:bodyPr>
            <a:normAutofit/>
          </a:bodyPr>
          <a:lstStyle/>
          <a:p>
            <a:pPr>
              <a:lnSpc>
                <a:spcPct val="100000"/>
              </a:lnSpc>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However, we find that in TQA, data prep issues are most important</a:t>
            </a:r>
          </a:p>
          <a:p>
            <a:pPr lvl="1">
              <a:buFont typeface="Arial" panose="020B0604020202020204" pitchFamily="34" charset="0"/>
              <a:buChar char="•"/>
            </a:pPr>
            <a:r>
              <a:rPr kumimoji="1" lang="en-US" altLang="zh-CN" sz="2400" dirty="0">
                <a:latin typeface="Calibri" panose="020F0502020204030204" charset="0"/>
                <a:cs typeface="Calibri" panose="020F0502020204030204" charset="0"/>
                <a:sym typeface="+mn-ea"/>
              </a:rPr>
              <a:t>Tables are usually from Web or </a:t>
            </a:r>
            <a:r>
              <a:rPr kumimoji="1" lang="en-US" altLang="zh-CN" sz="2400" dirty="0" err="1">
                <a:latin typeface="Calibri" panose="020F0502020204030204" charset="0"/>
                <a:cs typeface="Calibri" panose="020F0502020204030204" charset="0"/>
                <a:sym typeface="+mn-ea"/>
              </a:rPr>
              <a:t>SpreedSheet</a:t>
            </a:r>
            <a:r>
              <a:rPr kumimoji="1" lang="en-US" altLang="zh-CN" sz="2400" dirty="0">
                <a:latin typeface="Calibri" panose="020F0502020204030204" charset="0"/>
                <a:cs typeface="Calibri" panose="020F0502020204030204" charset="0"/>
                <a:sym typeface="+mn-ea"/>
              </a:rPr>
              <a:t>, demanding meticulous data preparation (or data prep) to produce the accurate answer.</a:t>
            </a:r>
          </a:p>
        </p:txBody>
      </p:sp>
    </p:spTree>
    <p:extLst>
      <p:ext uri="{BB962C8B-B14F-4D97-AF65-F5344CB8AC3E}">
        <p14:creationId xmlns:p14="http://schemas.microsoft.com/office/powerpoint/2010/main" val="2480625014"/>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lstStyle/>
          <a:p>
            <a:r>
              <a:rPr kumimoji="1" lang="en-US" altLang="zh-CN" sz="4400" dirty="0">
                <a:sym typeface="+mn-ea"/>
              </a:rPr>
              <a:t>Data Prep Issues in TQA method</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5</a:t>
            </a:fld>
            <a:endParaRPr kumimoji="1" lang="zh-CN" altLang="en-US">
              <a:solidFill>
                <a:prstClr val="black">
                  <a:tint val="75000"/>
                </a:prstClr>
              </a:solidFill>
            </a:endParaRPr>
          </a:p>
        </p:txBody>
      </p:sp>
      <p:sp>
        <p:nvSpPr>
          <p:cNvPr id="14" name="矩形 13">
            <a:extLst>
              <a:ext uri="{FF2B5EF4-FFF2-40B4-BE49-F238E27FC236}">
                <a16:creationId xmlns:a16="http://schemas.microsoft.com/office/drawing/2014/main" id="{744B78EA-C679-B1AB-5AB9-B442A7B62FD8}"/>
              </a:ext>
            </a:extLst>
          </p:cNvPr>
          <p:cNvSpPr/>
          <p:nvPr/>
        </p:nvSpPr>
        <p:spPr>
          <a:xfrm>
            <a:off x="931411" y="3085471"/>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Missing Semantics</a:t>
            </a:r>
            <a:endParaRPr kumimoji="1" lang="zh-CN" altLang="en-US" dirty="0">
              <a:solidFill>
                <a:schemeClr val="bg1"/>
              </a:solidFill>
            </a:endParaRPr>
          </a:p>
        </p:txBody>
      </p:sp>
      <p:pic>
        <p:nvPicPr>
          <p:cNvPr id="6" name="图片 5">
            <a:extLst>
              <a:ext uri="{FF2B5EF4-FFF2-40B4-BE49-F238E27FC236}">
                <a16:creationId xmlns:a16="http://schemas.microsoft.com/office/drawing/2014/main" id="{C5982BE3-D751-58B3-EE53-EBA154E43EC7}"/>
              </a:ext>
            </a:extLst>
          </p:cNvPr>
          <p:cNvPicPr>
            <a:picLocks noChangeAspect="1"/>
          </p:cNvPicPr>
          <p:nvPr/>
        </p:nvPicPr>
        <p:blipFill>
          <a:blip r:embed="rId3"/>
          <a:stretch>
            <a:fillRect/>
          </a:stretch>
        </p:blipFill>
        <p:spPr>
          <a:xfrm>
            <a:off x="2730834" y="2739990"/>
            <a:ext cx="7830488" cy="1292086"/>
          </a:xfrm>
          <a:prstGeom prst="rect">
            <a:avLst/>
          </a:prstGeom>
        </p:spPr>
      </p:pic>
      <p:pic>
        <p:nvPicPr>
          <p:cNvPr id="7" name="图片 6">
            <a:extLst>
              <a:ext uri="{FF2B5EF4-FFF2-40B4-BE49-F238E27FC236}">
                <a16:creationId xmlns:a16="http://schemas.microsoft.com/office/drawing/2014/main" id="{21ED9A7D-A4C3-A913-E7C9-47FB243B7E19}"/>
              </a:ext>
            </a:extLst>
          </p:cNvPr>
          <p:cNvPicPr>
            <a:picLocks noChangeAspect="1"/>
          </p:cNvPicPr>
          <p:nvPr/>
        </p:nvPicPr>
        <p:blipFill>
          <a:blip r:embed="rId4"/>
          <a:stretch>
            <a:fillRect/>
          </a:stretch>
        </p:blipFill>
        <p:spPr>
          <a:xfrm>
            <a:off x="2730833" y="4007931"/>
            <a:ext cx="7830488" cy="1362795"/>
          </a:xfrm>
          <a:prstGeom prst="rect">
            <a:avLst/>
          </a:prstGeom>
        </p:spPr>
      </p:pic>
      <p:sp>
        <p:nvSpPr>
          <p:cNvPr id="8" name="矩形 7">
            <a:extLst>
              <a:ext uri="{FF2B5EF4-FFF2-40B4-BE49-F238E27FC236}">
                <a16:creationId xmlns:a16="http://schemas.microsoft.com/office/drawing/2014/main" id="{14F8F92B-DD5A-926F-5B81-439564E6AA94}"/>
              </a:ext>
            </a:extLst>
          </p:cNvPr>
          <p:cNvSpPr/>
          <p:nvPr/>
        </p:nvSpPr>
        <p:spPr>
          <a:xfrm>
            <a:off x="931411" y="4414815"/>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Value Inconsistency</a:t>
            </a:r>
            <a:endParaRPr kumimoji="1" lang="zh-CN" altLang="en-US" dirty="0">
              <a:solidFill>
                <a:schemeClr val="bg1"/>
              </a:solidFill>
            </a:endParaRPr>
          </a:p>
        </p:txBody>
      </p:sp>
      <p:pic>
        <p:nvPicPr>
          <p:cNvPr id="17" name="图片 16">
            <a:extLst>
              <a:ext uri="{FF2B5EF4-FFF2-40B4-BE49-F238E27FC236}">
                <a16:creationId xmlns:a16="http://schemas.microsoft.com/office/drawing/2014/main" id="{A9C9D98C-1C40-890E-8DC0-F1889F1B5F59}"/>
              </a:ext>
            </a:extLst>
          </p:cNvPr>
          <p:cNvPicPr>
            <a:picLocks noChangeAspect="1"/>
          </p:cNvPicPr>
          <p:nvPr/>
        </p:nvPicPr>
        <p:blipFill>
          <a:blip r:embed="rId5"/>
          <a:stretch>
            <a:fillRect/>
          </a:stretch>
        </p:blipFill>
        <p:spPr>
          <a:xfrm>
            <a:off x="2730833" y="5379139"/>
            <a:ext cx="7830488" cy="1269505"/>
          </a:xfrm>
          <a:prstGeom prst="rect">
            <a:avLst/>
          </a:prstGeom>
        </p:spPr>
      </p:pic>
      <p:sp>
        <p:nvSpPr>
          <p:cNvPr id="18" name="矩形 17">
            <a:extLst>
              <a:ext uri="{FF2B5EF4-FFF2-40B4-BE49-F238E27FC236}">
                <a16:creationId xmlns:a16="http://schemas.microsoft.com/office/drawing/2014/main" id="{6269A594-FABE-7BCF-4B7C-8A2E80C22DB9}"/>
              </a:ext>
            </a:extLst>
          </p:cNvPr>
          <p:cNvSpPr/>
          <p:nvPr/>
        </p:nvSpPr>
        <p:spPr>
          <a:xfrm>
            <a:off x="931411" y="5710927"/>
            <a:ext cx="1507322" cy="605927"/>
          </a:xfrm>
          <a:prstGeom prst="rect">
            <a:avLst/>
          </a:prstGeom>
          <a:solidFill>
            <a:srgbClr val="C00000"/>
          </a:solidFill>
          <a:ln>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solidFill>
                  <a:schemeClr val="bg1"/>
                </a:solidFill>
              </a:rPr>
              <a:t>Irrelevant Columns</a:t>
            </a:r>
            <a:endParaRPr kumimoji="1" lang="zh-CN" altLang="en-US" dirty="0">
              <a:solidFill>
                <a:schemeClr val="bg1"/>
              </a:solidFill>
            </a:endParaRPr>
          </a:p>
        </p:txBody>
      </p:sp>
      <p:sp>
        <p:nvSpPr>
          <p:cNvPr id="5" name="矩形 4">
            <a:extLst>
              <a:ext uri="{FF2B5EF4-FFF2-40B4-BE49-F238E27FC236}">
                <a16:creationId xmlns:a16="http://schemas.microsoft.com/office/drawing/2014/main" id="{67F21D4B-0EDF-EBA6-E301-4D33372DEA01}"/>
              </a:ext>
            </a:extLst>
          </p:cNvPr>
          <p:cNvSpPr/>
          <p:nvPr/>
        </p:nvSpPr>
        <p:spPr>
          <a:xfrm>
            <a:off x="2944368" y="3081920"/>
            <a:ext cx="438912" cy="170421"/>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9" name="矩形 8">
            <a:extLst>
              <a:ext uri="{FF2B5EF4-FFF2-40B4-BE49-F238E27FC236}">
                <a16:creationId xmlns:a16="http://schemas.microsoft.com/office/drawing/2014/main" id="{FE400EC3-52B0-0CFE-CC02-BE92001D9FF3}"/>
              </a:ext>
            </a:extLst>
          </p:cNvPr>
          <p:cNvSpPr/>
          <p:nvPr/>
        </p:nvSpPr>
        <p:spPr>
          <a:xfrm>
            <a:off x="5375228" y="3215612"/>
            <a:ext cx="1025572" cy="170421"/>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0" name="矩形 9">
            <a:extLst>
              <a:ext uri="{FF2B5EF4-FFF2-40B4-BE49-F238E27FC236}">
                <a16:creationId xmlns:a16="http://schemas.microsoft.com/office/drawing/2014/main" id="{C4A249D8-A018-4ED0-0726-852A346740C8}"/>
              </a:ext>
            </a:extLst>
          </p:cNvPr>
          <p:cNvSpPr/>
          <p:nvPr/>
        </p:nvSpPr>
        <p:spPr>
          <a:xfrm>
            <a:off x="8612204" y="3098288"/>
            <a:ext cx="275764" cy="154054"/>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1" name="矩形 10">
            <a:extLst>
              <a:ext uri="{FF2B5EF4-FFF2-40B4-BE49-F238E27FC236}">
                <a16:creationId xmlns:a16="http://schemas.microsoft.com/office/drawing/2014/main" id="{86DCFE6F-F6F4-E288-8A80-D2B1B98EDC8D}"/>
              </a:ext>
            </a:extLst>
          </p:cNvPr>
          <p:cNvSpPr/>
          <p:nvPr/>
        </p:nvSpPr>
        <p:spPr>
          <a:xfrm>
            <a:off x="2882447" y="4354765"/>
            <a:ext cx="727341"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3B93F9E5-2204-C923-A8B7-C6A4734CDA0F}"/>
              </a:ext>
            </a:extLst>
          </p:cNvPr>
          <p:cNvSpPr/>
          <p:nvPr/>
        </p:nvSpPr>
        <p:spPr>
          <a:xfrm>
            <a:off x="4511035" y="4431168"/>
            <a:ext cx="521153" cy="35649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9" name="矩形 18">
            <a:extLst>
              <a:ext uri="{FF2B5EF4-FFF2-40B4-BE49-F238E27FC236}">
                <a16:creationId xmlns:a16="http://schemas.microsoft.com/office/drawing/2014/main" id="{CB80148C-EA9C-B857-26F0-DAE5D00AE1A2}"/>
              </a:ext>
            </a:extLst>
          </p:cNvPr>
          <p:cNvSpPr/>
          <p:nvPr/>
        </p:nvSpPr>
        <p:spPr>
          <a:xfrm>
            <a:off x="5389991" y="4482927"/>
            <a:ext cx="706010"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F5DF6CA8-3C02-3426-5B5A-917F21E83366}"/>
              </a:ext>
            </a:extLst>
          </p:cNvPr>
          <p:cNvSpPr/>
          <p:nvPr/>
        </p:nvSpPr>
        <p:spPr>
          <a:xfrm>
            <a:off x="7181146" y="4278767"/>
            <a:ext cx="624125" cy="35649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1" name="矩形 20">
            <a:extLst>
              <a:ext uri="{FF2B5EF4-FFF2-40B4-BE49-F238E27FC236}">
                <a16:creationId xmlns:a16="http://schemas.microsoft.com/office/drawing/2014/main" id="{2B9AAFF9-951C-5CA8-7DC6-654CACE2490C}"/>
              </a:ext>
            </a:extLst>
          </p:cNvPr>
          <p:cNvSpPr/>
          <p:nvPr/>
        </p:nvSpPr>
        <p:spPr>
          <a:xfrm>
            <a:off x="9179858" y="4278767"/>
            <a:ext cx="1087717" cy="532306"/>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3" name="矩形 22">
            <a:extLst>
              <a:ext uri="{FF2B5EF4-FFF2-40B4-BE49-F238E27FC236}">
                <a16:creationId xmlns:a16="http://schemas.microsoft.com/office/drawing/2014/main" id="{5663A393-2E99-B8F4-8B2F-091CC2C7A330}"/>
              </a:ext>
            </a:extLst>
          </p:cNvPr>
          <p:cNvSpPr/>
          <p:nvPr/>
        </p:nvSpPr>
        <p:spPr>
          <a:xfrm>
            <a:off x="8471774" y="4243768"/>
            <a:ext cx="546720" cy="171047"/>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16" name="内容占位符 2">
            <a:extLst>
              <a:ext uri="{FF2B5EF4-FFF2-40B4-BE49-F238E27FC236}">
                <a16:creationId xmlns:a16="http://schemas.microsoft.com/office/drawing/2014/main" id="{5F267F21-0FCB-2A94-9DA0-09729B643793}"/>
              </a:ext>
            </a:extLst>
          </p:cNvPr>
          <p:cNvSpPr>
            <a:spLocks noGrp="1"/>
          </p:cNvSpPr>
          <p:nvPr>
            <p:ph idx="1"/>
          </p:nvPr>
        </p:nvSpPr>
        <p:spPr>
          <a:xfrm>
            <a:off x="519430" y="1370330"/>
            <a:ext cx="11355070" cy="1639173"/>
          </a:xfrm>
        </p:spPr>
        <p:txBody>
          <a:bodyPr>
            <a:normAutofit/>
          </a:bodyPr>
          <a:lstStyle/>
          <a:p>
            <a:pPr>
              <a:lnSpc>
                <a:spcPct val="100000"/>
              </a:lnSpc>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However, we find that in TQA, data prep issues are most important</a:t>
            </a:r>
          </a:p>
          <a:p>
            <a:pPr lvl="1">
              <a:buFont typeface="Arial" panose="020B0604020202020204" pitchFamily="34" charset="0"/>
              <a:buChar char="•"/>
            </a:pPr>
            <a:r>
              <a:rPr kumimoji="1" lang="en-US" altLang="zh-CN" sz="2400" dirty="0">
                <a:latin typeface="Calibri" panose="020F0502020204030204" charset="0"/>
                <a:cs typeface="Calibri" panose="020F0502020204030204" charset="0"/>
                <a:sym typeface="+mn-ea"/>
              </a:rPr>
              <a:t>Tables are usually from Web or </a:t>
            </a:r>
            <a:r>
              <a:rPr kumimoji="1" lang="en-US" altLang="zh-CN" sz="2400" dirty="0" err="1">
                <a:latin typeface="Calibri" panose="020F0502020204030204" charset="0"/>
                <a:cs typeface="Calibri" panose="020F0502020204030204" charset="0"/>
                <a:sym typeface="+mn-ea"/>
              </a:rPr>
              <a:t>SpreedSheet</a:t>
            </a:r>
            <a:r>
              <a:rPr kumimoji="1" lang="en-US" altLang="zh-CN" sz="2400" dirty="0">
                <a:latin typeface="Calibri" panose="020F0502020204030204" charset="0"/>
                <a:cs typeface="Calibri" panose="020F0502020204030204" charset="0"/>
                <a:sym typeface="+mn-ea"/>
              </a:rPr>
              <a:t>, demanding meticulous data preparation (or data prep) to produce the accurate answer.</a:t>
            </a:r>
          </a:p>
        </p:txBody>
      </p:sp>
    </p:spTree>
    <p:extLst>
      <p:ext uri="{BB962C8B-B14F-4D97-AF65-F5344CB8AC3E}">
        <p14:creationId xmlns:p14="http://schemas.microsoft.com/office/powerpoint/2010/main" val="2499007859"/>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lstStyle/>
          <a:p>
            <a:r>
              <a:rPr kumimoji="1" lang="en-US" altLang="zh-CN" sz="4400" dirty="0">
                <a:sym typeface="+mn-ea"/>
              </a:rPr>
              <a:t>Performance bottleneck</a:t>
            </a:r>
            <a:r>
              <a:rPr kumimoji="1" lang="zh-CN" altLang="en-US" sz="4400" dirty="0">
                <a:sym typeface="+mn-ea"/>
              </a:rPr>
              <a:t> </a:t>
            </a:r>
            <a:r>
              <a:rPr kumimoji="1" lang="en-US" altLang="zh-CN" sz="4400" dirty="0">
                <a:sym typeface="+mn-ea"/>
              </a:rPr>
              <a:t>lies in Data Qualities</a:t>
            </a:r>
          </a:p>
        </p:txBody>
      </p:sp>
      <p:sp>
        <p:nvSpPr>
          <p:cNvPr id="3" name="内容占位符 2"/>
          <p:cNvSpPr>
            <a:spLocks noGrp="1"/>
          </p:cNvSpPr>
          <p:nvPr>
            <p:ph idx="1"/>
          </p:nvPr>
        </p:nvSpPr>
        <p:spPr>
          <a:xfrm>
            <a:off x="609600" y="1447296"/>
            <a:ext cx="11264899" cy="1385113"/>
          </a:xfrm>
        </p:spPr>
        <p:txBody>
          <a:bodyPr>
            <a:normAutofit/>
          </a:bodyPr>
          <a:lstStyle/>
          <a:p>
            <a:pPr>
              <a:lnSpc>
                <a:spcPct val="100000"/>
              </a:lnSpc>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The bottleneck of current TQA methods is </a:t>
            </a:r>
            <a:r>
              <a:rPr kumimoji="1" lang="en-US" altLang="zh-CN" sz="2800" b="1" dirty="0">
                <a:solidFill>
                  <a:srgbClr val="FF0000"/>
                </a:solidFill>
                <a:latin typeface="Calibri" panose="020F0502020204030204" charset="0"/>
                <a:cs typeface="Calibri" panose="020F0502020204030204" charset="0"/>
                <a:sym typeface="+mn-ea"/>
              </a:rPr>
              <a:t>data prep issues</a:t>
            </a:r>
            <a:r>
              <a:rPr kumimoji="1" lang="en-US" altLang="zh-CN" sz="2800" dirty="0">
                <a:latin typeface="Calibri" panose="020F0502020204030204" charset="0"/>
                <a:cs typeface="Calibri" panose="020F0502020204030204" charset="0"/>
                <a:sym typeface="+mn-ea"/>
              </a:rPr>
              <a:t> instead of model’s reasoning capability</a:t>
            </a:r>
          </a:p>
        </p:txBody>
      </p:sp>
      <p:sp>
        <p:nvSpPr>
          <p:cNvPr id="9" name="文本框 8"/>
          <p:cNvSpPr txBox="1"/>
          <p:nvPr/>
        </p:nvSpPr>
        <p:spPr>
          <a:xfrm>
            <a:off x="7172492" y="2795704"/>
            <a:ext cx="4409908" cy="1569660"/>
          </a:xfrm>
          <a:prstGeom prst="rect">
            <a:avLst/>
          </a:prstGeom>
          <a:noFill/>
        </p:spPr>
        <p:txBody>
          <a:bodyPr wrap="square">
            <a:spAutoFit/>
          </a:bodyPr>
          <a:lstStyle/>
          <a:p>
            <a:pPr marL="800100" lvl="1" indent="-342900">
              <a:buFont typeface="Arial" panose="020B0604020202020204" pitchFamily="34" charset="0"/>
              <a:buChar char="•"/>
            </a:pPr>
            <a:r>
              <a:rPr kumimoji="1" lang="en-US" altLang="zh-CN" sz="2400" dirty="0">
                <a:latin typeface="Calibri" panose="020F0502020204030204" charset="0"/>
                <a:cs typeface="Calibri" panose="020F0502020204030204" charset="0"/>
                <a:sym typeface="+mn-ea"/>
              </a:rPr>
              <a:t>Most TQA errors stem from </a:t>
            </a:r>
            <a:r>
              <a:rPr kumimoji="1" lang="en-US" altLang="zh-CN" sz="2400" b="1" dirty="0">
                <a:latin typeface="Calibri" panose="020F0502020204030204" charset="0"/>
                <a:cs typeface="Calibri" panose="020F0502020204030204" charset="0"/>
                <a:sym typeface="+mn-ea"/>
              </a:rPr>
              <a:t>inadequately addressing data prep issues (84% and 76%)</a:t>
            </a:r>
          </a:p>
        </p:txBody>
      </p:sp>
      <p:pic>
        <p:nvPicPr>
          <p:cNvPr id="5" name="图片 4">
            <a:extLst>
              <a:ext uri="{FF2B5EF4-FFF2-40B4-BE49-F238E27FC236}">
                <a16:creationId xmlns:a16="http://schemas.microsoft.com/office/drawing/2014/main" id="{C7031853-12B9-97BC-0761-92D24BA0FAC8}"/>
              </a:ext>
            </a:extLst>
          </p:cNvPr>
          <p:cNvPicPr>
            <a:picLocks noChangeAspect="1"/>
          </p:cNvPicPr>
          <p:nvPr/>
        </p:nvPicPr>
        <p:blipFill>
          <a:blip r:embed="rId3"/>
          <a:stretch>
            <a:fillRect/>
          </a:stretch>
        </p:blipFill>
        <p:spPr>
          <a:xfrm>
            <a:off x="977600" y="2795704"/>
            <a:ext cx="6009445" cy="2988481"/>
          </a:xfrm>
          <a:prstGeom prst="rect">
            <a:avLst/>
          </a:prstGeom>
          <a:effectLst>
            <a:outerShdw blurRad="63500" sx="102000" sy="102000" algn="ctr" rotWithShape="0">
              <a:prstClr val="black">
                <a:alpha val="40000"/>
              </a:prstClr>
            </a:outerShdw>
          </a:effectLst>
        </p:spPr>
      </p:pic>
      <p:sp>
        <p:nvSpPr>
          <p:cNvPr id="13" name="文本框 12">
            <a:extLst>
              <a:ext uri="{FF2B5EF4-FFF2-40B4-BE49-F238E27FC236}">
                <a16:creationId xmlns:a16="http://schemas.microsoft.com/office/drawing/2014/main" id="{44185931-7A29-430C-A18C-94D29AEEA239}"/>
              </a:ext>
            </a:extLst>
          </p:cNvPr>
          <p:cNvSpPr txBox="1"/>
          <p:nvPr/>
        </p:nvSpPr>
        <p:spPr>
          <a:xfrm>
            <a:off x="519430" y="6139471"/>
            <a:ext cx="11215371" cy="523220"/>
          </a:xfrm>
          <a:prstGeom prst="rect">
            <a:avLst/>
          </a:prstGeom>
          <a:noFill/>
        </p:spPr>
        <p:txBody>
          <a:bodyPr wrap="square">
            <a:spAutoFit/>
          </a:bodyPr>
          <a:lstStyle/>
          <a:p>
            <a:pPr marL="342900" indent="-342900">
              <a:buFont typeface="Wingdings" panose="05000000000000000000" pitchFamily="2" charset="2"/>
              <a:buChar char="Ø"/>
            </a:pPr>
            <a:r>
              <a:rPr kumimoji="1" lang="en-US" altLang="zh-CN" sz="2800" dirty="0">
                <a:latin typeface="Calibri" panose="020F0502020204030204" charset="0"/>
                <a:cs typeface="Calibri" panose="020F0502020204030204" charset="0"/>
                <a:sym typeface="+mn-ea"/>
              </a:rPr>
              <a:t>We propose to study </a:t>
            </a:r>
            <a:r>
              <a:rPr kumimoji="1" lang="en-US" altLang="zh-CN" sz="2800" dirty="0">
                <a:solidFill>
                  <a:srgbClr val="FF0000"/>
                </a:solidFill>
                <a:latin typeface="Calibri" panose="020F0502020204030204" charset="0"/>
                <a:cs typeface="Calibri" panose="020F0502020204030204" charset="0"/>
                <a:sym typeface="+mn-ea"/>
              </a:rPr>
              <a:t>a new problem: </a:t>
            </a:r>
            <a:r>
              <a:rPr kumimoji="1" lang="en-US" altLang="zh-CN" sz="2800" b="1" dirty="0">
                <a:solidFill>
                  <a:srgbClr val="FF0000"/>
                </a:solidFill>
                <a:latin typeface="Calibri" panose="020F0502020204030204" charset="0"/>
                <a:cs typeface="Calibri" panose="020F0502020204030204" charset="0"/>
                <a:sym typeface="+mn-ea"/>
              </a:rPr>
              <a:t>question-aware data prep </a:t>
            </a:r>
            <a:r>
              <a:rPr kumimoji="1" lang="en-US" altLang="zh-CN" sz="2800" dirty="0">
                <a:solidFill>
                  <a:srgbClr val="FF0000"/>
                </a:solidFill>
                <a:latin typeface="Calibri" panose="020F0502020204030204" charset="0"/>
                <a:cs typeface="Calibri" panose="020F0502020204030204" charset="0"/>
                <a:sym typeface="+mn-ea"/>
              </a:rPr>
              <a:t>for TQA</a:t>
            </a:r>
          </a:p>
        </p:txBody>
      </p:sp>
      <p:sp>
        <p:nvSpPr>
          <p:cNvPr id="6" name="灯片编号占位符 3">
            <a:extLst>
              <a:ext uri="{FF2B5EF4-FFF2-40B4-BE49-F238E27FC236}">
                <a16:creationId xmlns:a16="http://schemas.microsoft.com/office/drawing/2014/main" id="{198BA9D4-AE0D-3F94-A214-CADC49FD468A}"/>
              </a:ext>
            </a:extLst>
          </p:cNvPr>
          <p:cNvSpPr>
            <a:spLocks noGrp="1"/>
          </p:cNvSpPr>
          <p:nvPr>
            <p:ph type="sldNum" sz="quarter" idx="12"/>
          </p:nvPr>
        </p:nvSpPr>
        <p:spPr>
          <a:xfrm>
            <a:off x="8737600" y="6356352"/>
            <a:ext cx="2844800" cy="365125"/>
          </a:xfrm>
        </p:spPr>
        <p:txBody>
          <a:bodyPr/>
          <a:lstStyle/>
          <a:p>
            <a:fld id="{666ED1DC-EB24-2D46-9C9F-DBDF840474EE}" type="slidenum">
              <a:rPr kumimoji="1" lang="zh-CN" altLang="en-US" smtClean="0">
                <a:solidFill>
                  <a:prstClr val="black">
                    <a:tint val="75000"/>
                  </a:prstClr>
                </a:solidFill>
              </a:rPr>
              <a:t>6</a:t>
            </a:fld>
            <a:endParaRPr kumimoji="1" lang="zh-CN" altLang="en-US">
              <a:solidFill>
                <a:prstClr val="black">
                  <a:tint val="75000"/>
                </a:prstClr>
              </a:solidFill>
            </a:endParaRPr>
          </a:p>
        </p:txBody>
      </p:sp>
    </p:spTree>
    <p:extLst>
      <p:ext uri="{BB962C8B-B14F-4D97-AF65-F5344CB8AC3E}">
        <p14:creationId xmlns:p14="http://schemas.microsoft.com/office/powerpoint/2010/main" val="2663404675"/>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CAC3CF2-CA07-2C46-0FBD-846F35EC86B4}"/>
              </a:ext>
            </a:extLst>
          </p:cNvPr>
          <p:cNvPicPr>
            <a:picLocks noChangeAspect="1"/>
          </p:cNvPicPr>
          <p:nvPr/>
        </p:nvPicPr>
        <p:blipFill>
          <a:blip r:embed="rId3"/>
          <a:stretch>
            <a:fillRect/>
          </a:stretch>
        </p:blipFill>
        <p:spPr>
          <a:xfrm>
            <a:off x="2198218" y="3429000"/>
            <a:ext cx="3883218" cy="3612296"/>
          </a:xfrm>
          <a:prstGeom prst="rect">
            <a:avLst/>
          </a:prstGeom>
        </p:spPr>
      </p:pic>
      <p:pic>
        <p:nvPicPr>
          <p:cNvPr id="8" name="图片 7">
            <a:extLst>
              <a:ext uri="{FF2B5EF4-FFF2-40B4-BE49-F238E27FC236}">
                <a16:creationId xmlns:a16="http://schemas.microsoft.com/office/drawing/2014/main" id="{C722AB20-E9B3-412E-C41F-955F98C20958}"/>
              </a:ext>
            </a:extLst>
          </p:cNvPr>
          <p:cNvPicPr>
            <a:picLocks noChangeAspect="1"/>
          </p:cNvPicPr>
          <p:nvPr/>
        </p:nvPicPr>
        <p:blipFill>
          <a:blip r:embed="rId4"/>
          <a:stretch>
            <a:fillRect/>
          </a:stretch>
        </p:blipFill>
        <p:spPr>
          <a:xfrm>
            <a:off x="6081436" y="4576721"/>
            <a:ext cx="3919342" cy="2022886"/>
          </a:xfrm>
          <a:prstGeom prst="rect">
            <a:avLst/>
          </a:prstGeom>
        </p:spPr>
      </p:pic>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Question-aware Data Prep for TQA</a:t>
            </a:r>
          </a:p>
        </p:txBody>
      </p:sp>
      <p:sp>
        <p:nvSpPr>
          <p:cNvPr id="4" name="灯片编号占位符 3"/>
          <p:cNvSpPr>
            <a:spLocks noGrp="1"/>
          </p:cNvSpPr>
          <p:nvPr>
            <p:ph type="sldNum" sz="quarter" idx="12"/>
          </p:nvPr>
        </p:nvSpPr>
        <p:spPr>
          <a:xfrm>
            <a:off x="8827771" y="6566152"/>
            <a:ext cx="2844800" cy="365125"/>
          </a:xfrm>
        </p:spPr>
        <p:txBody>
          <a:bodyPr/>
          <a:lstStyle/>
          <a:p>
            <a:fld id="{666ED1DC-EB24-2D46-9C9F-DBDF840474EE}" type="slidenum">
              <a:rPr kumimoji="1" lang="zh-CN" altLang="en-US" smtClean="0">
                <a:solidFill>
                  <a:prstClr val="black">
                    <a:tint val="75000"/>
                  </a:prstClr>
                </a:solidFill>
              </a:rPr>
              <a:t>7</a:t>
            </a:fld>
            <a:endParaRPr kumimoji="1" lang="zh-CN" altLang="en-US">
              <a:solidFill>
                <a:prstClr val="black">
                  <a:tint val="75000"/>
                </a:prstClr>
              </a:solidFill>
            </a:endParaRPr>
          </a:p>
        </p:txBody>
      </p:sp>
      <p:sp>
        <p:nvSpPr>
          <p:cNvPr id="7" name="内容占位符 2"/>
          <p:cNvSpPr>
            <a:spLocks noGrp="1"/>
          </p:cNvSpPr>
          <p:nvPr/>
        </p:nvSpPr>
        <p:spPr>
          <a:xfrm>
            <a:off x="519429" y="1421465"/>
            <a:ext cx="11153142" cy="3200179"/>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buFont typeface="Arial" panose="020B0604020202020204" pitchFamily="34" charset="0"/>
              <a:buChar char="•"/>
            </a:pPr>
            <a:r>
              <a:rPr kumimoji="1" lang="en-US" sz="2800" dirty="0">
                <a:latin typeface="Calibri" panose="020F0502020204030204" charset="0"/>
                <a:cs typeface="Calibri" panose="020F0502020204030204" charset="0"/>
                <a:sym typeface="+mn-ea"/>
              </a:rPr>
              <a:t>Question-aware Data Prep for TQA</a:t>
            </a:r>
          </a:p>
          <a:p>
            <a:pPr lvl="1">
              <a:buFont typeface="Courier New" panose="02070309020205020404" pitchFamily="49" charset="0"/>
              <a:buChar char="-"/>
            </a:pPr>
            <a:r>
              <a:rPr kumimoji="1" lang="en-US" sz="2400" b="1" dirty="0">
                <a:latin typeface="Calibri" panose="020F0502020204030204" charset="0"/>
                <a:cs typeface="Calibri" panose="020F0502020204030204" charset="0"/>
                <a:sym typeface="+mn-ea"/>
              </a:rPr>
              <a:t>Input</a:t>
            </a:r>
            <a:r>
              <a:rPr kumimoji="1" lang="en-US" sz="2400" dirty="0">
                <a:latin typeface="Calibri" panose="020F0502020204030204" charset="0"/>
                <a:cs typeface="Calibri" panose="020F0502020204030204" charset="0"/>
                <a:sym typeface="+mn-ea"/>
              </a:rPr>
              <a:t>: A table T and a question Q</a:t>
            </a:r>
            <a:endParaRPr kumimoji="1" lang="en-US" sz="2400" i="1" dirty="0">
              <a:latin typeface="Calibri" panose="020F0502020204030204" charset="0"/>
              <a:cs typeface="Calibri" panose="020F0502020204030204" charset="0"/>
              <a:sym typeface="+mn-ea"/>
            </a:endParaRPr>
          </a:p>
          <a:p>
            <a:pPr lvl="1">
              <a:buFont typeface="Courier New" panose="02070309020205020404" pitchFamily="49" charset="0"/>
              <a:buChar char="-"/>
            </a:pPr>
            <a:r>
              <a:rPr kumimoji="1" lang="en-US" sz="2400" b="1" dirty="0">
                <a:latin typeface="Calibri" panose="020F0502020204030204" charset="0"/>
                <a:cs typeface="Calibri" panose="020F0502020204030204" charset="0"/>
                <a:sym typeface="+mn-ea"/>
              </a:rPr>
              <a:t>Output</a:t>
            </a:r>
            <a:r>
              <a:rPr kumimoji="1" lang="en-US" sz="2400" dirty="0">
                <a:latin typeface="Calibri" panose="020F0502020204030204" charset="0"/>
                <a:cs typeface="Calibri" panose="020F0502020204030204" charset="0"/>
                <a:sym typeface="+mn-ea"/>
              </a:rPr>
              <a:t>: A sequence of high-level data prep operations based on T and Q, e.g., Derive, Normalize.</a:t>
            </a:r>
          </a:p>
          <a:p>
            <a:pPr marL="891540" lvl="2" indent="-411480">
              <a:buFont typeface="Arial" panose="020B0604020202020204" pitchFamily="34" charset="0"/>
              <a:buChar char="•"/>
            </a:pPr>
            <a:r>
              <a:rPr kumimoji="1" lang="en-US" dirty="0">
                <a:latin typeface="Calibri" panose="020F0502020204030204" charset="0"/>
                <a:cs typeface="Calibri" panose="020F0502020204030204" charset="0"/>
                <a:sym typeface="+mn-ea"/>
              </a:rPr>
              <a:t>These high-level operations will be implemented by codes to get a clean table, which helps TQA method to extract the final answer</a:t>
            </a:r>
          </a:p>
        </p:txBody>
      </p:sp>
      <p:sp>
        <p:nvSpPr>
          <p:cNvPr id="9" name="文本框 8">
            <a:extLst>
              <a:ext uri="{FF2B5EF4-FFF2-40B4-BE49-F238E27FC236}">
                <a16:creationId xmlns:a16="http://schemas.microsoft.com/office/drawing/2014/main" id="{85966E9C-30E5-CB5C-EA1E-4B93CCABF9D5}"/>
              </a:ext>
            </a:extLst>
          </p:cNvPr>
          <p:cNvSpPr txBox="1"/>
          <p:nvPr/>
        </p:nvSpPr>
        <p:spPr>
          <a:xfrm>
            <a:off x="5587129" y="4207389"/>
            <a:ext cx="2660408" cy="369332"/>
          </a:xfrm>
          <a:prstGeom prst="rect">
            <a:avLst/>
          </a:prstGeom>
          <a:noFill/>
          <a:ln w="12700" cap="rnd">
            <a:solidFill>
              <a:srgbClr val="C00000"/>
            </a:solidFill>
            <a:prstDash val="dash"/>
          </a:ln>
        </p:spPr>
        <p:txBody>
          <a:bodyPr wrap="none" rtlCol="0">
            <a:spAutoFit/>
          </a:bodyPr>
          <a:lstStyle/>
          <a:p>
            <a:r>
              <a:rPr kumimoji="1" lang="en-US" altLang="zh-CN" dirty="0">
                <a:solidFill>
                  <a:srgbClr val="C00000"/>
                </a:solidFill>
              </a:rPr>
              <a:t>Derive, Normalize, Filter,…</a:t>
            </a:r>
            <a:endParaRPr kumimoji="1" lang="zh-CN" altLang="en-US" dirty="0">
              <a:solidFill>
                <a:srgbClr val="C00000"/>
              </a:solidFill>
            </a:endParaRPr>
          </a:p>
        </p:txBody>
      </p:sp>
    </p:spTree>
    <p:extLst>
      <p:ext uri="{BB962C8B-B14F-4D97-AF65-F5344CB8AC3E}">
        <p14:creationId xmlns:p14="http://schemas.microsoft.com/office/powerpoint/2010/main" val="1656979598"/>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对象 10">
            <a:extLst>
              <a:ext uri="{FF2B5EF4-FFF2-40B4-BE49-F238E27FC236}">
                <a16:creationId xmlns:a16="http://schemas.microsoft.com/office/drawing/2014/main" id="{8806819E-23E6-EC41-D5B5-53F3E4075630}"/>
              </a:ext>
            </a:extLst>
          </p:cNvPr>
          <p:cNvGraphicFramePr/>
          <p:nvPr>
            <p:extLst>
              <p:ext uri="{D42A27DB-BD31-4B8C-83A1-F6EECF244321}">
                <p14:modId xmlns:p14="http://schemas.microsoft.com/office/powerpoint/2010/main" val="1036059618"/>
              </p:ext>
            </p:extLst>
          </p:nvPr>
        </p:nvGraphicFramePr>
        <p:xfrm>
          <a:off x="5736488" y="3371198"/>
          <a:ext cx="5575495" cy="3308241"/>
        </p:xfrm>
        <a:graphic>
          <a:graphicData uri="http://schemas.openxmlformats.org/presentationml/2006/ole">
            <mc:AlternateContent xmlns:mc="http://schemas.openxmlformats.org/markup-compatibility/2006">
              <mc:Choice xmlns:v="urn:schemas-microsoft-com:vml" Requires="v">
                <p:oleObj r:id="rId3" imgW="4431030" imgH="2519680" progId="Visio.Drawing.15">
                  <p:embed/>
                </p:oleObj>
              </mc:Choice>
              <mc:Fallback>
                <p:oleObj r:id="rId3" imgW="4431030" imgH="2519680" progId="Visio.Drawing.15">
                  <p:embed/>
                  <p:pic>
                    <p:nvPicPr>
                      <p:cNvPr id="11" name="对象 10">
                        <a:extLst>
                          <a:ext uri="{FF2B5EF4-FFF2-40B4-BE49-F238E27FC236}">
                            <a16:creationId xmlns:a16="http://schemas.microsoft.com/office/drawing/2014/main" id="{8806819E-23E6-EC41-D5B5-53F3E4075630}"/>
                          </a:ext>
                        </a:extLst>
                      </p:cNvPr>
                      <p:cNvPicPr/>
                      <p:nvPr/>
                    </p:nvPicPr>
                    <p:blipFill>
                      <a:blip r:embed="rId4"/>
                      <a:stretch>
                        <a:fillRect/>
                      </a:stretch>
                    </p:blipFill>
                    <p:spPr>
                      <a:xfrm>
                        <a:off x="5736488" y="3371198"/>
                        <a:ext cx="5575495" cy="3308241"/>
                      </a:xfrm>
                      <a:prstGeom prst="rect">
                        <a:avLst/>
                      </a:prstGeom>
                      <a:solidFill>
                        <a:schemeClr val="bg1"/>
                      </a:solidFill>
                    </p:spPr>
                  </p:pic>
                </p:oleObj>
              </mc:Fallback>
            </mc:AlternateContent>
          </a:graphicData>
        </a:graphic>
      </p:graphicFrame>
      <p:sp>
        <p:nvSpPr>
          <p:cNvPr id="2" name="标题 1"/>
          <p:cNvSpPr>
            <a:spLocks noGrp="1"/>
          </p:cNvSpPr>
          <p:nvPr>
            <p:ph type="title"/>
          </p:nvPr>
        </p:nvSpPr>
        <p:spPr>
          <a:xfrm>
            <a:off x="519430" y="210093"/>
            <a:ext cx="11062970" cy="880372"/>
          </a:xfrm>
        </p:spPr>
        <p:txBody>
          <a:bodyPr/>
          <a:lstStyle/>
          <a:p>
            <a:r>
              <a:rPr kumimoji="1" lang="en-US" altLang="zh-CN" sz="4400" dirty="0">
                <a:sym typeface="+mn-ea"/>
              </a:rPr>
              <a:t>Key Challenge of Question-Aware Data Prep</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8</a:t>
            </a:fld>
            <a:endParaRPr kumimoji="1" lang="zh-CN" altLang="en-US">
              <a:solidFill>
                <a:prstClr val="black">
                  <a:tint val="75000"/>
                </a:prstClr>
              </a:solidFill>
            </a:endParaRPr>
          </a:p>
        </p:txBody>
      </p:sp>
      <p:sp>
        <p:nvSpPr>
          <p:cNvPr id="7" name="内容占位符 2"/>
          <p:cNvSpPr>
            <a:spLocks noGrp="1"/>
          </p:cNvSpPr>
          <p:nvPr/>
        </p:nvSpPr>
        <p:spPr>
          <a:xfrm>
            <a:off x="519429" y="1421465"/>
            <a:ext cx="10434119" cy="2007535"/>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buFont typeface="Arial" panose="020B0604020202020204" pitchFamily="34" charset="0"/>
              <a:buChar char="•"/>
            </a:pPr>
            <a:r>
              <a:rPr kumimoji="1" lang="en-US" sz="2800" dirty="0">
                <a:latin typeface="Calibri" panose="020F0502020204030204" charset="0"/>
                <a:cs typeface="Calibri" panose="020F0502020204030204" charset="0"/>
                <a:sym typeface="+mn-ea"/>
              </a:rPr>
              <a:t>However, building such a system is </a:t>
            </a:r>
            <a:r>
              <a:rPr kumimoji="1" lang="en-US" sz="2800" dirty="0">
                <a:solidFill>
                  <a:srgbClr val="FF0000"/>
                </a:solidFill>
                <a:latin typeface="Calibri" panose="020F0502020204030204" charset="0"/>
                <a:cs typeface="Calibri" panose="020F0502020204030204" charset="0"/>
                <a:sym typeface="+mn-ea"/>
              </a:rPr>
              <a:t>challenging</a:t>
            </a:r>
            <a:r>
              <a:rPr kumimoji="1" lang="en-US" sz="2800" dirty="0">
                <a:latin typeface="Calibri" panose="020F0502020204030204" charset="0"/>
                <a:cs typeface="Calibri" panose="020F0502020204030204" charset="0"/>
                <a:sym typeface="+mn-ea"/>
              </a:rPr>
              <a:t> due to the </a:t>
            </a:r>
            <a:r>
              <a:rPr kumimoji="1" lang="en-US" sz="2800" b="1" dirty="0">
                <a:solidFill>
                  <a:srgbClr val="FF0000"/>
                </a:solidFill>
                <a:latin typeface="Calibri" panose="020F0502020204030204" charset="0"/>
                <a:cs typeface="Calibri" panose="020F0502020204030204" charset="0"/>
                <a:sym typeface="+mn-ea"/>
              </a:rPr>
              <a:t>semantic alignment </a:t>
            </a:r>
            <a:r>
              <a:rPr kumimoji="1" lang="en-US" sz="2800" dirty="0">
                <a:latin typeface="Calibri" panose="020F0502020204030204" charset="0"/>
                <a:cs typeface="Calibri" panose="020F0502020204030204" charset="0"/>
                <a:sym typeface="+mn-ea"/>
              </a:rPr>
              <a:t>between the table and the question</a:t>
            </a:r>
          </a:p>
          <a:p>
            <a:pPr lvl="1">
              <a:buFont typeface="Courier New" panose="02070309020205020404" pitchFamily="49" charset="0"/>
              <a:buChar char="-"/>
            </a:pPr>
            <a:r>
              <a:rPr kumimoji="1" lang="en-US" sz="2400" dirty="0">
                <a:latin typeface="Calibri" panose="020F0502020204030204" charset="0"/>
                <a:cs typeface="Calibri" panose="020F0502020204030204" charset="0"/>
                <a:sym typeface="+mn-ea"/>
              </a:rPr>
              <a:t>How to generate correct high-level data prep operations?</a:t>
            </a:r>
            <a:endParaRPr kumimoji="1" lang="en-US" sz="2400" i="1" dirty="0">
              <a:latin typeface="Calibri" panose="020F0502020204030204" charset="0"/>
              <a:cs typeface="Calibri" panose="020F0502020204030204" charset="0"/>
              <a:sym typeface="+mn-ea"/>
            </a:endParaRPr>
          </a:p>
          <a:p>
            <a:pPr lvl="1">
              <a:buFont typeface="Courier New" panose="02070309020205020404" pitchFamily="49" charset="0"/>
              <a:buChar char="-"/>
            </a:pPr>
            <a:r>
              <a:rPr kumimoji="1" lang="en-US" sz="2400" dirty="0">
                <a:latin typeface="Calibri" panose="020F0502020204030204" charset="0"/>
                <a:cs typeface="Calibri" panose="020F0502020204030204" charset="0"/>
                <a:sym typeface="+mn-ea"/>
              </a:rPr>
              <a:t>How to generate correct codes to implement them?</a:t>
            </a:r>
          </a:p>
        </p:txBody>
      </p:sp>
      <p:sp>
        <p:nvSpPr>
          <p:cNvPr id="5" name="内容占位符 2">
            <a:extLst>
              <a:ext uri="{FF2B5EF4-FFF2-40B4-BE49-F238E27FC236}">
                <a16:creationId xmlns:a16="http://schemas.microsoft.com/office/drawing/2014/main" id="{6B3A4701-28C2-6E69-4C8E-C64D59A66581}"/>
              </a:ext>
            </a:extLst>
          </p:cNvPr>
          <p:cNvSpPr>
            <a:spLocks noGrp="1"/>
          </p:cNvSpPr>
          <p:nvPr/>
        </p:nvSpPr>
        <p:spPr>
          <a:xfrm>
            <a:off x="519430" y="3457966"/>
            <a:ext cx="4946642" cy="3134706"/>
          </a:xfrm>
          <a:prstGeom prst="rect">
            <a:avLst/>
          </a:prstGeom>
        </p:spPr>
        <p:txBody>
          <a:bodyPr vert="horz" lIns="91440" tIns="45720" rIns="91440" bIns="45720" rtlCol="0">
            <a:no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buFont typeface="Arial" panose="020B0604020202020204" pitchFamily="34" charset="0"/>
              <a:buChar char="•"/>
            </a:pPr>
            <a:r>
              <a:rPr kumimoji="1" lang="en-US" altLang="zh-CN" sz="2800" dirty="0">
                <a:latin typeface="Calibri" panose="020F0502020204030204" charset="0"/>
                <a:cs typeface="Calibri" panose="020F0502020204030204" charset="0"/>
                <a:sym typeface="+mn-ea"/>
              </a:rPr>
              <a:t>A</a:t>
            </a:r>
            <a:r>
              <a:rPr kumimoji="1" lang="en-US" sz="2800" dirty="0">
                <a:latin typeface="Calibri" panose="020F0502020204030204" charset="0"/>
                <a:cs typeface="Calibri" panose="020F0502020204030204" charset="0"/>
                <a:sym typeface="+mn-ea"/>
              </a:rPr>
              <a:t> naive question-aware data prep method</a:t>
            </a:r>
            <a:r>
              <a:rPr kumimoji="1" lang="en-US" altLang="zh-CN" sz="2800" dirty="0">
                <a:latin typeface="Calibri" panose="020F0502020204030204" charset="0"/>
                <a:cs typeface="Calibri" panose="020F0502020204030204" charset="0"/>
                <a:sym typeface="+mn-ea"/>
              </a:rPr>
              <a:t>.</a:t>
            </a:r>
          </a:p>
          <a:p>
            <a:pPr lvl="1">
              <a:buFont typeface="Courier New" panose="02070309020205020404" pitchFamily="49" charset="0"/>
              <a:buChar char="-"/>
            </a:pPr>
            <a:r>
              <a:rPr kumimoji="1" lang="en-US" altLang="zh-CN" sz="2400" dirty="0">
                <a:solidFill>
                  <a:srgbClr val="FF0000"/>
                </a:solidFill>
                <a:latin typeface="Calibri" panose="020F0502020204030204" charset="0"/>
                <a:cs typeface="Calibri" panose="020F0502020204030204" charset="0"/>
                <a:sym typeface="+mn-ea"/>
              </a:rPr>
              <a:t>Inaccurate</a:t>
            </a:r>
            <a:r>
              <a:rPr kumimoji="1" lang="en-US" altLang="zh-CN" sz="2400" dirty="0">
                <a:latin typeface="Calibri" panose="020F0502020204030204" charset="0"/>
                <a:cs typeface="Calibri" panose="020F0502020204030204" charset="0"/>
                <a:sym typeface="+mn-ea"/>
              </a:rPr>
              <a:t> logical operations: </a:t>
            </a:r>
            <a:r>
              <a:rPr kumimoji="1" lang="zh-CN" altLang="en-US" sz="2400" dirty="0">
                <a:latin typeface="Calibri" panose="020F0502020204030204" charset="0"/>
                <a:cs typeface="Calibri" panose="020F0502020204030204" charset="0"/>
                <a:sym typeface="+mn-ea"/>
              </a:rPr>
              <a:t>②④</a:t>
            </a:r>
            <a:endParaRPr kumimoji="1" lang="en-US" altLang="zh-CN" sz="2400" dirty="0">
              <a:latin typeface="Calibri" panose="020F0502020204030204" charset="0"/>
              <a:cs typeface="Calibri" panose="020F0502020204030204" charset="0"/>
              <a:sym typeface="+mn-ea"/>
            </a:endParaRPr>
          </a:p>
          <a:p>
            <a:pPr lvl="1">
              <a:buFont typeface="Courier New" panose="02070309020205020404" pitchFamily="49" charset="0"/>
              <a:buChar char="-"/>
            </a:pPr>
            <a:r>
              <a:rPr kumimoji="1" lang="en-US" altLang="zh-CN" sz="2400" dirty="0">
                <a:solidFill>
                  <a:srgbClr val="FF0000"/>
                </a:solidFill>
                <a:latin typeface="Calibri" panose="020F0502020204030204" charset="0"/>
                <a:cs typeface="Calibri" panose="020F0502020204030204" charset="0"/>
                <a:sym typeface="+mn-ea"/>
              </a:rPr>
              <a:t>Low-quality</a:t>
            </a:r>
            <a:r>
              <a:rPr kumimoji="1" lang="en-US" altLang="zh-CN" sz="2400" dirty="0">
                <a:solidFill>
                  <a:srgbClr val="C00000"/>
                </a:solidFill>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physical operations: </a:t>
            </a:r>
            <a:r>
              <a:rPr kumimoji="1" lang="zh-CN" altLang="en-US" sz="2400" dirty="0">
                <a:latin typeface="Calibri" panose="020F0502020204030204" charset="0"/>
                <a:cs typeface="Calibri" panose="020F0502020204030204" charset="0"/>
                <a:sym typeface="+mn-ea"/>
              </a:rPr>
              <a:t>①③⑤</a:t>
            </a:r>
            <a:endParaRPr kumimoji="1" lang="en-US" sz="2400" dirty="0">
              <a:latin typeface="Calibri" panose="020F0502020204030204" charset="0"/>
              <a:cs typeface="Calibri" panose="020F0502020204030204" charset="0"/>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62DE1499-B4EC-4108-914E-82497CB7B852}"/>
              </a:ext>
            </a:extLst>
          </p:cNvPr>
          <p:cNvGraphicFramePr/>
          <p:nvPr>
            <p:extLst>
              <p:ext uri="{D42A27DB-BD31-4B8C-83A1-F6EECF244321}">
                <p14:modId xmlns:p14="http://schemas.microsoft.com/office/powerpoint/2010/main" val="3484471679"/>
              </p:ext>
            </p:extLst>
          </p:nvPr>
        </p:nvGraphicFramePr>
        <p:xfrm>
          <a:off x="55040" y="3920446"/>
          <a:ext cx="11991749" cy="2392364"/>
        </p:xfrm>
        <a:graphic>
          <a:graphicData uri="http://schemas.openxmlformats.org/presentationml/2006/ole">
            <mc:AlternateContent xmlns:mc="http://schemas.openxmlformats.org/markup-compatibility/2006">
              <mc:Choice xmlns:v="urn:schemas-microsoft-com:vml" Requires="v">
                <p:oleObj name="Visio" r:id="rId3" imgW="7745206" imgH="1469571" progId="Visio.Drawing.15">
                  <p:embed/>
                </p:oleObj>
              </mc:Choice>
              <mc:Fallback>
                <p:oleObj name="Visio" r:id="rId3" imgW="7745206" imgH="1469571" progId="Visio.Drawing.15">
                  <p:embed/>
                  <p:pic>
                    <p:nvPicPr>
                      <p:cNvPr id="8" name="对象 7">
                        <a:extLst>
                          <a:ext uri="{FF2B5EF4-FFF2-40B4-BE49-F238E27FC236}">
                            <a16:creationId xmlns:a16="http://schemas.microsoft.com/office/drawing/2014/main" id="{62DE1499-B4EC-4108-914E-82497CB7B852}"/>
                          </a:ext>
                        </a:extLst>
                      </p:cNvPr>
                      <p:cNvPicPr/>
                      <p:nvPr/>
                    </p:nvPicPr>
                    <p:blipFill>
                      <a:blip r:embed="rId4"/>
                      <a:stretch>
                        <a:fillRect/>
                      </a:stretch>
                    </p:blipFill>
                    <p:spPr>
                      <a:xfrm>
                        <a:off x="55040" y="3920446"/>
                        <a:ext cx="11991749" cy="2392364"/>
                      </a:xfrm>
                      <a:prstGeom prst="rect">
                        <a:avLst/>
                      </a:prstGeom>
                      <a:solidFill>
                        <a:schemeClr val="bg1"/>
                      </a:solidFill>
                    </p:spPr>
                  </p:pic>
                </p:oleObj>
              </mc:Fallback>
            </mc:AlternateContent>
          </a:graphicData>
        </a:graphic>
      </p:graphicFrame>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Our Proposed AutoPrep Framework</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9</a:t>
            </a:fld>
            <a:endParaRPr kumimoji="1" lang="zh-CN" altLang="en-US" dirty="0">
              <a:solidFill>
                <a:prstClr val="black">
                  <a:tint val="75000"/>
                </a:prstClr>
              </a:solidFill>
            </a:endParaRPr>
          </a:p>
        </p:txBody>
      </p:sp>
      <p:sp>
        <p:nvSpPr>
          <p:cNvPr id="3" name="内容占位符 2">
            <a:extLst>
              <a:ext uri="{FF2B5EF4-FFF2-40B4-BE49-F238E27FC236}">
                <a16:creationId xmlns:a16="http://schemas.microsoft.com/office/drawing/2014/main" id="{DF77E19E-6BDA-9B87-F8E2-357D651404C7}"/>
              </a:ext>
            </a:extLst>
          </p:cNvPr>
          <p:cNvSpPr>
            <a:spLocks noGrp="1"/>
          </p:cNvSpPr>
          <p:nvPr/>
        </p:nvSpPr>
        <p:spPr>
          <a:xfrm>
            <a:off x="259714" y="1297176"/>
            <a:ext cx="11672571" cy="3079751"/>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pPr>
            <a:r>
              <a:rPr kumimoji="1" lang="en-US" altLang="zh-CN" sz="2800" dirty="0">
                <a:latin typeface="Calibri" panose="020F0502020204030204" charset="0"/>
                <a:cs typeface="Calibri" panose="020F0502020204030204" charset="0"/>
                <a:sym typeface="+mn-ea"/>
              </a:rPr>
              <a:t>Inspired by DBMS, </a:t>
            </a:r>
            <a:r>
              <a:rPr kumimoji="1" lang="en-US" altLang="zh-CN" sz="2800" dirty="0" err="1">
                <a:latin typeface="Calibri" panose="020F0502020204030204" charset="0"/>
                <a:cs typeface="Calibri" panose="020F0502020204030204" charset="0"/>
                <a:sym typeface="+mn-ea"/>
              </a:rPr>
              <a:t>AutoPrep</a:t>
            </a:r>
            <a:r>
              <a:rPr kumimoji="1" lang="en-US" altLang="zh-CN" sz="2800" dirty="0">
                <a:latin typeface="Calibri" panose="020F0502020204030204" charset="0"/>
                <a:cs typeface="Calibri" panose="020F0502020204030204" charset="0"/>
                <a:sym typeface="+mn-ea"/>
              </a:rPr>
              <a:t> separates high-level (logical) data prep(DP) operations from the concrete codes (physical) for execution</a:t>
            </a:r>
            <a:endParaRPr kumimoji="1" sz="2800" dirty="0">
              <a:latin typeface="Calibri" panose="020F0502020204030204" charset="0"/>
              <a:cs typeface="Calibri" panose="020F0502020204030204" charset="0"/>
              <a:sym typeface="+mn-ea"/>
            </a:endParaRPr>
          </a:p>
          <a:p>
            <a:pPr lvl="1"/>
            <a:r>
              <a:rPr kumimoji="1" lang="en-US" altLang="zh-CN" sz="2400" b="1" dirty="0">
                <a:latin typeface="Calibri" panose="020F0502020204030204" charset="0"/>
                <a:cs typeface="Calibri" panose="020F0502020204030204" charset="0"/>
                <a:sym typeface="+mn-ea"/>
              </a:rPr>
              <a:t>Phase 1: Task Planning. </a:t>
            </a:r>
            <a:r>
              <a:rPr kumimoji="1" lang="en-US" altLang="zh-CN" sz="2400" dirty="0">
                <a:latin typeface="Calibri" panose="020F0502020204030204" charset="0"/>
                <a:cs typeface="Calibri" panose="020F0502020204030204" charset="0"/>
                <a:sym typeface="+mn-ea"/>
              </a:rPr>
              <a:t>Design a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Planner agent</a:t>
            </a:r>
            <a:r>
              <a:rPr kumimoji="1" lang="en-US" altLang="zh-CN" sz="2400" dirty="0">
                <a:solidFill>
                  <a:schemeClr val="bg1"/>
                </a:solidFill>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to generate all data prep tasks and plan them in sequence, i.e., a chain of logical operations (e.g., Derive)</a:t>
            </a:r>
          </a:p>
        </p:txBody>
      </p:sp>
    </p:spTree>
    <p:extLst>
      <p:ext uri="{BB962C8B-B14F-4D97-AF65-F5344CB8AC3E}">
        <p14:creationId xmlns:p14="http://schemas.microsoft.com/office/powerpoint/2010/main" val="493036339"/>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62DE1499-B4EC-4108-914E-82497CB7B852}"/>
              </a:ext>
            </a:extLst>
          </p:cNvPr>
          <p:cNvGraphicFramePr/>
          <p:nvPr>
            <p:extLst>
              <p:ext uri="{D42A27DB-BD31-4B8C-83A1-F6EECF244321}">
                <p14:modId xmlns:p14="http://schemas.microsoft.com/office/powerpoint/2010/main" val="19208415"/>
              </p:ext>
            </p:extLst>
          </p:nvPr>
        </p:nvGraphicFramePr>
        <p:xfrm>
          <a:off x="55040" y="3920446"/>
          <a:ext cx="11991749" cy="2392364"/>
        </p:xfrm>
        <a:graphic>
          <a:graphicData uri="http://schemas.openxmlformats.org/presentationml/2006/ole">
            <mc:AlternateContent xmlns:mc="http://schemas.openxmlformats.org/markup-compatibility/2006">
              <mc:Choice xmlns:v="urn:schemas-microsoft-com:vml" Requires="v">
                <p:oleObj name="Visio" r:id="rId3" imgW="7745206" imgH="1469571" progId="Visio.Drawing.15">
                  <p:embed/>
                </p:oleObj>
              </mc:Choice>
              <mc:Fallback>
                <p:oleObj name="Visio" r:id="rId3" imgW="7745206" imgH="1469571" progId="Visio.Drawing.15">
                  <p:embed/>
                  <p:pic>
                    <p:nvPicPr>
                      <p:cNvPr id="8" name="对象 7">
                        <a:extLst>
                          <a:ext uri="{FF2B5EF4-FFF2-40B4-BE49-F238E27FC236}">
                            <a16:creationId xmlns:a16="http://schemas.microsoft.com/office/drawing/2014/main" id="{62DE1499-B4EC-4108-914E-82497CB7B852}"/>
                          </a:ext>
                        </a:extLst>
                      </p:cNvPr>
                      <p:cNvPicPr/>
                      <p:nvPr/>
                    </p:nvPicPr>
                    <p:blipFill>
                      <a:blip r:embed="rId4"/>
                      <a:stretch>
                        <a:fillRect/>
                      </a:stretch>
                    </p:blipFill>
                    <p:spPr>
                      <a:xfrm>
                        <a:off x="55040" y="3920446"/>
                        <a:ext cx="11991749" cy="2392364"/>
                      </a:xfrm>
                      <a:prstGeom prst="rect">
                        <a:avLst/>
                      </a:prstGeom>
                      <a:solidFill>
                        <a:schemeClr val="bg1"/>
                      </a:solidFill>
                    </p:spPr>
                  </p:pic>
                </p:oleObj>
              </mc:Fallback>
            </mc:AlternateContent>
          </a:graphicData>
        </a:graphic>
      </p:graphicFrame>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Our Proposed AutoPrep Framework</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10</a:t>
            </a:fld>
            <a:endParaRPr kumimoji="1" lang="zh-CN" altLang="en-US" dirty="0">
              <a:solidFill>
                <a:prstClr val="black">
                  <a:tint val="75000"/>
                </a:prstClr>
              </a:solidFill>
            </a:endParaRPr>
          </a:p>
        </p:txBody>
      </p:sp>
      <p:sp>
        <p:nvSpPr>
          <p:cNvPr id="3" name="内容占位符 2">
            <a:extLst>
              <a:ext uri="{FF2B5EF4-FFF2-40B4-BE49-F238E27FC236}">
                <a16:creationId xmlns:a16="http://schemas.microsoft.com/office/drawing/2014/main" id="{6862EAD8-4D97-5D23-317D-2BA63CFE769F}"/>
              </a:ext>
            </a:extLst>
          </p:cNvPr>
          <p:cNvSpPr>
            <a:spLocks noGrp="1"/>
          </p:cNvSpPr>
          <p:nvPr/>
        </p:nvSpPr>
        <p:spPr>
          <a:xfrm>
            <a:off x="259714" y="1297176"/>
            <a:ext cx="11672571" cy="3079751"/>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pPr>
            <a:r>
              <a:rPr kumimoji="1" lang="en-US" altLang="zh-CN" sz="2800" dirty="0">
                <a:latin typeface="Calibri" panose="020F0502020204030204" charset="0"/>
                <a:cs typeface="Calibri" panose="020F0502020204030204" charset="0"/>
                <a:sym typeface="+mn-ea"/>
              </a:rPr>
              <a:t>Inspired by DBMS, </a:t>
            </a:r>
            <a:r>
              <a:rPr kumimoji="1" lang="en-US" altLang="zh-CN" sz="2800" dirty="0" err="1">
                <a:latin typeface="Calibri" panose="020F0502020204030204" charset="0"/>
                <a:cs typeface="Calibri" panose="020F0502020204030204" charset="0"/>
                <a:sym typeface="+mn-ea"/>
              </a:rPr>
              <a:t>AutoPrep</a:t>
            </a:r>
            <a:r>
              <a:rPr kumimoji="1" lang="en-US" altLang="zh-CN" sz="2800" dirty="0">
                <a:latin typeface="Calibri" panose="020F0502020204030204" charset="0"/>
                <a:cs typeface="Calibri" panose="020F0502020204030204" charset="0"/>
                <a:sym typeface="+mn-ea"/>
              </a:rPr>
              <a:t> separates high-level (logical) data prep(DP) operations from the concrete codes (physical) for execution</a:t>
            </a:r>
          </a:p>
          <a:p>
            <a:pPr lvl="1"/>
            <a:r>
              <a:rPr kumimoji="1" lang="en-US" altLang="zh-CN" sz="2400" b="1" dirty="0">
                <a:latin typeface="Calibri" panose="020F0502020204030204" charset="0"/>
                <a:cs typeface="Calibri" panose="020F0502020204030204" charset="0"/>
                <a:sym typeface="+mn-ea"/>
              </a:rPr>
              <a:t>Phase 1: Task Planning. </a:t>
            </a:r>
            <a:r>
              <a:rPr kumimoji="1" lang="en-US" altLang="zh-CN" sz="2400" dirty="0">
                <a:latin typeface="Calibri" panose="020F0502020204030204" charset="0"/>
                <a:cs typeface="Calibri" panose="020F0502020204030204" charset="0"/>
                <a:sym typeface="+mn-ea"/>
              </a:rPr>
              <a:t>Design a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Planner agent</a:t>
            </a:r>
            <a:r>
              <a:rPr kumimoji="1" lang="en-US" altLang="zh-CN" sz="2400" dirty="0">
                <a:solidFill>
                  <a:schemeClr val="bg1"/>
                </a:solidFill>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to generate all data prep tasks and plan them in sequence, i.e., a chain of logical operations (e.g., Derive)</a:t>
            </a:r>
          </a:p>
          <a:p>
            <a:pPr lvl="1"/>
            <a:r>
              <a:rPr kumimoji="1" lang="en-US" altLang="zh-CN" sz="2400" b="1" dirty="0">
                <a:latin typeface="Calibri" panose="020F0502020204030204" charset="0"/>
                <a:cs typeface="Calibri" panose="020F0502020204030204" charset="0"/>
                <a:sym typeface="+mn-ea"/>
              </a:rPr>
              <a:t>Phase 2: Task Programming &amp; Execution. </a:t>
            </a:r>
            <a:r>
              <a:rPr kumimoji="1" lang="en-US" altLang="zh-CN" sz="2400" dirty="0">
                <a:latin typeface="Calibri" panose="020F0502020204030204" charset="0"/>
                <a:cs typeface="Calibri" panose="020F0502020204030204" charset="0"/>
                <a:sym typeface="+mn-ea"/>
              </a:rPr>
              <a:t>Assign the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Programmer agent</a:t>
            </a:r>
            <a:r>
              <a:rPr kumimoji="1" lang="en-US" altLang="zh-CN" sz="2400" b="1" dirty="0">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to implement each logical operation and an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Executor agent</a:t>
            </a:r>
            <a:r>
              <a:rPr kumimoji="1" lang="en-US" altLang="zh-CN" sz="2400" dirty="0">
                <a:latin typeface="Calibri" panose="020F0502020204030204" charset="0"/>
                <a:cs typeface="Calibri" panose="020F0502020204030204" charset="0"/>
                <a:sym typeface="+mn-ea"/>
              </a:rPr>
              <a:t> for execution</a:t>
            </a:r>
            <a:r>
              <a:rPr kumimoji="1" lang="zh-CN" altLang="en-US" sz="2400" dirty="0">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with iterative debugging</a:t>
            </a:r>
          </a:p>
        </p:txBody>
      </p:sp>
    </p:spTree>
    <p:extLst>
      <p:ext uri="{BB962C8B-B14F-4D97-AF65-F5344CB8AC3E}">
        <p14:creationId xmlns:p14="http://schemas.microsoft.com/office/powerpoint/2010/main" val="2468670022"/>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62DE1499-B4EC-4108-914E-82497CB7B852}"/>
              </a:ext>
            </a:extLst>
          </p:cNvPr>
          <p:cNvGraphicFramePr/>
          <p:nvPr>
            <p:extLst>
              <p:ext uri="{D42A27DB-BD31-4B8C-83A1-F6EECF244321}">
                <p14:modId xmlns:p14="http://schemas.microsoft.com/office/powerpoint/2010/main" val="2580314249"/>
              </p:ext>
            </p:extLst>
          </p:nvPr>
        </p:nvGraphicFramePr>
        <p:xfrm>
          <a:off x="55040" y="3932321"/>
          <a:ext cx="11991749" cy="2392364"/>
        </p:xfrm>
        <a:graphic>
          <a:graphicData uri="http://schemas.openxmlformats.org/presentationml/2006/ole">
            <mc:AlternateContent xmlns:mc="http://schemas.openxmlformats.org/markup-compatibility/2006">
              <mc:Choice xmlns:v="urn:schemas-microsoft-com:vml" Requires="v">
                <p:oleObj name="Visio" r:id="rId3" imgW="7745206" imgH="1469571" progId="Visio.Drawing.15">
                  <p:embed/>
                </p:oleObj>
              </mc:Choice>
              <mc:Fallback>
                <p:oleObj name="Visio" r:id="rId3" imgW="7745206" imgH="1469571" progId="Visio.Drawing.15">
                  <p:embed/>
                  <p:pic>
                    <p:nvPicPr>
                      <p:cNvPr id="8" name="对象 7">
                        <a:extLst>
                          <a:ext uri="{FF2B5EF4-FFF2-40B4-BE49-F238E27FC236}">
                            <a16:creationId xmlns:a16="http://schemas.microsoft.com/office/drawing/2014/main" id="{62DE1499-B4EC-4108-914E-82497CB7B852}"/>
                          </a:ext>
                        </a:extLst>
                      </p:cNvPr>
                      <p:cNvPicPr/>
                      <p:nvPr/>
                    </p:nvPicPr>
                    <p:blipFill>
                      <a:blip r:embed="rId4"/>
                      <a:stretch>
                        <a:fillRect/>
                      </a:stretch>
                    </p:blipFill>
                    <p:spPr>
                      <a:xfrm>
                        <a:off x="55040" y="3932321"/>
                        <a:ext cx="11991749" cy="2392364"/>
                      </a:xfrm>
                      <a:prstGeom prst="rect">
                        <a:avLst/>
                      </a:prstGeom>
                      <a:solidFill>
                        <a:schemeClr val="bg1"/>
                      </a:solidFill>
                    </p:spPr>
                  </p:pic>
                </p:oleObj>
              </mc:Fallback>
            </mc:AlternateContent>
          </a:graphicData>
        </a:graphic>
      </p:graphicFrame>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Our Proposed AutoPrep Framework</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11</a:t>
            </a:fld>
            <a:endParaRPr kumimoji="1" lang="zh-CN" altLang="en-US" dirty="0">
              <a:solidFill>
                <a:prstClr val="black">
                  <a:tint val="75000"/>
                </a:prstClr>
              </a:solidFill>
            </a:endParaRPr>
          </a:p>
        </p:txBody>
      </p:sp>
      <p:sp>
        <p:nvSpPr>
          <p:cNvPr id="7" name="内容占位符 2"/>
          <p:cNvSpPr>
            <a:spLocks noGrp="1"/>
          </p:cNvSpPr>
          <p:nvPr/>
        </p:nvSpPr>
        <p:spPr>
          <a:xfrm>
            <a:off x="259714" y="1297176"/>
            <a:ext cx="11672571" cy="3079751"/>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pPr>
            <a:r>
              <a:rPr kumimoji="1" lang="en-US" altLang="zh-CN" sz="2800" dirty="0">
                <a:latin typeface="Calibri" panose="020F0502020204030204" charset="0"/>
                <a:cs typeface="Calibri" panose="020F0502020204030204" charset="0"/>
                <a:sym typeface="+mn-ea"/>
              </a:rPr>
              <a:t>Inspired by DBMS, </a:t>
            </a:r>
            <a:r>
              <a:rPr kumimoji="1" lang="en-US" altLang="zh-CN" sz="2800" dirty="0" err="1">
                <a:latin typeface="Calibri" panose="020F0502020204030204" charset="0"/>
                <a:cs typeface="Calibri" panose="020F0502020204030204" charset="0"/>
                <a:sym typeface="+mn-ea"/>
              </a:rPr>
              <a:t>AutoPrep</a:t>
            </a:r>
            <a:r>
              <a:rPr kumimoji="1" lang="en-US" altLang="zh-CN" sz="2800" dirty="0">
                <a:latin typeface="Calibri" panose="020F0502020204030204" charset="0"/>
                <a:cs typeface="Calibri" panose="020F0502020204030204" charset="0"/>
                <a:sym typeface="+mn-ea"/>
              </a:rPr>
              <a:t> separates high-level (logical) data prep(DP) operations from the concrete codes (physical) for execution</a:t>
            </a:r>
          </a:p>
          <a:p>
            <a:pPr lvl="1"/>
            <a:r>
              <a:rPr kumimoji="1" lang="en-US" altLang="zh-CN" sz="2400" b="1" dirty="0">
                <a:latin typeface="Calibri" panose="020F0502020204030204" charset="0"/>
                <a:cs typeface="Calibri" panose="020F0502020204030204" charset="0"/>
                <a:sym typeface="+mn-ea"/>
              </a:rPr>
              <a:t>Phase 1: Task Planning. </a:t>
            </a:r>
            <a:r>
              <a:rPr kumimoji="1" lang="en-US" altLang="zh-CN" sz="2400" dirty="0">
                <a:latin typeface="Calibri" panose="020F0502020204030204" charset="0"/>
                <a:cs typeface="Calibri" panose="020F0502020204030204" charset="0"/>
                <a:sym typeface="+mn-ea"/>
              </a:rPr>
              <a:t>Design a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Planner agent</a:t>
            </a:r>
            <a:r>
              <a:rPr kumimoji="1" lang="en-US" altLang="zh-CN" sz="2400" dirty="0">
                <a:solidFill>
                  <a:schemeClr val="bg1"/>
                </a:solidFill>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to generate all data prep tasks and plan them in sequence, i.e., a chain of logical operations (e.g., Derive)</a:t>
            </a:r>
          </a:p>
          <a:p>
            <a:pPr lvl="1"/>
            <a:r>
              <a:rPr kumimoji="1" lang="en-US" altLang="zh-CN" sz="2400" b="1" dirty="0">
                <a:latin typeface="Calibri" panose="020F0502020204030204" charset="0"/>
                <a:cs typeface="Calibri" panose="020F0502020204030204" charset="0"/>
                <a:sym typeface="+mn-ea"/>
              </a:rPr>
              <a:t>Phase 2: Task Programming &amp; Execution. </a:t>
            </a:r>
            <a:r>
              <a:rPr kumimoji="1" lang="en-US" altLang="zh-CN" sz="2400" dirty="0">
                <a:latin typeface="Calibri" panose="020F0502020204030204" charset="0"/>
                <a:cs typeface="Calibri" panose="020F0502020204030204" charset="0"/>
                <a:sym typeface="+mn-ea"/>
              </a:rPr>
              <a:t>Assign the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Programmer agent</a:t>
            </a:r>
            <a:r>
              <a:rPr kumimoji="1" lang="en-US" altLang="zh-CN" sz="2400" b="1" dirty="0">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to implement each logical operation and an </a:t>
            </a:r>
            <a:r>
              <a:rPr kumimoji="1" lang="en-US" altLang="zh-CN" sz="2400" dirty="0">
                <a:solidFill>
                  <a:schemeClr val="bg1"/>
                </a:solidFill>
                <a:highlight>
                  <a:srgbClr val="0000FF"/>
                </a:highlight>
                <a:latin typeface="Calibri" panose="020F0502020204030204" charset="0"/>
                <a:cs typeface="Calibri" panose="020F0502020204030204" charset="0"/>
                <a:sym typeface="+mn-ea"/>
              </a:rPr>
              <a:t>Executor agent</a:t>
            </a:r>
            <a:r>
              <a:rPr kumimoji="1" lang="en-US" altLang="zh-CN" sz="2400" dirty="0">
                <a:latin typeface="Calibri" panose="020F0502020204030204" charset="0"/>
                <a:cs typeface="Calibri" panose="020F0502020204030204" charset="0"/>
                <a:sym typeface="+mn-ea"/>
              </a:rPr>
              <a:t> for execution</a:t>
            </a:r>
            <a:r>
              <a:rPr kumimoji="1" lang="zh-CN" altLang="en-US" sz="2400" dirty="0">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with iterative debugging</a:t>
            </a:r>
          </a:p>
        </p:txBody>
      </p:sp>
      <p:sp>
        <p:nvSpPr>
          <p:cNvPr id="5" name="Content Placeholder 2">
            <a:extLst>
              <a:ext uri="{FF2B5EF4-FFF2-40B4-BE49-F238E27FC236}">
                <a16:creationId xmlns:a16="http://schemas.microsoft.com/office/drawing/2014/main" id="{37494F36-D870-A64E-36C8-61E428EB5FBA}"/>
              </a:ext>
            </a:extLst>
          </p:cNvPr>
          <p:cNvSpPr txBox="1"/>
          <p:nvPr/>
        </p:nvSpPr>
        <p:spPr>
          <a:xfrm>
            <a:off x="121390" y="6312810"/>
            <a:ext cx="12016606" cy="472620"/>
          </a:xfrm>
          <a:prstGeom prst="rect">
            <a:avLst/>
          </a:prstGeom>
          <a:solidFill>
            <a:schemeClr val="bg1"/>
          </a:solidFill>
          <a:ln>
            <a:solidFill>
              <a:srgbClr val="FF0000"/>
            </a:solidFill>
          </a:ln>
        </p:spPr>
        <p:txBody>
          <a:bodyPr vert="horz" lIns="91440" tIns="45720" rIns="91440" bIns="45720" rtlCol="0">
            <a:noAutofit/>
          </a:bodyPr>
          <a:lstStyle>
            <a:lvl1pPr marL="342900" indent="-34290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gn="ctr">
              <a:buNone/>
            </a:pPr>
            <a:r>
              <a:rPr lang="en-US" dirty="0">
                <a:solidFill>
                  <a:srgbClr val="FF0000"/>
                </a:solidFill>
              </a:rPr>
              <a:t>Main Idea: decompose the </a:t>
            </a:r>
            <a:r>
              <a:rPr lang="en-US" b="1" dirty="0">
                <a:solidFill>
                  <a:srgbClr val="FF0000"/>
                </a:solidFill>
              </a:rPr>
              <a:t>complex</a:t>
            </a:r>
            <a:r>
              <a:rPr lang="en-US" dirty="0">
                <a:solidFill>
                  <a:srgbClr val="FF0000"/>
                </a:solidFill>
              </a:rPr>
              <a:t> problem into </a:t>
            </a:r>
            <a:r>
              <a:rPr lang="en-US" b="1" dirty="0">
                <a:solidFill>
                  <a:srgbClr val="FF0000"/>
                </a:solidFill>
              </a:rPr>
              <a:t>smaller, manageable </a:t>
            </a:r>
            <a:r>
              <a:rPr lang="en-US" dirty="0">
                <a:solidFill>
                  <a:srgbClr val="FF0000"/>
                </a:solidFill>
              </a:rPr>
              <a:t>sub-tasks</a:t>
            </a:r>
          </a:p>
        </p:txBody>
      </p:sp>
    </p:spTree>
    <p:extLst>
      <p:ext uri="{BB962C8B-B14F-4D97-AF65-F5344CB8AC3E}">
        <p14:creationId xmlns:p14="http://schemas.microsoft.com/office/powerpoint/2010/main" val="3127561577"/>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The Planner</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12</a:t>
            </a:fld>
            <a:endParaRPr kumimoji="1" lang="zh-CN" altLang="en-US" dirty="0">
              <a:solidFill>
                <a:prstClr val="black">
                  <a:tint val="75000"/>
                </a:prstClr>
              </a:solidFill>
            </a:endParaRPr>
          </a:p>
        </p:txBody>
      </p:sp>
      <p:sp>
        <p:nvSpPr>
          <p:cNvPr id="7" name="内容占位符 2"/>
          <p:cNvSpPr>
            <a:spLocks noGrp="1"/>
          </p:cNvSpPr>
          <p:nvPr/>
        </p:nvSpPr>
        <p:spPr>
          <a:xfrm>
            <a:off x="519429" y="1370329"/>
            <a:ext cx="11283687" cy="1163098"/>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r>
              <a:rPr kumimoji="1" lang="en-US" altLang="zh-CN" sz="2800" b="1" dirty="0">
                <a:latin typeface="Calibri" panose="020F0502020204030204" charset="0"/>
                <a:cs typeface="Calibri" panose="020F0502020204030204" charset="0"/>
                <a:sym typeface="+mn-ea"/>
              </a:rPr>
              <a:t>Challenge</a:t>
            </a:r>
            <a:r>
              <a:rPr kumimoji="1" lang="en-US" altLang="zh-CN" sz="2800" dirty="0">
                <a:latin typeface="Calibri" panose="020F0502020204030204" charset="0"/>
                <a:cs typeface="Calibri" panose="020F0502020204030204" charset="0"/>
                <a:sym typeface="+mn-ea"/>
              </a:rPr>
              <a:t>: How to align the semantics between the question and the table for data prep task generation?</a:t>
            </a:r>
            <a:endParaRPr kumimoji="1" sz="2800" dirty="0">
              <a:latin typeface="Calibri" panose="020F0502020204030204" charset="0"/>
              <a:cs typeface="Calibri" panose="020F0502020204030204" charset="0"/>
              <a:sym typeface="+mn-ea"/>
            </a:endParaRPr>
          </a:p>
        </p:txBody>
      </p:sp>
      <p:graphicFrame>
        <p:nvGraphicFramePr>
          <p:cNvPr id="6" name="对象 5">
            <a:extLst>
              <a:ext uri="{FF2B5EF4-FFF2-40B4-BE49-F238E27FC236}">
                <a16:creationId xmlns:a16="http://schemas.microsoft.com/office/drawing/2014/main" id="{722B2B96-847C-4287-85E9-3748D6113B8E}"/>
              </a:ext>
            </a:extLst>
          </p:cNvPr>
          <p:cNvGraphicFramePr/>
          <p:nvPr>
            <p:extLst>
              <p:ext uri="{D42A27DB-BD31-4B8C-83A1-F6EECF244321}">
                <p14:modId xmlns:p14="http://schemas.microsoft.com/office/powerpoint/2010/main" val="3364985954"/>
              </p:ext>
            </p:extLst>
          </p:nvPr>
        </p:nvGraphicFramePr>
        <p:xfrm>
          <a:off x="605493" y="2420471"/>
          <a:ext cx="5823098" cy="4307086"/>
        </p:xfrm>
        <a:graphic>
          <a:graphicData uri="http://schemas.openxmlformats.org/presentationml/2006/ole">
            <mc:AlternateContent xmlns:mc="http://schemas.openxmlformats.org/markup-compatibility/2006">
              <mc:Choice xmlns:v="urn:schemas-microsoft-com:vml" Requires="v">
                <p:oleObj name="Visio" r:id="rId3" imgW="2873904" imgH="1986921" progId="Visio.Drawing.15">
                  <p:embed/>
                </p:oleObj>
              </mc:Choice>
              <mc:Fallback>
                <p:oleObj name="Visio" r:id="rId3" imgW="2873904" imgH="1986921" progId="Visio.Drawing.15">
                  <p:embed/>
                  <p:pic>
                    <p:nvPicPr>
                      <p:cNvPr id="6" name="对象 5">
                        <a:extLst>
                          <a:ext uri="{FF2B5EF4-FFF2-40B4-BE49-F238E27FC236}">
                            <a16:creationId xmlns:a16="http://schemas.microsoft.com/office/drawing/2014/main" id="{722B2B96-847C-4287-85E9-3748D6113B8E}"/>
                          </a:ext>
                        </a:extLst>
                      </p:cNvPr>
                      <p:cNvPicPr/>
                      <p:nvPr/>
                    </p:nvPicPr>
                    <p:blipFill>
                      <a:blip r:embed="rId4"/>
                      <a:stretch>
                        <a:fillRect/>
                      </a:stretch>
                    </p:blipFill>
                    <p:spPr>
                      <a:xfrm>
                        <a:off x="605493" y="2420471"/>
                        <a:ext cx="5823098" cy="4307086"/>
                      </a:xfrm>
                      <a:prstGeom prst="rect">
                        <a:avLst/>
                      </a:prstGeom>
                      <a:solidFill>
                        <a:schemeClr val="bg1"/>
                      </a:solidFill>
                    </p:spPr>
                  </p:pic>
                </p:oleObj>
              </mc:Fallback>
            </mc:AlternateContent>
          </a:graphicData>
        </a:graphic>
      </p:graphicFrame>
      <p:sp>
        <p:nvSpPr>
          <p:cNvPr id="10" name="内容占位符 2">
            <a:extLst>
              <a:ext uri="{FF2B5EF4-FFF2-40B4-BE49-F238E27FC236}">
                <a16:creationId xmlns:a16="http://schemas.microsoft.com/office/drawing/2014/main" id="{07C07398-BF34-41BB-A7BC-CB9D15E95FDB}"/>
              </a:ext>
            </a:extLst>
          </p:cNvPr>
          <p:cNvSpPr>
            <a:spLocks noGrp="1"/>
          </p:cNvSpPr>
          <p:nvPr>
            <p:ph idx="1"/>
          </p:nvPr>
        </p:nvSpPr>
        <p:spPr>
          <a:xfrm>
            <a:off x="6648226" y="3560781"/>
            <a:ext cx="5239873" cy="2795571"/>
          </a:xfrm>
        </p:spPr>
        <p:txBody>
          <a:bodyPr>
            <a:normAutofit/>
          </a:bodyPr>
          <a:lstStyle/>
          <a:p>
            <a:pPr>
              <a:lnSpc>
                <a:spcPct val="100000"/>
              </a:lnSpc>
            </a:pPr>
            <a:r>
              <a:rPr kumimoji="1" lang="en-US" sz="2800" dirty="0">
                <a:latin typeface="Calibri" panose="020F0502020204030204" charset="0"/>
                <a:cs typeface="Calibri" panose="020F0502020204030204" charset="0"/>
                <a:sym typeface="+mn-ea"/>
              </a:rPr>
              <a:t>The Direct Prompting baseline</a:t>
            </a:r>
          </a:p>
          <a:p>
            <a:pPr lvl="1"/>
            <a:r>
              <a:rPr kumimoji="1" lang="en-US" altLang="zh-CN" sz="2400" dirty="0">
                <a:solidFill>
                  <a:srgbClr val="FF0000"/>
                </a:solidFill>
                <a:latin typeface="Calibri" panose="020F0502020204030204" charset="0"/>
                <a:cs typeface="Calibri" panose="020F0502020204030204" charset="0"/>
                <a:sym typeface="+mn-ea"/>
              </a:rPr>
              <a:t>Incorrect operation: Filter</a:t>
            </a:r>
          </a:p>
          <a:p>
            <a:pPr lvl="1"/>
            <a:r>
              <a:rPr kumimoji="1" lang="en-US" altLang="zh-CN" sz="2400" dirty="0">
                <a:solidFill>
                  <a:srgbClr val="FF0000"/>
                </a:solidFill>
                <a:latin typeface="Calibri" panose="020F0502020204030204" charset="0"/>
                <a:cs typeface="Calibri" panose="020F0502020204030204" charset="0"/>
                <a:sym typeface="+mn-ea"/>
              </a:rPr>
              <a:t>Missing operation: Normalize(Date)</a:t>
            </a:r>
          </a:p>
        </p:txBody>
      </p:sp>
    </p:spTree>
    <p:extLst>
      <p:ext uri="{BB962C8B-B14F-4D97-AF65-F5344CB8AC3E}">
        <p14:creationId xmlns:p14="http://schemas.microsoft.com/office/powerpoint/2010/main" val="2642589578"/>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a:extLst>
              <a:ext uri="{FF2B5EF4-FFF2-40B4-BE49-F238E27FC236}">
                <a16:creationId xmlns:a16="http://schemas.microsoft.com/office/drawing/2014/main" id="{B9B2341F-039F-4E75-BA2E-B8EB14D15D23}"/>
              </a:ext>
            </a:extLst>
          </p:cNvPr>
          <p:cNvGraphicFramePr/>
          <p:nvPr>
            <p:extLst>
              <p:ext uri="{D42A27DB-BD31-4B8C-83A1-F6EECF244321}">
                <p14:modId xmlns:p14="http://schemas.microsoft.com/office/powerpoint/2010/main" val="2116878850"/>
              </p:ext>
            </p:extLst>
          </p:nvPr>
        </p:nvGraphicFramePr>
        <p:xfrm>
          <a:off x="1406270" y="3429000"/>
          <a:ext cx="4224625" cy="3429000"/>
        </p:xfrm>
        <a:graphic>
          <a:graphicData uri="http://schemas.openxmlformats.org/presentationml/2006/ole">
            <mc:AlternateContent xmlns:mc="http://schemas.openxmlformats.org/markup-compatibility/2006">
              <mc:Choice xmlns:v="urn:schemas-microsoft-com:vml" Requires="v">
                <p:oleObj name="Visio" r:id="rId3" imgW="2961164" imgH="2612838" progId="Visio.Drawing.15">
                  <p:embed/>
                </p:oleObj>
              </mc:Choice>
              <mc:Fallback>
                <p:oleObj name="Visio" r:id="rId3" imgW="2961164" imgH="2612838" progId="Visio.Drawing.15">
                  <p:embed/>
                  <p:pic>
                    <p:nvPicPr>
                      <p:cNvPr id="7" name="对象 6">
                        <a:extLst>
                          <a:ext uri="{FF2B5EF4-FFF2-40B4-BE49-F238E27FC236}">
                            <a16:creationId xmlns:a16="http://schemas.microsoft.com/office/drawing/2014/main" id="{B9B2341F-039F-4E75-BA2E-B8EB14D15D23}"/>
                          </a:ext>
                        </a:extLst>
                      </p:cNvPr>
                      <p:cNvPicPr/>
                      <p:nvPr/>
                    </p:nvPicPr>
                    <p:blipFill>
                      <a:blip r:embed="rId4"/>
                      <a:stretch>
                        <a:fillRect/>
                      </a:stretch>
                    </p:blipFill>
                    <p:spPr>
                      <a:xfrm>
                        <a:off x="1406270" y="3429000"/>
                        <a:ext cx="4224625" cy="3429000"/>
                      </a:xfrm>
                      <a:prstGeom prst="rect">
                        <a:avLst/>
                      </a:prstGeom>
                      <a:solidFill>
                        <a:schemeClr val="bg1"/>
                      </a:solidFill>
                    </p:spPr>
                  </p:pic>
                </p:oleObj>
              </mc:Fallback>
            </mc:AlternateContent>
          </a:graphicData>
        </a:graphic>
      </p:graphicFrame>
      <p:sp>
        <p:nvSpPr>
          <p:cNvPr id="2" name="标题 1"/>
          <p:cNvSpPr>
            <a:spLocks noGrp="1"/>
          </p:cNvSpPr>
          <p:nvPr>
            <p:ph type="title"/>
          </p:nvPr>
        </p:nvSpPr>
        <p:spPr>
          <a:xfrm>
            <a:off x="519430" y="210093"/>
            <a:ext cx="11062970" cy="880372"/>
          </a:xfrm>
        </p:spPr>
        <p:txBody>
          <a:bodyPr>
            <a:normAutofit/>
          </a:bodyPr>
          <a:lstStyle/>
          <a:p>
            <a:r>
              <a:rPr kumimoji="1" lang="en-US" sz="4400" dirty="0">
                <a:sym typeface="+mn-ea"/>
              </a:rPr>
              <a:t>The Planner</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13</a:t>
            </a:fld>
            <a:endParaRPr kumimoji="1" lang="zh-CN" altLang="en-US">
              <a:solidFill>
                <a:prstClr val="black">
                  <a:tint val="75000"/>
                </a:prstClr>
              </a:solidFill>
            </a:endParaRPr>
          </a:p>
        </p:txBody>
      </p:sp>
      <p:sp>
        <p:nvSpPr>
          <p:cNvPr id="8" name="内容占位符 2">
            <a:extLst>
              <a:ext uri="{FF2B5EF4-FFF2-40B4-BE49-F238E27FC236}">
                <a16:creationId xmlns:a16="http://schemas.microsoft.com/office/drawing/2014/main" id="{B9FC145C-063D-4B58-8966-C1B6036455E1}"/>
              </a:ext>
            </a:extLst>
          </p:cNvPr>
          <p:cNvSpPr txBox="1">
            <a:spLocks/>
          </p:cNvSpPr>
          <p:nvPr/>
        </p:nvSpPr>
        <p:spPr>
          <a:xfrm>
            <a:off x="519430" y="1389446"/>
            <a:ext cx="11354707" cy="2440502"/>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r>
              <a:rPr kumimoji="1" lang="en-US" altLang="zh-CN" sz="2800" dirty="0">
                <a:latin typeface="Calibri" panose="020F0502020204030204" charset="0"/>
                <a:cs typeface="Calibri" panose="020F0502020204030204" charset="0"/>
                <a:sym typeface="+mn-ea"/>
              </a:rPr>
              <a:t>We propose a novel </a:t>
            </a:r>
            <a:r>
              <a:rPr kumimoji="1" lang="en-US" altLang="zh-CN" sz="2800" b="1" i="1" dirty="0">
                <a:latin typeface="Calibri" panose="020F0502020204030204" charset="0"/>
                <a:cs typeface="Calibri" panose="020F0502020204030204" charset="0"/>
                <a:sym typeface="+mn-ea"/>
              </a:rPr>
              <a:t>Chain-of-Clauses (CoC) reasoning </a:t>
            </a:r>
            <a:r>
              <a:rPr kumimoji="1" lang="en-US" altLang="zh-CN" sz="2800" dirty="0">
                <a:latin typeface="Calibri" panose="020F0502020204030204" charset="0"/>
                <a:cs typeface="Calibri" panose="020F0502020204030204" charset="0"/>
                <a:sym typeface="+mn-ea"/>
              </a:rPr>
              <a:t>method.</a:t>
            </a:r>
          </a:p>
          <a:p>
            <a:pPr lvl="1"/>
            <a:r>
              <a:rPr kumimoji="1" lang="en-US" altLang="zh-CN" sz="2400" b="1" dirty="0">
                <a:latin typeface="Calibri" panose="020F0502020204030204" charset="0"/>
                <a:cs typeface="Calibri" panose="020F0502020204030204" charset="0"/>
                <a:sym typeface="+mn-ea"/>
              </a:rPr>
              <a:t>Phase 1: Analysis Sketch Generation. </a:t>
            </a:r>
            <a:r>
              <a:rPr kumimoji="1" lang="en-US" altLang="zh-CN" sz="2400" dirty="0">
                <a:latin typeface="Calibri" panose="020F0502020204030204" charset="0"/>
                <a:cs typeface="Calibri" panose="020F0502020204030204" charset="0"/>
                <a:sym typeface="+mn-ea"/>
              </a:rPr>
              <a:t>Generate the analysis sketch to illustrate the question answering process over the table</a:t>
            </a:r>
          </a:p>
          <a:p>
            <a:pPr lvl="1"/>
            <a:r>
              <a:rPr kumimoji="1" lang="en-US" altLang="zh-CN" sz="2400" b="1" dirty="0">
                <a:latin typeface="Calibri" panose="020F0502020204030204" charset="0"/>
                <a:cs typeface="Calibri" panose="020F0502020204030204" charset="0"/>
                <a:sym typeface="+mn-ea"/>
              </a:rPr>
              <a:t>Phase 2: Logical Operation Generation. </a:t>
            </a:r>
            <a:r>
              <a:rPr kumimoji="1" lang="en-US" altLang="zh-CN" sz="2400" dirty="0">
                <a:latin typeface="Calibri" panose="020F0502020204030204" charset="0"/>
                <a:cs typeface="Calibri" panose="020F0502020204030204" charset="0"/>
                <a:sym typeface="+mn-ea"/>
              </a:rPr>
              <a:t>Extract each clause and prompting LLMs with corresponding data  to generate logical operations</a:t>
            </a:r>
          </a:p>
          <a:p>
            <a:pPr marL="548640" lvl="1" indent="0">
              <a:buNone/>
            </a:pPr>
            <a:endParaRPr kumimoji="1" lang="en-US" altLang="zh-CN" sz="2400" dirty="0">
              <a:latin typeface="Calibri" panose="020F0502020204030204" charset="0"/>
              <a:cs typeface="Calibri" panose="020F0502020204030204" charset="0"/>
              <a:sym typeface="+mn-ea"/>
            </a:endParaRPr>
          </a:p>
          <a:p>
            <a:pPr lvl="1"/>
            <a:endParaRPr kumimoji="1" lang="en-US" altLang="zh-CN" sz="2400" dirty="0">
              <a:latin typeface="Calibri" panose="020F0502020204030204" charset="0"/>
              <a:cs typeface="Calibri" panose="020F0502020204030204" charset="0"/>
              <a:sym typeface="+mn-ea"/>
            </a:endParaRPr>
          </a:p>
        </p:txBody>
      </p:sp>
      <p:pic>
        <p:nvPicPr>
          <p:cNvPr id="5" name="图片 4">
            <a:extLst>
              <a:ext uri="{FF2B5EF4-FFF2-40B4-BE49-F238E27FC236}">
                <a16:creationId xmlns:a16="http://schemas.microsoft.com/office/drawing/2014/main" id="{B0427175-66AF-407C-873E-7D88EF768657}"/>
              </a:ext>
            </a:extLst>
          </p:cNvPr>
          <p:cNvPicPr>
            <a:picLocks noChangeAspect="1"/>
          </p:cNvPicPr>
          <p:nvPr/>
        </p:nvPicPr>
        <p:blipFill>
          <a:blip r:embed="rId5"/>
          <a:stretch>
            <a:fillRect/>
          </a:stretch>
        </p:blipFill>
        <p:spPr>
          <a:xfrm>
            <a:off x="7405208" y="4716616"/>
            <a:ext cx="3482248" cy="751938"/>
          </a:xfrm>
          <a:prstGeom prst="rect">
            <a:avLst/>
          </a:prstGeom>
        </p:spPr>
      </p:pic>
      <p:sp>
        <p:nvSpPr>
          <p:cNvPr id="10" name="文本框 9">
            <a:extLst>
              <a:ext uri="{FF2B5EF4-FFF2-40B4-BE49-F238E27FC236}">
                <a16:creationId xmlns:a16="http://schemas.microsoft.com/office/drawing/2014/main" id="{68E311BD-11FC-4CC2-817E-02891B0D01B5}"/>
              </a:ext>
            </a:extLst>
          </p:cNvPr>
          <p:cNvSpPr txBox="1"/>
          <p:nvPr/>
        </p:nvSpPr>
        <p:spPr>
          <a:xfrm>
            <a:off x="7464751" y="5631124"/>
            <a:ext cx="2343336" cy="830997"/>
          </a:xfrm>
          <a:prstGeom prst="rect">
            <a:avLst/>
          </a:prstGeom>
          <a:noFill/>
        </p:spPr>
        <p:txBody>
          <a:bodyPr wrap="square" rtlCol="0">
            <a:spAutoFit/>
          </a:bodyPr>
          <a:lstStyle/>
          <a:p>
            <a:r>
              <a:rPr lang="en-US" altLang="zh-CN" sz="1600" i="1" dirty="0">
                <a:solidFill>
                  <a:srgbClr val="0070C0"/>
                </a:solidFill>
              </a:rPr>
              <a:t>SQL-augmented (integrated with UDF) Analysis Sketch Definition</a:t>
            </a:r>
            <a:endParaRPr lang="zh-CN" altLang="en-US" sz="1600" i="1" dirty="0">
              <a:solidFill>
                <a:srgbClr val="0070C0"/>
              </a:solidFill>
            </a:endParaRPr>
          </a:p>
        </p:txBody>
      </p:sp>
    </p:spTree>
    <p:extLst>
      <p:ext uri="{BB962C8B-B14F-4D97-AF65-F5344CB8AC3E}">
        <p14:creationId xmlns:p14="http://schemas.microsoft.com/office/powerpoint/2010/main" val="1461320719"/>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The Programmer</a:t>
            </a:r>
            <a:endParaRPr kumimoji="1" lang="en-US" sz="4400" dirty="0">
              <a:sym typeface="+mn-ea"/>
            </a:endParaRPr>
          </a:p>
        </p:txBody>
      </p:sp>
      <p:sp>
        <p:nvSpPr>
          <p:cNvPr id="3" name="内容占位符 2"/>
          <p:cNvSpPr>
            <a:spLocks noGrp="1"/>
          </p:cNvSpPr>
          <p:nvPr>
            <p:ph idx="1"/>
          </p:nvPr>
        </p:nvSpPr>
        <p:spPr>
          <a:xfrm>
            <a:off x="519430" y="1370329"/>
            <a:ext cx="11452860" cy="2023961"/>
          </a:xfrm>
        </p:spPr>
        <p:txBody>
          <a:bodyPr>
            <a:normAutofit/>
          </a:bodyPr>
          <a:lstStyle/>
          <a:p>
            <a:pPr>
              <a:lnSpc>
                <a:spcPct val="100000"/>
              </a:lnSpc>
            </a:pPr>
            <a:r>
              <a:rPr kumimoji="1" lang="en-US" altLang="zh-CN" sz="2800" b="1" dirty="0">
                <a:latin typeface="Calibri" panose="020F0502020204030204" charset="0"/>
                <a:cs typeface="Calibri" panose="020F0502020204030204" charset="0"/>
                <a:sym typeface="+mn-ea"/>
              </a:rPr>
              <a:t>Challenge</a:t>
            </a:r>
            <a:r>
              <a:rPr kumimoji="1" lang="en-US" altLang="zh-CN" sz="2800" dirty="0">
                <a:latin typeface="Calibri" panose="020F0502020204030204" charset="0"/>
                <a:cs typeface="Calibri" panose="020F0502020204030204" charset="0"/>
                <a:sym typeface="+mn-ea"/>
              </a:rPr>
              <a:t>: It is hard to address the heterogeneous challenge of tables from web or real-world scenarios which have</a:t>
            </a:r>
            <a:r>
              <a:rPr kumimoji="1" lang="zh-CN" altLang="en-US" sz="2800" dirty="0">
                <a:latin typeface="Calibri" panose="020F0502020204030204" charset="0"/>
                <a:cs typeface="Calibri" panose="020F0502020204030204" charset="0"/>
                <a:sym typeface="+mn-ea"/>
              </a:rPr>
              <a:t> </a:t>
            </a:r>
            <a:r>
              <a:rPr kumimoji="1" lang="en-US" altLang="zh-CN" sz="2800" dirty="0">
                <a:latin typeface="Calibri" panose="020F0502020204030204" charset="0"/>
                <a:cs typeface="Calibri" panose="020F0502020204030204" charset="0"/>
                <a:sym typeface="+mn-ea"/>
              </a:rPr>
              <a:t>a large amount of inconsistent data</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14</a:t>
            </a:fld>
            <a:endParaRPr kumimoji="1" lang="zh-CN" altLang="en-US">
              <a:solidFill>
                <a:prstClr val="black">
                  <a:tint val="75000"/>
                </a:prstClr>
              </a:solidFill>
            </a:endParaRPr>
          </a:p>
        </p:txBody>
      </p:sp>
      <p:grpSp>
        <p:nvGrpSpPr>
          <p:cNvPr id="25" name="组合 24">
            <a:extLst>
              <a:ext uri="{FF2B5EF4-FFF2-40B4-BE49-F238E27FC236}">
                <a16:creationId xmlns:a16="http://schemas.microsoft.com/office/drawing/2014/main" id="{124564AD-747E-0FD3-51F6-2FFE8DBE3112}"/>
              </a:ext>
            </a:extLst>
          </p:cNvPr>
          <p:cNvGrpSpPr/>
          <p:nvPr/>
        </p:nvGrpSpPr>
        <p:grpSpPr>
          <a:xfrm>
            <a:off x="2396863" y="3045030"/>
            <a:ext cx="4982464" cy="1301960"/>
            <a:chOff x="820589" y="3394290"/>
            <a:chExt cx="4284810" cy="1058175"/>
          </a:xfrm>
        </p:grpSpPr>
        <p:sp>
          <p:nvSpPr>
            <p:cNvPr id="7" name="矩形 6">
              <a:extLst>
                <a:ext uri="{FF2B5EF4-FFF2-40B4-BE49-F238E27FC236}">
                  <a16:creationId xmlns:a16="http://schemas.microsoft.com/office/drawing/2014/main" id="{06B0EA54-C9F8-1551-9654-1A44E139EAD9}"/>
                </a:ext>
              </a:extLst>
            </p:cNvPr>
            <p:cNvSpPr/>
            <p:nvPr/>
          </p:nvSpPr>
          <p:spPr>
            <a:xfrm>
              <a:off x="1641856" y="3395133"/>
              <a:ext cx="965877"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Country</a:t>
              </a:r>
              <a:endParaRPr kumimoji="1" lang="zh-CN" altLang="en-US" dirty="0">
                <a:ln w="0"/>
                <a:solidFill>
                  <a:schemeClr val="tx1"/>
                </a:solidFill>
              </a:endParaRPr>
            </a:p>
          </p:txBody>
        </p:sp>
        <p:sp>
          <p:nvSpPr>
            <p:cNvPr id="9" name="矩形 8">
              <a:extLst>
                <a:ext uri="{FF2B5EF4-FFF2-40B4-BE49-F238E27FC236}">
                  <a16:creationId xmlns:a16="http://schemas.microsoft.com/office/drawing/2014/main" id="{8F563790-8D6A-EEB9-4164-B28A29D288F3}"/>
                </a:ext>
              </a:extLst>
            </p:cNvPr>
            <p:cNvSpPr/>
            <p:nvPr/>
          </p:nvSpPr>
          <p:spPr>
            <a:xfrm>
              <a:off x="2607734" y="3395133"/>
              <a:ext cx="728134"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Medal</a:t>
              </a:r>
              <a:endParaRPr kumimoji="1" lang="zh-CN" altLang="en-US" dirty="0">
                <a:ln w="0"/>
                <a:solidFill>
                  <a:schemeClr val="tx1"/>
                </a:solidFill>
              </a:endParaRPr>
            </a:p>
          </p:txBody>
        </p:sp>
        <p:sp>
          <p:nvSpPr>
            <p:cNvPr id="10" name="矩形 9">
              <a:extLst>
                <a:ext uri="{FF2B5EF4-FFF2-40B4-BE49-F238E27FC236}">
                  <a16:creationId xmlns:a16="http://schemas.microsoft.com/office/drawing/2014/main" id="{134E2F8B-4AB1-5574-B668-3AC39CD6C043}"/>
                </a:ext>
              </a:extLst>
            </p:cNvPr>
            <p:cNvSpPr/>
            <p:nvPr/>
          </p:nvSpPr>
          <p:spPr>
            <a:xfrm>
              <a:off x="820589" y="3394290"/>
              <a:ext cx="821267"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Name</a:t>
              </a:r>
              <a:endParaRPr kumimoji="1" lang="zh-CN" altLang="en-US" dirty="0">
                <a:ln w="0"/>
                <a:solidFill>
                  <a:schemeClr val="tx1"/>
                </a:solidFill>
              </a:endParaRPr>
            </a:p>
          </p:txBody>
        </p:sp>
        <p:sp>
          <p:nvSpPr>
            <p:cNvPr id="11" name="矩形 10">
              <a:extLst>
                <a:ext uri="{FF2B5EF4-FFF2-40B4-BE49-F238E27FC236}">
                  <a16:creationId xmlns:a16="http://schemas.microsoft.com/office/drawing/2014/main" id="{AECDA3A2-F2D1-BA76-5DE9-92C570D71042}"/>
                </a:ext>
              </a:extLst>
            </p:cNvPr>
            <p:cNvSpPr/>
            <p:nvPr/>
          </p:nvSpPr>
          <p:spPr>
            <a:xfrm>
              <a:off x="1641856" y="3660309"/>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CN</a:t>
              </a:r>
              <a:endParaRPr kumimoji="1" lang="zh-CN" altLang="en-US" dirty="0">
                <a:ln w="0"/>
                <a:solidFill>
                  <a:srgbClr val="FF0000"/>
                </a:solidFill>
              </a:endParaRPr>
            </a:p>
          </p:txBody>
        </p:sp>
        <p:sp>
          <p:nvSpPr>
            <p:cNvPr id="12" name="矩形 11">
              <a:extLst>
                <a:ext uri="{FF2B5EF4-FFF2-40B4-BE49-F238E27FC236}">
                  <a16:creationId xmlns:a16="http://schemas.microsoft.com/office/drawing/2014/main" id="{EDCA9156-7EE9-82FE-8E6D-9B86061B81A5}"/>
                </a:ext>
              </a:extLst>
            </p:cNvPr>
            <p:cNvSpPr/>
            <p:nvPr/>
          </p:nvSpPr>
          <p:spPr>
            <a:xfrm>
              <a:off x="2607734" y="3660309"/>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3</a:t>
              </a:r>
              <a:endParaRPr kumimoji="1" lang="zh-CN" altLang="en-US" dirty="0">
                <a:ln w="0"/>
                <a:solidFill>
                  <a:schemeClr val="tx1"/>
                </a:solidFill>
              </a:endParaRPr>
            </a:p>
          </p:txBody>
        </p:sp>
        <p:sp>
          <p:nvSpPr>
            <p:cNvPr id="13" name="矩形 12">
              <a:extLst>
                <a:ext uri="{FF2B5EF4-FFF2-40B4-BE49-F238E27FC236}">
                  <a16:creationId xmlns:a16="http://schemas.microsoft.com/office/drawing/2014/main" id="{6C07E992-1F92-A19C-5714-ABB5CEAC9632}"/>
                </a:ext>
              </a:extLst>
            </p:cNvPr>
            <p:cNvSpPr/>
            <p:nvPr/>
          </p:nvSpPr>
          <p:spPr>
            <a:xfrm>
              <a:off x="820589" y="3659466"/>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err="1">
                  <a:ln w="0"/>
                  <a:solidFill>
                    <a:schemeClr val="tx1"/>
                  </a:solidFill>
                </a:rPr>
                <a:t>Alej</a:t>
              </a:r>
              <a:endParaRPr kumimoji="1" lang="zh-CN" altLang="en-US" dirty="0">
                <a:ln w="0"/>
                <a:solidFill>
                  <a:schemeClr val="tx1"/>
                </a:solidFill>
              </a:endParaRPr>
            </a:p>
          </p:txBody>
        </p:sp>
        <p:sp>
          <p:nvSpPr>
            <p:cNvPr id="14" name="矩形 13">
              <a:extLst>
                <a:ext uri="{FF2B5EF4-FFF2-40B4-BE49-F238E27FC236}">
                  <a16:creationId xmlns:a16="http://schemas.microsoft.com/office/drawing/2014/main" id="{E2277ECF-B47A-60F9-51E9-EA818CD5F12E}"/>
                </a:ext>
              </a:extLst>
            </p:cNvPr>
            <p:cNvSpPr/>
            <p:nvPr/>
          </p:nvSpPr>
          <p:spPr>
            <a:xfrm>
              <a:off x="1641856" y="3924642"/>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ITA</a:t>
              </a:r>
              <a:endParaRPr kumimoji="1" lang="zh-CN" altLang="en-US" dirty="0">
                <a:ln w="0"/>
                <a:solidFill>
                  <a:srgbClr val="FF0000"/>
                </a:solidFill>
              </a:endParaRPr>
            </a:p>
          </p:txBody>
        </p:sp>
        <p:sp>
          <p:nvSpPr>
            <p:cNvPr id="15" name="矩形 14">
              <a:extLst>
                <a:ext uri="{FF2B5EF4-FFF2-40B4-BE49-F238E27FC236}">
                  <a16:creationId xmlns:a16="http://schemas.microsoft.com/office/drawing/2014/main" id="{B75B5757-35CD-21BC-A986-6F03A31EEA1D}"/>
                </a:ext>
              </a:extLst>
            </p:cNvPr>
            <p:cNvSpPr/>
            <p:nvPr/>
          </p:nvSpPr>
          <p:spPr>
            <a:xfrm>
              <a:off x="2607734" y="3924642"/>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2</a:t>
              </a:r>
              <a:endParaRPr kumimoji="1" lang="zh-CN" altLang="en-US" dirty="0">
                <a:ln w="0"/>
                <a:solidFill>
                  <a:schemeClr val="tx1"/>
                </a:solidFill>
              </a:endParaRPr>
            </a:p>
          </p:txBody>
        </p:sp>
        <p:sp>
          <p:nvSpPr>
            <p:cNvPr id="16" name="矩形 15">
              <a:extLst>
                <a:ext uri="{FF2B5EF4-FFF2-40B4-BE49-F238E27FC236}">
                  <a16:creationId xmlns:a16="http://schemas.microsoft.com/office/drawing/2014/main" id="{0C5A6522-7692-F209-923D-F43DFC67D2D2}"/>
                </a:ext>
              </a:extLst>
            </p:cNvPr>
            <p:cNvSpPr/>
            <p:nvPr/>
          </p:nvSpPr>
          <p:spPr>
            <a:xfrm>
              <a:off x="820589" y="3923799"/>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err="1">
                  <a:ln w="0"/>
                  <a:solidFill>
                    <a:schemeClr val="tx1"/>
                  </a:solidFill>
                </a:rPr>
                <a:t>Dav</a:t>
              </a:r>
              <a:endParaRPr kumimoji="1" lang="zh-CN" altLang="en-US" dirty="0">
                <a:ln w="0"/>
                <a:solidFill>
                  <a:schemeClr val="tx1"/>
                </a:solidFill>
              </a:endParaRPr>
            </a:p>
          </p:txBody>
        </p:sp>
        <p:sp>
          <p:nvSpPr>
            <p:cNvPr id="17" name="矩形 16">
              <a:extLst>
                <a:ext uri="{FF2B5EF4-FFF2-40B4-BE49-F238E27FC236}">
                  <a16:creationId xmlns:a16="http://schemas.microsoft.com/office/drawing/2014/main" id="{31779651-46DB-FBAF-56C9-4A878B6107CC}"/>
                </a:ext>
              </a:extLst>
            </p:cNvPr>
            <p:cNvSpPr/>
            <p:nvPr/>
          </p:nvSpPr>
          <p:spPr>
            <a:xfrm>
              <a:off x="1641856" y="4187289"/>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Italia</a:t>
              </a:r>
              <a:endParaRPr kumimoji="1" lang="zh-CN" altLang="en-US" dirty="0">
                <a:ln w="0"/>
                <a:solidFill>
                  <a:srgbClr val="FF0000"/>
                </a:solidFill>
              </a:endParaRPr>
            </a:p>
          </p:txBody>
        </p:sp>
        <p:sp>
          <p:nvSpPr>
            <p:cNvPr id="18" name="矩形 17">
              <a:extLst>
                <a:ext uri="{FF2B5EF4-FFF2-40B4-BE49-F238E27FC236}">
                  <a16:creationId xmlns:a16="http://schemas.microsoft.com/office/drawing/2014/main" id="{A4190DBF-7B0F-4CFF-B1EE-DB05C50C4293}"/>
                </a:ext>
              </a:extLst>
            </p:cNvPr>
            <p:cNvSpPr/>
            <p:nvPr/>
          </p:nvSpPr>
          <p:spPr>
            <a:xfrm>
              <a:off x="2607734" y="4187289"/>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2</a:t>
              </a:r>
              <a:endParaRPr kumimoji="1" lang="zh-CN" altLang="en-US" dirty="0">
                <a:ln w="0"/>
                <a:solidFill>
                  <a:schemeClr val="tx1"/>
                </a:solidFill>
              </a:endParaRPr>
            </a:p>
          </p:txBody>
        </p:sp>
        <p:sp>
          <p:nvSpPr>
            <p:cNvPr id="19" name="矩形 18">
              <a:extLst>
                <a:ext uri="{FF2B5EF4-FFF2-40B4-BE49-F238E27FC236}">
                  <a16:creationId xmlns:a16="http://schemas.microsoft.com/office/drawing/2014/main" id="{1901CE09-CA64-5898-00DC-ED525C9337C2}"/>
                </a:ext>
              </a:extLst>
            </p:cNvPr>
            <p:cNvSpPr/>
            <p:nvPr/>
          </p:nvSpPr>
          <p:spPr>
            <a:xfrm>
              <a:off x="820589" y="4186446"/>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Alex</a:t>
              </a:r>
              <a:endParaRPr kumimoji="1" lang="zh-CN" altLang="en-US" dirty="0">
                <a:ln w="0"/>
                <a:solidFill>
                  <a:schemeClr val="tx1"/>
                </a:solidFill>
              </a:endParaRPr>
            </a:p>
          </p:txBody>
        </p:sp>
        <p:sp>
          <p:nvSpPr>
            <p:cNvPr id="21" name="矩形 20">
              <a:extLst>
                <a:ext uri="{FF2B5EF4-FFF2-40B4-BE49-F238E27FC236}">
                  <a16:creationId xmlns:a16="http://schemas.microsoft.com/office/drawing/2014/main" id="{ED258E88-10DD-E9B9-4543-F9D66228B6FC}"/>
                </a:ext>
              </a:extLst>
            </p:cNvPr>
            <p:cNvSpPr/>
            <p:nvPr/>
          </p:nvSpPr>
          <p:spPr>
            <a:xfrm>
              <a:off x="3335866" y="3394290"/>
              <a:ext cx="1769533"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Date</a:t>
              </a:r>
              <a:endParaRPr kumimoji="1" lang="zh-CN" altLang="en-US" dirty="0">
                <a:ln w="0"/>
                <a:solidFill>
                  <a:schemeClr val="tx1"/>
                </a:solidFill>
              </a:endParaRPr>
            </a:p>
          </p:txBody>
        </p:sp>
        <p:sp>
          <p:nvSpPr>
            <p:cNvPr id="22" name="矩形 21">
              <a:extLst>
                <a:ext uri="{FF2B5EF4-FFF2-40B4-BE49-F238E27FC236}">
                  <a16:creationId xmlns:a16="http://schemas.microsoft.com/office/drawing/2014/main" id="{A4651ADA-EF6F-7815-B921-547CDCD9FEA4}"/>
                </a:ext>
              </a:extLst>
            </p:cNvPr>
            <p:cNvSpPr/>
            <p:nvPr/>
          </p:nvSpPr>
          <p:spPr>
            <a:xfrm>
              <a:off x="3335866" y="3659466"/>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6, April, 2013</a:t>
              </a:r>
              <a:endParaRPr kumimoji="1" lang="zh-CN" altLang="en-US" dirty="0">
                <a:ln w="0"/>
                <a:solidFill>
                  <a:srgbClr val="FF0000"/>
                </a:solidFill>
              </a:endParaRPr>
            </a:p>
          </p:txBody>
        </p:sp>
        <p:sp>
          <p:nvSpPr>
            <p:cNvPr id="23" name="矩形 22">
              <a:extLst>
                <a:ext uri="{FF2B5EF4-FFF2-40B4-BE49-F238E27FC236}">
                  <a16:creationId xmlns:a16="http://schemas.microsoft.com/office/drawing/2014/main" id="{5BF54CB5-1DC4-31FE-F366-AA9049F335C0}"/>
                </a:ext>
              </a:extLst>
            </p:cNvPr>
            <p:cNvSpPr/>
            <p:nvPr/>
          </p:nvSpPr>
          <p:spPr>
            <a:xfrm>
              <a:off x="3335866" y="3923799"/>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2013-11-24</a:t>
              </a:r>
              <a:endParaRPr kumimoji="1" lang="zh-CN" altLang="en-US" dirty="0">
                <a:ln w="0"/>
                <a:solidFill>
                  <a:srgbClr val="FF0000"/>
                </a:solidFill>
              </a:endParaRPr>
            </a:p>
          </p:txBody>
        </p:sp>
        <p:sp>
          <p:nvSpPr>
            <p:cNvPr id="24" name="矩形 23">
              <a:extLst>
                <a:ext uri="{FF2B5EF4-FFF2-40B4-BE49-F238E27FC236}">
                  <a16:creationId xmlns:a16="http://schemas.microsoft.com/office/drawing/2014/main" id="{00211C27-07C0-42BE-E981-ED98E243EF42}"/>
                </a:ext>
              </a:extLst>
            </p:cNvPr>
            <p:cNvSpPr/>
            <p:nvPr/>
          </p:nvSpPr>
          <p:spPr>
            <a:xfrm>
              <a:off x="3335866" y="4186446"/>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December 1, 2013</a:t>
              </a:r>
              <a:endParaRPr kumimoji="1" lang="zh-CN" altLang="en-US" dirty="0">
                <a:ln w="0"/>
                <a:solidFill>
                  <a:srgbClr val="FF0000"/>
                </a:solidFill>
              </a:endParaRPr>
            </a:p>
          </p:txBody>
        </p:sp>
      </p:grpSp>
      <p:sp>
        <p:nvSpPr>
          <p:cNvPr id="26" name="文本框 25">
            <a:extLst>
              <a:ext uri="{FF2B5EF4-FFF2-40B4-BE49-F238E27FC236}">
                <a16:creationId xmlns:a16="http://schemas.microsoft.com/office/drawing/2014/main" id="{27DCC6CE-DAA6-95FF-F2AF-9DD9A6F2B526}"/>
              </a:ext>
            </a:extLst>
          </p:cNvPr>
          <p:cNvSpPr txBox="1"/>
          <p:nvPr/>
        </p:nvSpPr>
        <p:spPr>
          <a:xfrm>
            <a:off x="519430" y="4692351"/>
            <a:ext cx="3299301" cy="1169551"/>
          </a:xfrm>
          <a:prstGeom prst="rect">
            <a:avLst/>
          </a:prstGeom>
          <a:noFill/>
          <a:ln>
            <a:noFill/>
          </a:ln>
        </p:spPr>
        <p:txBody>
          <a:bodyPr wrap="none" rtlCol="0">
            <a:spAutoFit/>
          </a:bodyPr>
          <a:lstStyle/>
          <a:p>
            <a:r>
              <a:rPr lang="en" altLang="zh-CN" sz="1400" b="0" dirty="0">
                <a:solidFill>
                  <a:srgbClr val="AF00DB"/>
                </a:solidFill>
                <a:effectLst/>
                <a:latin typeface="Menlo" panose="020B0609030804020204" pitchFamily="49" charset="0"/>
              </a:rPr>
              <a:t>if</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'CN‘</a:t>
            </a:r>
            <a:r>
              <a:rPr lang="en" altLang="zh-CN" sz="1400" b="0" dirty="0">
                <a:solidFill>
                  <a:srgbClr val="000000"/>
                </a:solidFill>
                <a:effectLst/>
                <a:latin typeface="Menlo" panose="020B0609030804020204" pitchFamily="49" charset="0"/>
              </a:rPr>
              <a:t>:</a:t>
            </a:r>
          </a:p>
          <a:p>
            <a:r>
              <a:rPr lang="zh-CN" altLang="en-US" sz="1400" b="0" dirty="0">
                <a:solidFill>
                  <a:srgbClr val="00108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'China'</a:t>
            </a:r>
            <a:endParaRPr lang="en" altLang="zh-CN" sz="1400" b="0" dirty="0">
              <a:solidFill>
                <a:srgbClr val="000000"/>
              </a:solidFill>
              <a:effectLst/>
              <a:latin typeface="Menlo" panose="020B0609030804020204" pitchFamily="49" charset="0"/>
            </a:endParaRPr>
          </a:p>
          <a:p>
            <a:r>
              <a:rPr lang="en" altLang="zh-CN" sz="1400" b="0" dirty="0" err="1">
                <a:solidFill>
                  <a:srgbClr val="AF00DB"/>
                </a:solidFill>
                <a:effectLst/>
                <a:latin typeface="Menlo" panose="020B0609030804020204" pitchFamily="49" charset="0"/>
              </a:rPr>
              <a:t>elif</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'ITA‘</a:t>
            </a:r>
            <a:r>
              <a:rPr lang="en" altLang="zh-CN" sz="1400" b="0" dirty="0">
                <a:solidFill>
                  <a:srgbClr val="000000"/>
                </a:solidFill>
                <a:effectLst/>
                <a:latin typeface="Menlo" panose="020B0609030804020204" pitchFamily="49" charset="0"/>
              </a:rPr>
              <a:t>:</a:t>
            </a:r>
          </a:p>
          <a:p>
            <a:r>
              <a:rPr lang="zh-CN" altLang="en-US" sz="1400" b="0" dirty="0">
                <a:solidFill>
                  <a:srgbClr val="00108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'Italy'</a:t>
            </a:r>
            <a:endParaRPr lang="en" altLang="zh-CN" sz="1400" b="0" dirty="0">
              <a:solidFill>
                <a:srgbClr val="000000"/>
              </a:solidFill>
              <a:effectLst/>
              <a:latin typeface="Menlo" panose="020B0609030804020204" pitchFamily="49" charset="0"/>
            </a:endParaRPr>
          </a:p>
          <a:p>
            <a:r>
              <a:rPr lang="en" altLang="zh-CN" sz="1400" b="0" dirty="0">
                <a:solidFill>
                  <a:srgbClr val="000000"/>
                </a:solidFill>
                <a:effectLst/>
                <a:latin typeface="Menlo" panose="020B0609030804020204" pitchFamily="49" charset="0"/>
              </a:rPr>
              <a:t>...</a:t>
            </a:r>
          </a:p>
        </p:txBody>
      </p:sp>
      <p:sp>
        <p:nvSpPr>
          <p:cNvPr id="27" name="矩形 26">
            <a:extLst>
              <a:ext uri="{FF2B5EF4-FFF2-40B4-BE49-F238E27FC236}">
                <a16:creationId xmlns:a16="http://schemas.microsoft.com/office/drawing/2014/main" id="{942BCA1E-30B1-8A23-D96B-91F85C014682}"/>
              </a:ext>
            </a:extLst>
          </p:cNvPr>
          <p:cNvSpPr/>
          <p:nvPr/>
        </p:nvSpPr>
        <p:spPr>
          <a:xfrm>
            <a:off x="3256781" y="3298180"/>
            <a:ext cx="1287902" cy="1119312"/>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9E41DB11-8427-D890-3B10-F4179ACAC816}"/>
              </a:ext>
            </a:extLst>
          </p:cNvPr>
          <p:cNvSpPr/>
          <p:nvPr/>
        </p:nvSpPr>
        <p:spPr>
          <a:xfrm>
            <a:off x="5404601" y="3298180"/>
            <a:ext cx="1886908" cy="1119312"/>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146B83D3-07B6-C5AB-088E-DBDCA0B27E74}"/>
              </a:ext>
            </a:extLst>
          </p:cNvPr>
          <p:cNvSpPr/>
          <p:nvPr/>
        </p:nvSpPr>
        <p:spPr>
          <a:xfrm>
            <a:off x="181384" y="4597809"/>
            <a:ext cx="3959549" cy="1901473"/>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cxnSp>
        <p:nvCxnSpPr>
          <p:cNvPr id="33" name="直线箭头连接符 32">
            <a:extLst>
              <a:ext uri="{FF2B5EF4-FFF2-40B4-BE49-F238E27FC236}">
                <a16:creationId xmlns:a16="http://schemas.microsoft.com/office/drawing/2014/main" id="{3373FD0B-056F-B83B-ABFA-DF5D798E6320}"/>
              </a:ext>
            </a:extLst>
          </p:cNvPr>
          <p:cNvCxnSpPr>
            <a:cxnSpLocks/>
            <a:stCxn id="27" idx="1"/>
            <a:endCxn id="31" idx="0"/>
          </p:cNvCxnSpPr>
          <p:nvPr/>
        </p:nvCxnSpPr>
        <p:spPr>
          <a:xfrm rot="10800000" flipV="1">
            <a:off x="2161159" y="3857835"/>
            <a:ext cx="1095622" cy="739973"/>
          </a:xfrm>
          <a:prstGeom prst="bentConnector2">
            <a:avLst/>
          </a:prstGeom>
          <a:ln>
            <a:solidFill>
              <a:srgbClr val="FF0000"/>
            </a:solidFill>
            <a:tailEnd type="triangle" w="lg" len="lg"/>
          </a:ln>
        </p:spPr>
        <p:style>
          <a:lnRef idx="2">
            <a:schemeClr val="accent2"/>
          </a:lnRef>
          <a:fillRef idx="0">
            <a:schemeClr val="accent2"/>
          </a:fillRef>
          <a:effectRef idx="1">
            <a:schemeClr val="accent2"/>
          </a:effectRef>
          <a:fontRef idx="minor">
            <a:schemeClr val="tx1"/>
          </a:fontRef>
        </p:style>
      </p:cxnSp>
      <p:sp>
        <p:nvSpPr>
          <p:cNvPr id="39" name="文本框 38">
            <a:extLst>
              <a:ext uri="{FF2B5EF4-FFF2-40B4-BE49-F238E27FC236}">
                <a16:creationId xmlns:a16="http://schemas.microsoft.com/office/drawing/2014/main" id="{0E726F8F-C6C7-C90F-35E7-EB6C3D3DB309}"/>
              </a:ext>
            </a:extLst>
          </p:cNvPr>
          <p:cNvSpPr txBox="1"/>
          <p:nvPr/>
        </p:nvSpPr>
        <p:spPr>
          <a:xfrm>
            <a:off x="4889661" y="4632000"/>
            <a:ext cx="4351321" cy="1815882"/>
          </a:xfrm>
          <a:prstGeom prst="rect">
            <a:avLst/>
          </a:prstGeom>
          <a:noFill/>
          <a:ln>
            <a:noFill/>
          </a:ln>
        </p:spPr>
        <p:txBody>
          <a:bodyPr wrap="square" rtlCol="0">
            <a:spAutoFit/>
          </a:bodyPr>
          <a:lstStyle/>
          <a:p>
            <a:r>
              <a:rPr lang="en" altLang="zh-CN" sz="1400" b="0" dirty="0" err="1">
                <a:solidFill>
                  <a:srgbClr val="001080"/>
                </a:solidFill>
                <a:effectLst/>
                <a:latin typeface="Menlo" panose="020B0609030804020204" pitchFamily="49" charset="0"/>
              </a:rPr>
              <a:t>possi_formats</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a:t>
            </a:r>
            <a:r>
              <a:rPr lang="en" altLang="zh-CN" sz="1400" b="0" dirty="0">
                <a:solidFill>
                  <a:srgbClr val="0000FF"/>
                </a:solidFill>
                <a:effectLst/>
                <a:latin typeface="Menlo" panose="020B0609030804020204" pitchFamily="49" charset="0"/>
              </a:rPr>
              <a:t>%d</a:t>
            </a:r>
            <a:r>
              <a:rPr lang="en" altLang="zh-CN" sz="1400" b="0" dirty="0">
                <a:solidFill>
                  <a:srgbClr val="A31515"/>
                </a:solidFill>
                <a:effectLst/>
                <a:latin typeface="Menlo" panose="020B0609030804020204" pitchFamily="49" charset="0"/>
              </a:rPr>
              <a:t>, %B, %Y’</a:t>
            </a:r>
            <a:r>
              <a:rPr lang="en" altLang="zh-CN" sz="1400" b="0" dirty="0">
                <a:solidFill>
                  <a:srgbClr val="000000"/>
                </a:solidFill>
                <a:effectLst/>
                <a:latin typeface="Menlo" panose="020B0609030804020204" pitchFamily="49" charset="0"/>
              </a:rPr>
              <a:t>, </a:t>
            </a:r>
          </a:p>
          <a:p>
            <a:r>
              <a:rPr lang="en" altLang="zh-CN" sz="1400" b="0" dirty="0">
                <a:solidFill>
                  <a:srgbClr val="A31515"/>
                </a:solidFill>
                <a:effectLst/>
                <a:latin typeface="Menlo" panose="020B0609030804020204" pitchFamily="49" charset="0"/>
              </a:rPr>
              <a:t>'%Y-%m-</a:t>
            </a:r>
            <a:r>
              <a:rPr lang="en" altLang="zh-CN" sz="1400" b="0" dirty="0">
                <a:solidFill>
                  <a:srgbClr val="0000FF"/>
                </a:solidFill>
                <a:effectLst/>
                <a:latin typeface="Menlo" panose="020B0609030804020204" pitchFamily="49" charset="0"/>
              </a:rPr>
              <a:t>%d</a:t>
            </a:r>
            <a:r>
              <a:rPr lang="en" altLang="zh-CN" sz="1400" b="0" dirty="0">
                <a:solidFill>
                  <a:srgbClr val="A31515"/>
                </a:solidFill>
                <a:effectLst/>
                <a:latin typeface="Menlo" panose="020B0609030804020204" pitchFamily="49" charset="0"/>
              </a:rPr>
              <a:t>’</a:t>
            </a:r>
            <a:r>
              <a:rPr lang="en" altLang="zh-CN" sz="1400" b="0" dirty="0">
                <a:solidFill>
                  <a:srgbClr val="000000"/>
                </a:solidFill>
                <a:effectLst/>
                <a:latin typeface="Menlo" panose="020B0609030804020204" pitchFamily="49" charset="0"/>
              </a:rPr>
              <a:t>, ...]</a:t>
            </a:r>
          </a:p>
          <a:p>
            <a:br>
              <a:rPr lang="en" altLang="zh-CN" sz="1400" b="0" dirty="0">
                <a:solidFill>
                  <a:srgbClr val="000000"/>
                </a:solidFill>
                <a:effectLst/>
                <a:latin typeface="Menlo" panose="020B0609030804020204" pitchFamily="49" charset="0"/>
              </a:rPr>
            </a:br>
            <a:r>
              <a:rPr lang="en" altLang="zh-CN" sz="1400" b="0" dirty="0">
                <a:solidFill>
                  <a:srgbClr val="AF00DB"/>
                </a:solidFill>
                <a:effectLst/>
                <a:latin typeface="Menlo" panose="020B0609030804020204" pitchFamily="49" charset="0"/>
              </a:rPr>
              <a:t>for</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 </a:t>
            </a:r>
            <a:r>
              <a:rPr lang="en" altLang="zh-CN" sz="1400" b="0" dirty="0">
                <a:solidFill>
                  <a:srgbClr val="AF00DB"/>
                </a:solidFill>
                <a:effectLst/>
                <a:latin typeface="Menlo" panose="020B0609030804020204" pitchFamily="49" charset="0"/>
              </a:rPr>
              <a:t>in</a:t>
            </a:r>
            <a:r>
              <a:rPr lang="en" altLang="zh-CN" sz="1400" b="0" dirty="0">
                <a:solidFill>
                  <a:srgbClr val="000000"/>
                </a:solidFill>
                <a:effectLst/>
                <a:latin typeface="Menlo" panose="020B0609030804020204" pitchFamily="49" charset="0"/>
              </a:rPr>
              <a:t> </a:t>
            </a:r>
            <a:r>
              <a:rPr lang="en" altLang="zh-CN" sz="1400" b="0" dirty="0" err="1">
                <a:solidFill>
                  <a:srgbClr val="001080"/>
                </a:solidFill>
                <a:effectLst/>
                <a:latin typeface="Menlo" panose="020B0609030804020204" pitchFamily="49" charset="0"/>
              </a:rPr>
              <a:t>possi_formats</a:t>
            </a:r>
            <a:r>
              <a:rPr lang="en" altLang="zh-CN" sz="1400" b="0" dirty="0">
                <a:solidFill>
                  <a:srgbClr val="000000"/>
                </a:solidFill>
                <a:effectLst/>
                <a:latin typeface="Menlo" panose="020B0609030804020204" pitchFamily="49" charset="0"/>
              </a:rPr>
              <a:t>:</a:t>
            </a:r>
          </a:p>
          <a:p>
            <a:r>
              <a:rPr lang="en" altLang="zh-CN" sz="1400" b="0" dirty="0">
                <a:solidFill>
                  <a:srgbClr val="AF00DB"/>
                </a:solidFill>
                <a:effectLst/>
                <a:latin typeface="Menlo" panose="020B0609030804020204" pitchFamily="49" charset="0"/>
              </a:rPr>
              <a:t>    try</a:t>
            </a:r>
            <a:r>
              <a:rPr lang="en" altLang="zh-CN" sz="1400" b="0" dirty="0">
                <a:solidFill>
                  <a:srgbClr val="000000"/>
                </a:solidFill>
                <a:effectLst/>
                <a:latin typeface="Menlo" panose="020B0609030804020204" pitchFamily="49" charset="0"/>
              </a:rPr>
              <a:t>:</a:t>
            </a:r>
          </a:p>
          <a:p>
            <a:r>
              <a:rPr lang="en" altLang="zh-CN" sz="1400" b="0" dirty="0">
                <a:solidFill>
                  <a:srgbClr val="001080"/>
                </a:solidFill>
                <a:effectLst/>
                <a:latin typeface="Menlo" panose="020B0609030804020204" pitchFamily="49" charset="0"/>
              </a:rPr>
              <a:t>        </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err="1">
                <a:solidFill>
                  <a:srgbClr val="267F99"/>
                </a:solidFill>
                <a:effectLst/>
                <a:latin typeface="Menlo" panose="020B0609030804020204" pitchFamily="49" charset="0"/>
              </a:rPr>
              <a:t>pd</a:t>
            </a:r>
            <a:r>
              <a:rPr lang="en" altLang="zh-CN" sz="1400" b="0" dirty="0" err="1">
                <a:solidFill>
                  <a:srgbClr val="000000"/>
                </a:solidFill>
                <a:effectLst/>
                <a:latin typeface="Menlo" panose="020B0609030804020204" pitchFamily="49" charset="0"/>
              </a:rPr>
              <a:t>.</a:t>
            </a:r>
            <a:r>
              <a:rPr lang="en" altLang="zh-CN" sz="1400" b="0" dirty="0" err="1">
                <a:solidFill>
                  <a:srgbClr val="795E26"/>
                </a:solidFill>
                <a:effectLst/>
                <a:latin typeface="Menlo" panose="020B0609030804020204" pitchFamily="49" charset="0"/>
              </a:rPr>
              <a:t>to_datetime</a:t>
            </a:r>
            <a:r>
              <a:rPr lang="en" altLang="zh-CN" sz="1400" b="0" dirty="0">
                <a:solidFill>
                  <a:srgbClr val="000000"/>
                </a:solidFill>
                <a:effectLst/>
                <a:latin typeface="Menlo" panose="020B0609030804020204" pitchFamily="49" charset="0"/>
              </a:rPr>
              <a:t>(</a:t>
            </a:r>
          </a:p>
          <a:p>
            <a:r>
              <a:rPr lang="en" altLang="zh-CN" sz="1400" dirty="0">
                <a:solidFill>
                  <a:srgbClr val="000000"/>
                </a:solidFill>
                <a:latin typeface="Menlo" panose="020B0609030804020204" pitchFamily="49" charset="0"/>
              </a:rPr>
              <a:t>           </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'Date'</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a:t>
            </a:r>
          </a:p>
          <a:p>
            <a:r>
              <a:rPr lang="en" altLang="zh-CN" sz="1400" dirty="0">
                <a:solidFill>
                  <a:srgbClr val="000000"/>
                </a:solidFill>
                <a:latin typeface="Menlo" panose="020B0609030804020204" pitchFamily="49" charset="0"/>
              </a:rPr>
              <a:t>	</a:t>
            </a:r>
            <a:r>
              <a:rPr lang="en" altLang="zh-CN" sz="1400" b="0" dirty="0">
                <a:solidFill>
                  <a:srgbClr val="000000"/>
                </a:solidFill>
                <a:effectLst/>
                <a:latin typeface="Menlo" panose="020B0609030804020204" pitchFamily="49" charset="0"/>
              </a:rPr>
              <a:t>...</a:t>
            </a:r>
          </a:p>
        </p:txBody>
      </p:sp>
      <p:sp>
        <p:nvSpPr>
          <p:cNvPr id="42" name="矩形 41">
            <a:extLst>
              <a:ext uri="{FF2B5EF4-FFF2-40B4-BE49-F238E27FC236}">
                <a16:creationId xmlns:a16="http://schemas.microsoft.com/office/drawing/2014/main" id="{06FA744D-C3F1-AD63-3FDF-4308838323C3}"/>
              </a:ext>
            </a:extLst>
          </p:cNvPr>
          <p:cNvSpPr/>
          <p:nvPr/>
        </p:nvSpPr>
        <p:spPr>
          <a:xfrm>
            <a:off x="4900577" y="4597809"/>
            <a:ext cx="7020801" cy="1901473"/>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cxnSp>
        <p:nvCxnSpPr>
          <p:cNvPr id="44" name="直线箭头连接符 32">
            <a:extLst>
              <a:ext uri="{FF2B5EF4-FFF2-40B4-BE49-F238E27FC236}">
                <a16:creationId xmlns:a16="http://schemas.microsoft.com/office/drawing/2014/main" id="{2C70A62A-2E7F-CA8A-728D-87B8C79AB8FD}"/>
              </a:ext>
            </a:extLst>
          </p:cNvPr>
          <p:cNvCxnSpPr>
            <a:cxnSpLocks/>
            <a:stCxn id="28" idx="3"/>
            <a:endCxn id="42" idx="0"/>
          </p:cNvCxnSpPr>
          <p:nvPr/>
        </p:nvCxnSpPr>
        <p:spPr>
          <a:xfrm>
            <a:off x="7291509" y="3857836"/>
            <a:ext cx="1119469" cy="739973"/>
          </a:xfrm>
          <a:prstGeom prst="bentConnector2">
            <a:avLst/>
          </a:prstGeom>
          <a:ln>
            <a:solidFill>
              <a:srgbClr val="FF0000"/>
            </a:solidFill>
            <a:tailEnd type="triangle" w="lg" len="lg"/>
          </a:ln>
        </p:spPr>
        <p:style>
          <a:lnRef idx="2">
            <a:schemeClr val="accent2"/>
          </a:lnRef>
          <a:fillRef idx="0">
            <a:schemeClr val="accent2"/>
          </a:fillRef>
          <a:effectRef idx="1">
            <a:schemeClr val="accent2"/>
          </a:effectRef>
          <a:fontRef idx="minor">
            <a:schemeClr val="tx1"/>
          </a:fontRef>
        </p:style>
      </p:cxnSp>
      <p:sp>
        <p:nvSpPr>
          <p:cNvPr id="20" name="乘 19">
            <a:extLst>
              <a:ext uri="{FF2B5EF4-FFF2-40B4-BE49-F238E27FC236}">
                <a16:creationId xmlns:a16="http://schemas.microsoft.com/office/drawing/2014/main" id="{5B2A6AF5-1396-DCF4-AC0E-7ECE772087D6}"/>
              </a:ext>
            </a:extLst>
          </p:cNvPr>
          <p:cNvSpPr/>
          <p:nvPr/>
        </p:nvSpPr>
        <p:spPr>
          <a:xfrm>
            <a:off x="2035852" y="5692246"/>
            <a:ext cx="661165" cy="646578"/>
          </a:xfrm>
          <a:prstGeom prst="mathMultiply">
            <a:avLst>
              <a:gd name="adj1" fmla="val 1302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CN" altLang="en-US"/>
          </a:p>
        </p:txBody>
      </p:sp>
      <p:sp>
        <p:nvSpPr>
          <p:cNvPr id="34" name="乘 33">
            <a:extLst>
              <a:ext uri="{FF2B5EF4-FFF2-40B4-BE49-F238E27FC236}">
                <a16:creationId xmlns:a16="http://schemas.microsoft.com/office/drawing/2014/main" id="{5DA6BDAF-4039-6022-F36A-C39C7375A29C}"/>
              </a:ext>
            </a:extLst>
          </p:cNvPr>
          <p:cNvSpPr/>
          <p:nvPr/>
        </p:nvSpPr>
        <p:spPr>
          <a:xfrm>
            <a:off x="9989710" y="5324509"/>
            <a:ext cx="661165" cy="646578"/>
          </a:xfrm>
          <a:prstGeom prst="mathMultiply">
            <a:avLst>
              <a:gd name="adj1" fmla="val 13023"/>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278719924"/>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The Programmer</a:t>
            </a:r>
            <a:endParaRPr kumimoji="1" lang="en-US" sz="4400" dirty="0">
              <a:sym typeface="+mn-ea"/>
            </a:endParaRPr>
          </a:p>
        </p:txBody>
      </p:sp>
      <p:sp>
        <p:nvSpPr>
          <p:cNvPr id="3" name="内容占位符 2"/>
          <p:cNvSpPr>
            <a:spLocks noGrp="1"/>
          </p:cNvSpPr>
          <p:nvPr>
            <p:ph idx="1"/>
          </p:nvPr>
        </p:nvSpPr>
        <p:spPr>
          <a:xfrm>
            <a:off x="519430" y="1370329"/>
            <a:ext cx="11452860" cy="2023961"/>
          </a:xfrm>
        </p:spPr>
        <p:txBody>
          <a:bodyPr>
            <a:normAutofit/>
          </a:bodyPr>
          <a:lstStyle/>
          <a:p>
            <a:pPr>
              <a:lnSpc>
                <a:spcPct val="100000"/>
              </a:lnSpc>
            </a:pPr>
            <a:r>
              <a:rPr kumimoji="1" lang="en-US" altLang="zh-CN" sz="2800" b="1" dirty="0">
                <a:latin typeface="Calibri" panose="020F0502020204030204" charset="0"/>
                <a:cs typeface="Calibri" panose="020F0502020204030204" charset="0"/>
                <a:sym typeface="+mn-ea"/>
              </a:rPr>
              <a:t>Challenge</a:t>
            </a:r>
            <a:r>
              <a:rPr kumimoji="1" lang="en-US" altLang="zh-CN" sz="2800" dirty="0">
                <a:latin typeface="Calibri" panose="020F0502020204030204" charset="0"/>
                <a:cs typeface="Calibri" panose="020F0502020204030204" charset="0"/>
                <a:sym typeface="+mn-ea"/>
              </a:rPr>
              <a:t>: It is hard to address the heterogeneous challenge of tables from web or real-world scenarios which have</a:t>
            </a:r>
            <a:r>
              <a:rPr kumimoji="1" lang="zh-CN" altLang="en-US" sz="2800" dirty="0">
                <a:latin typeface="Calibri" panose="020F0502020204030204" charset="0"/>
                <a:cs typeface="Calibri" panose="020F0502020204030204" charset="0"/>
                <a:sym typeface="+mn-ea"/>
              </a:rPr>
              <a:t> </a:t>
            </a:r>
            <a:r>
              <a:rPr kumimoji="1" lang="en-US" altLang="zh-CN" sz="2800" dirty="0">
                <a:latin typeface="Calibri" panose="020F0502020204030204" charset="0"/>
                <a:cs typeface="Calibri" panose="020F0502020204030204" charset="0"/>
                <a:sym typeface="+mn-ea"/>
              </a:rPr>
              <a:t>a large amount of inconsistent data</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15</a:t>
            </a:fld>
            <a:endParaRPr kumimoji="1" lang="zh-CN" altLang="en-US">
              <a:solidFill>
                <a:prstClr val="black">
                  <a:tint val="75000"/>
                </a:prstClr>
              </a:solidFill>
            </a:endParaRPr>
          </a:p>
        </p:txBody>
      </p:sp>
      <p:grpSp>
        <p:nvGrpSpPr>
          <p:cNvPr id="25" name="组合 24">
            <a:extLst>
              <a:ext uri="{FF2B5EF4-FFF2-40B4-BE49-F238E27FC236}">
                <a16:creationId xmlns:a16="http://schemas.microsoft.com/office/drawing/2014/main" id="{124564AD-747E-0FD3-51F6-2FFE8DBE3112}"/>
              </a:ext>
            </a:extLst>
          </p:cNvPr>
          <p:cNvGrpSpPr/>
          <p:nvPr/>
        </p:nvGrpSpPr>
        <p:grpSpPr>
          <a:xfrm>
            <a:off x="2396863" y="3045030"/>
            <a:ext cx="4982464" cy="1301960"/>
            <a:chOff x="820589" y="3394290"/>
            <a:chExt cx="4284810" cy="1058175"/>
          </a:xfrm>
        </p:grpSpPr>
        <p:sp>
          <p:nvSpPr>
            <p:cNvPr id="7" name="矩形 6">
              <a:extLst>
                <a:ext uri="{FF2B5EF4-FFF2-40B4-BE49-F238E27FC236}">
                  <a16:creationId xmlns:a16="http://schemas.microsoft.com/office/drawing/2014/main" id="{06B0EA54-C9F8-1551-9654-1A44E139EAD9}"/>
                </a:ext>
              </a:extLst>
            </p:cNvPr>
            <p:cNvSpPr/>
            <p:nvPr/>
          </p:nvSpPr>
          <p:spPr>
            <a:xfrm>
              <a:off x="1641856" y="3395133"/>
              <a:ext cx="965877"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Country</a:t>
              </a:r>
              <a:endParaRPr kumimoji="1" lang="zh-CN" altLang="en-US" dirty="0">
                <a:ln w="0"/>
                <a:solidFill>
                  <a:schemeClr val="tx1"/>
                </a:solidFill>
              </a:endParaRPr>
            </a:p>
          </p:txBody>
        </p:sp>
        <p:sp>
          <p:nvSpPr>
            <p:cNvPr id="9" name="矩形 8">
              <a:extLst>
                <a:ext uri="{FF2B5EF4-FFF2-40B4-BE49-F238E27FC236}">
                  <a16:creationId xmlns:a16="http://schemas.microsoft.com/office/drawing/2014/main" id="{8F563790-8D6A-EEB9-4164-B28A29D288F3}"/>
                </a:ext>
              </a:extLst>
            </p:cNvPr>
            <p:cNvSpPr/>
            <p:nvPr/>
          </p:nvSpPr>
          <p:spPr>
            <a:xfrm>
              <a:off x="2607734" y="3395133"/>
              <a:ext cx="728134"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Medal</a:t>
              </a:r>
              <a:endParaRPr kumimoji="1" lang="zh-CN" altLang="en-US" dirty="0">
                <a:ln w="0"/>
                <a:solidFill>
                  <a:schemeClr val="tx1"/>
                </a:solidFill>
              </a:endParaRPr>
            </a:p>
          </p:txBody>
        </p:sp>
        <p:sp>
          <p:nvSpPr>
            <p:cNvPr id="10" name="矩形 9">
              <a:extLst>
                <a:ext uri="{FF2B5EF4-FFF2-40B4-BE49-F238E27FC236}">
                  <a16:creationId xmlns:a16="http://schemas.microsoft.com/office/drawing/2014/main" id="{134E2F8B-4AB1-5574-B668-3AC39CD6C043}"/>
                </a:ext>
              </a:extLst>
            </p:cNvPr>
            <p:cNvSpPr/>
            <p:nvPr/>
          </p:nvSpPr>
          <p:spPr>
            <a:xfrm>
              <a:off x="820589" y="3394290"/>
              <a:ext cx="821267"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Name</a:t>
              </a:r>
              <a:endParaRPr kumimoji="1" lang="zh-CN" altLang="en-US" dirty="0">
                <a:ln w="0"/>
                <a:solidFill>
                  <a:schemeClr val="tx1"/>
                </a:solidFill>
              </a:endParaRPr>
            </a:p>
          </p:txBody>
        </p:sp>
        <p:sp>
          <p:nvSpPr>
            <p:cNvPr id="11" name="矩形 10">
              <a:extLst>
                <a:ext uri="{FF2B5EF4-FFF2-40B4-BE49-F238E27FC236}">
                  <a16:creationId xmlns:a16="http://schemas.microsoft.com/office/drawing/2014/main" id="{AECDA3A2-F2D1-BA76-5DE9-92C570D71042}"/>
                </a:ext>
              </a:extLst>
            </p:cNvPr>
            <p:cNvSpPr/>
            <p:nvPr/>
          </p:nvSpPr>
          <p:spPr>
            <a:xfrm>
              <a:off x="1641856" y="3660309"/>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CN</a:t>
              </a:r>
              <a:endParaRPr kumimoji="1" lang="zh-CN" altLang="en-US" dirty="0">
                <a:ln w="0"/>
                <a:solidFill>
                  <a:srgbClr val="FF0000"/>
                </a:solidFill>
              </a:endParaRPr>
            </a:p>
          </p:txBody>
        </p:sp>
        <p:sp>
          <p:nvSpPr>
            <p:cNvPr id="12" name="矩形 11">
              <a:extLst>
                <a:ext uri="{FF2B5EF4-FFF2-40B4-BE49-F238E27FC236}">
                  <a16:creationId xmlns:a16="http://schemas.microsoft.com/office/drawing/2014/main" id="{EDCA9156-7EE9-82FE-8E6D-9B86061B81A5}"/>
                </a:ext>
              </a:extLst>
            </p:cNvPr>
            <p:cNvSpPr/>
            <p:nvPr/>
          </p:nvSpPr>
          <p:spPr>
            <a:xfrm>
              <a:off x="2607734" y="3660309"/>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3</a:t>
              </a:r>
              <a:endParaRPr kumimoji="1" lang="zh-CN" altLang="en-US" dirty="0">
                <a:ln w="0"/>
                <a:solidFill>
                  <a:schemeClr val="tx1"/>
                </a:solidFill>
              </a:endParaRPr>
            </a:p>
          </p:txBody>
        </p:sp>
        <p:sp>
          <p:nvSpPr>
            <p:cNvPr id="13" name="矩形 12">
              <a:extLst>
                <a:ext uri="{FF2B5EF4-FFF2-40B4-BE49-F238E27FC236}">
                  <a16:creationId xmlns:a16="http://schemas.microsoft.com/office/drawing/2014/main" id="{6C07E992-1F92-A19C-5714-ABB5CEAC9632}"/>
                </a:ext>
              </a:extLst>
            </p:cNvPr>
            <p:cNvSpPr/>
            <p:nvPr/>
          </p:nvSpPr>
          <p:spPr>
            <a:xfrm>
              <a:off x="820589" y="3659466"/>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err="1">
                  <a:ln w="0"/>
                  <a:solidFill>
                    <a:schemeClr val="tx1"/>
                  </a:solidFill>
                </a:rPr>
                <a:t>Alej</a:t>
              </a:r>
              <a:endParaRPr kumimoji="1" lang="zh-CN" altLang="en-US" dirty="0">
                <a:ln w="0"/>
                <a:solidFill>
                  <a:schemeClr val="tx1"/>
                </a:solidFill>
              </a:endParaRPr>
            </a:p>
          </p:txBody>
        </p:sp>
        <p:sp>
          <p:nvSpPr>
            <p:cNvPr id="14" name="矩形 13">
              <a:extLst>
                <a:ext uri="{FF2B5EF4-FFF2-40B4-BE49-F238E27FC236}">
                  <a16:creationId xmlns:a16="http://schemas.microsoft.com/office/drawing/2014/main" id="{E2277ECF-B47A-60F9-51E9-EA818CD5F12E}"/>
                </a:ext>
              </a:extLst>
            </p:cNvPr>
            <p:cNvSpPr/>
            <p:nvPr/>
          </p:nvSpPr>
          <p:spPr>
            <a:xfrm>
              <a:off x="1641856" y="3924642"/>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ITA</a:t>
              </a:r>
              <a:endParaRPr kumimoji="1" lang="zh-CN" altLang="en-US" dirty="0">
                <a:ln w="0"/>
                <a:solidFill>
                  <a:srgbClr val="FF0000"/>
                </a:solidFill>
              </a:endParaRPr>
            </a:p>
          </p:txBody>
        </p:sp>
        <p:sp>
          <p:nvSpPr>
            <p:cNvPr id="15" name="矩形 14">
              <a:extLst>
                <a:ext uri="{FF2B5EF4-FFF2-40B4-BE49-F238E27FC236}">
                  <a16:creationId xmlns:a16="http://schemas.microsoft.com/office/drawing/2014/main" id="{B75B5757-35CD-21BC-A986-6F03A31EEA1D}"/>
                </a:ext>
              </a:extLst>
            </p:cNvPr>
            <p:cNvSpPr/>
            <p:nvPr/>
          </p:nvSpPr>
          <p:spPr>
            <a:xfrm>
              <a:off x="2607734" y="3924642"/>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2</a:t>
              </a:r>
              <a:endParaRPr kumimoji="1" lang="zh-CN" altLang="en-US" dirty="0">
                <a:ln w="0"/>
                <a:solidFill>
                  <a:schemeClr val="tx1"/>
                </a:solidFill>
              </a:endParaRPr>
            </a:p>
          </p:txBody>
        </p:sp>
        <p:sp>
          <p:nvSpPr>
            <p:cNvPr id="16" name="矩形 15">
              <a:extLst>
                <a:ext uri="{FF2B5EF4-FFF2-40B4-BE49-F238E27FC236}">
                  <a16:creationId xmlns:a16="http://schemas.microsoft.com/office/drawing/2014/main" id="{0C5A6522-7692-F209-923D-F43DFC67D2D2}"/>
                </a:ext>
              </a:extLst>
            </p:cNvPr>
            <p:cNvSpPr/>
            <p:nvPr/>
          </p:nvSpPr>
          <p:spPr>
            <a:xfrm>
              <a:off x="820589" y="3923799"/>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err="1">
                  <a:ln w="0"/>
                  <a:solidFill>
                    <a:schemeClr val="tx1"/>
                  </a:solidFill>
                </a:rPr>
                <a:t>Dav</a:t>
              </a:r>
              <a:endParaRPr kumimoji="1" lang="zh-CN" altLang="en-US" dirty="0">
                <a:ln w="0"/>
                <a:solidFill>
                  <a:schemeClr val="tx1"/>
                </a:solidFill>
              </a:endParaRPr>
            </a:p>
          </p:txBody>
        </p:sp>
        <p:sp>
          <p:nvSpPr>
            <p:cNvPr id="17" name="矩形 16">
              <a:extLst>
                <a:ext uri="{FF2B5EF4-FFF2-40B4-BE49-F238E27FC236}">
                  <a16:creationId xmlns:a16="http://schemas.microsoft.com/office/drawing/2014/main" id="{31779651-46DB-FBAF-56C9-4A878B6107CC}"/>
                </a:ext>
              </a:extLst>
            </p:cNvPr>
            <p:cNvSpPr/>
            <p:nvPr/>
          </p:nvSpPr>
          <p:spPr>
            <a:xfrm>
              <a:off x="1641856" y="4187289"/>
              <a:ext cx="96587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Italia</a:t>
              </a:r>
              <a:endParaRPr kumimoji="1" lang="zh-CN" altLang="en-US" dirty="0">
                <a:ln w="0"/>
                <a:solidFill>
                  <a:srgbClr val="FF0000"/>
                </a:solidFill>
              </a:endParaRPr>
            </a:p>
          </p:txBody>
        </p:sp>
        <p:sp>
          <p:nvSpPr>
            <p:cNvPr id="18" name="矩形 17">
              <a:extLst>
                <a:ext uri="{FF2B5EF4-FFF2-40B4-BE49-F238E27FC236}">
                  <a16:creationId xmlns:a16="http://schemas.microsoft.com/office/drawing/2014/main" id="{A4190DBF-7B0F-4CFF-B1EE-DB05C50C4293}"/>
                </a:ext>
              </a:extLst>
            </p:cNvPr>
            <p:cNvSpPr/>
            <p:nvPr/>
          </p:nvSpPr>
          <p:spPr>
            <a:xfrm>
              <a:off x="2607734" y="4187289"/>
              <a:ext cx="728134"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2</a:t>
              </a:r>
              <a:endParaRPr kumimoji="1" lang="zh-CN" altLang="en-US" dirty="0">
                <a:ln w="0"/>
                <a:solidFill>
                  <a:schemeClr val="tx1"/>
                </a:solidFill>
              </a:endParaRPr>
            </a:p>
          </p:txBody>
        </p:sp>
        <p:sp>
          <p:nvSpPr>
            <p:cNvPr id="19" name="矩形 18">
              <a:extLst>
                <a:ext uri="{FF2B5EF4-FFF2-40B4-BE49-F238E27FC236}">
                  <a16:creationId xmlns:a16="http://schemas.microsoft.com/office/drawing/2014/main" id="{1901CE09-CA64-5898-00DC-ED525C9337C2}"/>
                </a:ext>
              </a:extLst>
            </p:cNvPr>
            <p:cNvSpPr/>
            <p:nvPr/>
          </p:nvSpPr>
          <p:spPr>
            <a:xfrm>
              <a:off x="820589" y="4186446"/>
              <a:ext cx="821267"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Alex</a:t>
              </a:r>
              <a:endParaRPr kumimoji="1" lang="zh-CN" altLang="en-US" dirty="0">
                <a:ln w="0"/>
                <a:solidFill>
                  <a:schemeClr val="tx1"/>
                </a:solidFill>
              </a:endParaRPr>
            </a:p>
          </p:txBody>
        </p:sp>
        <p:sp>
          <p:nvSpPr>
            <p:cNvPr id="21" name="矩形 20">
              <a:extLst>
                <a:ext uri="{FF2B5EF4-FFF2-40B4-BE49-F238E27FC236}">
                  <a16:creationId xmlns:a16="http://schemas.microsoft.com/office/drawing/2014/main" id="{ED258E88-10DD-E9B9-4543-F9D66228B6FC}"/>
                </a:ext>
              </a:extLst>
            </p:cNvPr>
            <p:cNvSpPr/>
            <p:nvPr/>
          </p:nvSpPr>
          <p:spPr>
            <a:xfrm>
              <a:off x="3335866" y="3394290"/>
              <a:ext cx="1769533" cy="265176"/>
            </a:xfrm>
            <a:prstGeom prst="rect">
              <a:avLst/>
            </a:prstGeom>
            <a:solidFill>
              <a:schemeClr val="accent1">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chemeClr val="tx1"/>
                  </a:solidFill>
                </a:rPr>
                <a:t>Date</a:t>
              </a:r>
              <a:endParaRPr kumimoji="1" lang="zh-CN" altLang="en-US" dirty="0">
                <a:ln w="0"/>
                <a:solidFill>
                  <a:schemeClr val="tx1"/>
                </a:solidFill>
              </a:endParaRPr>
            </a:p>
          </p:txBody>
        </p:sp>
        <p:sp>
          <p:nvSpPr>
            <p:cNvPr id="22" name="矩形 21">
              <a:extLst>
                <a:ext uri="{FF2B5EF4-FFF2-40B4-BE49-F238E27FC236}">
                  <a16:creationId xmlns:a16="http://schemas.microsoft.com/office/drawing/2014/main" id="{A4651ADA-EF6F-7815-B921-547CDCD9FEA4}"/>
                </a:ext>
              </a:extLst>
            </p:cNvPr>
            <p:cNvSpPr/>
            <p:nvPr/>
          </p:nvSpPr>
          <p:spPr>
            <a:xfrm>
              <a:off x="3335866" y="3659466"/>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6, April, 2013</a:t>
              </a:r>
              <a:endParaRPr kumimoji="1" lang="zh-CN" altLang="en-US" dirty="0">
                <a:ln w="0"/>
                <a:solidFill>
                  <a:srgbClr val="FF0000"/>
                </a:solidFill>
              </a:endParaRPr>
            </a:p>
          </p:txBody>
        </p:sp>
        <p:sp>
          <p:nvSpPr>
            <p:cNvPr id="23" name="矩形 22">
              <a:extLst>
                <a:ext uri="{FF2B5EF4-FFF2-40B4-BE49-F238E27FC236}">
                  <a16:creationId xmlns:a16="http://schemas.microsoft.com/office/drawing/2014/main" id="{5BF54CB5-1DC4-31FE-F366-AA9049F335C0}"/>
                </a:ext>
              </a:extLst>
            </p:cNvPr>
            <p:cNvSpPr/>
            <p:nvPr/>
          </p:nvSpPr>
          <p:spPr>
            <a:xfrm>
              <a:off x="3335866" y="3923799"/>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2013-11-24</a:t>
              </a:r>
              <a:endParaRPr kumimoji="1" lang="zh-CN" altLang="en-US" dirty="0">
                <a:ln w="0"/>
                <a:solidFill>
                  <a:srgbClr val="FF0000"/>
                </a:solidFill>
              </a:endParaRPr>
            </a:p>
          </p:txBody>
        </p:sp>
        <p:sp>
          <p:nvSpPr>
            <p:cNvPr id="24" name="矩形 23">
              <a:extLst>
                <a:ext uri="{FF2B5EF4-FFF2-40B4-BE49-F238E27FC236}">
                  <a16:creationId xmlns:a16="http://schemas.microsoft.com/office/drawing/2014/main" id="{00211C27-07C0-42BE-E981-ED98E243EF42}"/>
                </a:ext>
              </a:extLst>
            </p:cNvPr>
            <p:cNvSpPr/>
            <p:nvPr/>
          </p:nvSpPr>
          <p:spPr>
            <a:xfrm>
              <a:off x="3335866" y="4186446"/>
              <a:ext cx="1769533" cy="265176"/>
            </a:xfrm>
            <a:prstGeom prst="rect">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ln w="0"/>
                  <a:solidFill>
                    <a:srgbClr val="FF0000"/>
                  </a:solidFill>
                </a:rPr>
                <a:t>December 1, 2013</a:t>
              </a:r>
              <a:endParaRPr kumimoji="1" lang="zh-CN" altLang="en-US" dirty="0">
                <a:ln w="0"/>
                <a:solidFill>
                  <a:srgbClr val="FF0000"/>
                </a:solidFill>
              </a:endParaRPr>
            </a:p>
          </p:txBody>
        </p:sp>
      </p:grpSp>
      <p:sp>
        <p:nvSpPr>
          <p:cNvPr id="26" name="文本框 25">
            <a:extLst>
              <a:ext uri="{FF2B5EF4-FFF2-40B4-BE49-F238E27FC236}">
                <a16:creationId xmlns:a16="http://schemas.microsoft.com/office/drawing/2014/main" id="{27DCC6CE-DAA6-95FF-F2AF-9DD9A6F2B526}"/>
              </a:ext>
            </a:extLst>
          </p:cNvPr>
          <p:cNvSpPr txBox="1"/>
          <p:nvPr/>
        </p:nvSpPr>
        <p:spPr>
          <a:xfrm>
            <a:off x="519430" y="4692351"/>
            <a:ext cx="3299301" cy="1169551"/>
          </a:xfrm>
          <a:prstGeom prst="rect">
            <a:avLst/>
          </a:prstGeom>
          <a:noFill/>
          <a:ln>
            <a:noFill/>
          </a:ln>
        </p:spPr>
        <p:txBody>
          <a:bodyPr wrap="none" rtlCol="0">
            <a:spAutoFit/>
          </a:bodyPr>
          <a:lstStyle/>
          <a:p>
            <a:r>
              <a:rPr lang="en" altLang="zh-CN" sz="1400" b="0" dirty="0">
                <a:solidFill>
                  <a:srgbClr val="AF00DB"/>
                </a:solidFill>
                <a:effectLst/>
                <a:latin typeface="Menlo" panose="020B0609030804020204" pitchFamily="49" charset="0"/>
              </a:rPr>
              <a:t>if</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'CN‘</a:t>
            </a:r>
            <a:r>
              <a:rPr lang="en" altLang="zh-CN" sz="1400" b="0" dirty="0">
                <a:solidFill>
                  <a:srgbClr val="000000"/>
                </a:solidFill>
                <a:effectLst/>
                <a:latin typeface="Menlo" panose="020B0609030804020204" pitchFamily="49" charset="0"/>
              </a:rPr>
              <a:t>:</a:t>
            </a:r>
          </a:p>
          <a:p>
            <a:r>
              <a:rPr lang="zh-CN" altLang="en-US" sz="1400" b="0" dirty="0">
                <a:solidFill>
                  <a:srgbClr val="00108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'China'</a:t>
            </a:r>
            <a:endParaRPr lang="en" altLang="zh-CN" sz="1400" b="0" dirty="0">
              <a:solidFill>
                <a:srgbClr val="000000"/>
              </a:solidFill>
              <a:effectLst/>
              <a:latin typeface="Menlo" panose="020B0609030804020204" pitchFamily="49" charset="0"/>
            </a:endParaRPr>
          </a:p>
          <a:p>
            <a:r>
              <a:rPr lang="en" altLang="zh-CN" sz="1400" b="0" dirty="0" err="1">
                <a:solidFill>
                  <a:srgbClr val="AF00DB"/>
                </a:solidFill>
                <a:effectLst/>
                <a:latin typeface="Menlo" panose="020B0609030804020204" pitchFamily="49" charset="0"/>
              </a:rPr>
              <a:t>elif</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'ITA‘</a:t>
            </a:r>
            <a:r>
              <a:rPr lang="en" altLang="zh-CN" sz="1400" b="0" dirty="0">
                <a:solidFill>
                  <a:srgbClr val="000000"/>
                </a:solidFill>
                <a:effectLst/>
                <a:latin typeface="Menlo" panose="020B0609030804020204" pitchFamily="49" charset="0"/>
              </a:rPr>
              <a:t>:</a:t>
            </a:r>
          </a:p>
          <a:p>
            <a:r>
              <a:rPr lang="zh-CN" altLang="en-US" sz="1400" b="0" dirty="0">
                <a:solidFill>
                  <a:srgbClr val="00108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row</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'Italy'</a:t>
            </a:r>
            <a:endParaRPr lang="en" altLang="zh-CN" sz="1400" b="0" dirty="0">
              <a:solidFill>
                <a:srgbClr val="000000"/>
              </a:solidFill>
              <a:effectLst/>
              <a:latin typeface="Menlo" panose="020B0609030804020204" pitchFamily="49" charset="0"/>
            </a:endParaRPr>
          </a:p>
          <a:p>
            <a:r>
              <a:rPr lang="en" altLang="zh-CN" sz="1400" b="0" dirty="0">
                <a:solidFill>
                  <a:srgbClr val="000000"/>
                </a:solidFill>
                <a:effectLst/>
                <a:latin typeface="Menlo" panose="020B0609030804020204" pitchFamily="49" charset="0"/>
              </a:rPr>
              <a:t>...</a:t>
            </a:r>
          </a:p>
        </p:txBody>
      </p:sp>
      <p:sp>
        <p:nvSpPr>
          <p:cNvPr id="27" name="矩形 26">
            <a:extLst>
              <a:ext uri="{FF2B5EF4-FFF2-40B4-BE49-F238E27FC236}">
                <a16:creationId xmlns:a16="http://schemas.microsoft.com/office/drawing/2014/main" id="{942BCA1E-30B1-8A23-D96B-91F85C014682}"/>
              </a:ext>
            </a:extLst>
          </p:cNvPr>
          <p:cNvSpPr/>
          <p:nvPr/>
        </p:nvSpPr>
        <p:spPr>
          <a:xfrm>
            <a:off x="3256781" y="3298180"/>
            <a:ext cx="1287902" cy="1119312"/>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28" name="矩形 27">
            <a:extLst>
              <a:ext uri="{FF2B5EF4-FFF2-40B4-BE49-F238E27FC236}">
                <a16:creationId xmlns:a16="http://schemas.microsoft.com/office/drawing/2014/main" id="{9E41DB11-8427-D890-3B10-F4179ACAC816}"/>
              </a:ext>
            </a:extLst>
          </p:cNvPr>
          <p:cNvSpPr/>
          <p:nvPr/>
        </p:nvSpPr>
        <p:spPr>
          <a:xfrm>
            <a:off x="5404601" y="3298180"/>
            <a:ext cx="1886908" cy="1119312"/>
          </a:xfrm>
          <a:prstGeom prst="rect">
            <a:avLst/>
          </a:prstGeom>
          <a:noFill/>
          <a:ln w="127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
        <p:nvSpPr>
          <p:cNvPr id="31" name="矩形 30">
            <a:extLst>
              <a:ext uri="{FF2B5EF4-FFF2-40B4-BE49-F238E27FC236}">
                <a16:creationId xmlns:a16="http://schemas.microsoft.com/office/drawing/2014/main" id="{146B83D3-07B6-C5AB-088E-DBDCA0B27E74}"/>
              </a:ext>
            </a:extLst>
          </p:cNvPr>
          <p:cNvSpPr/>
          <p:nvPr/>
        </p:nvSpPr>
        <p:spPr>
          <a:xfrm>
            <a:off x="181384" y="4597809"/>
            <a:ext cx="3959549" cy="1901473"/>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cxnSp>
        <p:nvCxnSpPr>
          <p:cNvPr id="33" name="直线箭头连接符 32">
            <a:extLst>
              <a:ext uri="{FF2B5EF4-FFF2-40B4-BE49-F238E27FC236}">
                <a16:creationId xmlns:a16="http://schemas.microsoft.com/office/drawing/2014/main" id="{3373FD0B-056F-B83B-ABFA-DF5D798E6320}"/>
              </a:ext>
            </a:extLst>
          </p:cNvPr>
          <p:cNvCxnSpPr>
            <a:cxnSpLocks/>
            <a:stCxn id="27" idx="1"/>
            <a:endCxn id="31" idx="0"/>
          </p:cNvCxnSpPr>
          <p:nvPr/>
        </p:nvCxnSpPr>
        <p:spPr>
          <a:xfrm rot="10800000" flipV="1">
            <a:off x="2161159" y="3857835"/>
            <a:ext cx="1095622" cy="739973"/>
          </a:xfrm>
          <a:prstGeom prst="bentConnector2">
            <a:avLst/>
          </a:prstGeom>
          <a:ln>
            <a:solidFill>
              <a:srgbClr val="FF0000"/>
            </a:solidFill>
            <a:tailEnd type="triangle" w="lg" len="lg"/>
          </a:ln>
        </p:spPr>
        <p:style>
          <a:lnRef idx="2">
            <a:schemeClr val="accent2"/>
          </a:lnRef>
          <a:fillRef idx="0">
            <a:schemeClr val="accent2"/>
          </a:fillRef>
          <a:effectRef idx="1">
            <a:schemeClr val="accent2"/>
          </a:effectRef>
          <a:fontRef idx="minor">
            <a:schemeClr val="tx1"/>
          </a:fontRef>
        </p:style>
      </p:cxnSp>
      <p:sp>
        <p:nvSpPr>
          <p:cNvPr id="39" name="文本框 38">
            <a:extLst>
              <a:ext uri="{FF2B5EF4-FFF2-40B4-BE49-F238E27FC236}">
                <a16:creationId xmlns:a16="http://schemas.microsoft.com/office/drawing/2014/main" id="{0E726F8F-C6C7-C90F-35E7-EB6C3D3DB309}"/>
              </a:ext>
            </a:extLst>
          </p:cNvPr>
          <p:cNvSpPr txBox="1"/>
          <p:nvPr/>
        </p:nvSpPr>
        <p:spPr>
          <a:xfrm>
            <a:off x="4889661" y="4632000"/>
            <a:ext cx="4351321" cy="1815882"/>
          </a:xfrm>
          <a:prstGeom prst="rect">
            <a:avLst/>
          </a:prstGeom>
          <a:noFill/>
          <a:ln>
            <a:noFill/>
          </a:ln>
        </p:spPr>
        <p:txBody>
          <a:bodyPr wrap="square" rtlCol="0">
            <a:spAutoFit/>
          </a:bodyPr>
          <a:lstStyle/>
          <a:p>
            <a:r>
              <a:rPr lang="en" altLang="zh-CN" sz="1400" b="0" dirty="0" err="1">
                <a:solidFill>
                  <a:srgbClr val="001080"/>
                </a:solidFill>
                <a:effectLst/>
                <a:latin typeface="Menlo" panose="020B0609030804020204" pitchFamily="49" charset="0"/>
              </a:rPr>
              <a:t>possi_formats</a:t>
            </a:r>
            <a:r>
              <a:rPr lang="en" altLang="zh-CN" sz="1400" b="0" dirty="0">
                <a:solidFill>
                  <a:srgbClr val="000000"/>
                </a:solidFill>
                <a:effectLst/>
                <a:latin typeface="Menlo" panose="020B0609030804020204" pitchFamily="49" charset="0"/>
              </a:rPr>
              <a:t> = [</a:t>
            </a:r>
            <a:r>
              <a:rPr lang="en" altLang="zh-CN" sz="1400" b="0" dirty="0">
                <a:solidFill>
                  <a:srgbClr val="A31515"/>
                </a:solidFill>
                <a:effectLst/>
                <a:latin typeface="Menlo" panose="020B0609030804020204" pitchFamily="49" charset="0"/>
              </a:rPr>
              <a:t>'</a:t>
            </a:r>
            <a:r>
              <a:rPr lang="en" altLang="zh-CN" sz="1400" b="0" dirty="0">
                <a:solidFill>
                  <a:srgbClr val="0000FF"/>
                </a:solidFill>
                <a:effectLst/>
                <a:latin typeface="Menlo" panose="020B0609030804020204" pitchFamily="49" charset="0"/>
              </a:rPr>
              <a:t>%d</a:t>
            </a:r>
            <a:r>
              <a:rPr lang="en" altLang="zh-CN" sz="1400" b="0" dirty="0">
                <a:solidFill>
                  <a:srgbClr val="A31515"/>
                </a:solidFill>
                <a:effectLst/>
                <a:latin typeface="Menlo" panose="020B0609030804020204" pitchFamily="49" charset="0"/>
              </a:rPr>
              <a:t>, %B, %Y’</a:t>
            </a:r>
            <a:r>
              <a:rPr lang="en" altLang="zh-CN" sz="1400" b="0" dirty="0">
                <a:solidFill>
                  <a:srgbClr val="000000"/>
                </a:solidFill>
                <a:effectLst/>
                <a:latin typeface="Menlo" panose="020B0609030804020204" pitchFamily="49" charset="0"/>
              </a:rPr>
              <a:t>, </a:t>
            </a:r>
          </a:p>
          <a:p>
            <a:r>
              <a:rPr lang="en" altLang="zh-CN" sz="1400" b="0" dirty="0">
                <a:solidFill>
                  <a:srgbClr val="A31515"/>
                </a:solidFill>
                <a:effectLst/>
                <a:latin typeface="Menlo" panose="020B0609030804020204" pitchFamily="49" charset="0"/>
              </a:rPr>
              <a:t>'%Y-%m-</a:t>
            </a:r>
            <a:r>
              <a:rPr lang="en" altLang="zh-CN" sz="1400" b="0" dirty="0">
                <a:solidFill>
                  <a:srgbClr val="0000FF"/>
                </a:solidFill>
                <a:effectLst/>
                <a:latin typeface="Menlo" panose="020B0609030804020204" pitchFamily="49" charset="0"/>
              </a:rPr>
              <a:t>%d</a:t>
            </a:r>
            <a:r>
              <a:rPr lang="en" altLang="zh-CN" sz="1400" b="0" dirty="0">
                <a:solidFill>
                  <a:srgbClr val="A31515"/>
                </a:solidFill>
                <a:effectLst/>
                <a:latin typeface="Menlo" panose="020B0609030804020204" pitchFamily="49" charset="0"/>
              </a:rPr>
              <a:t>’</a:t>
            </a:r>
            <a:r>
              <a:rPr lang="en" altLang="zh-CN" sz="1400" b="0" dirty="0">
                <a:solidFill>
                  <a:srgbClr val="000000"/>
                </a:solidFill>
                <a:effectLst/>
                <a:latin typeface="Menlo" panose="020B0609030804020204" pitchFamily="49" charset="0"/>
              </a:rPr>
              <a:t>, ...]</a:t>
            </a:r>
          </a:p>
          <a:p>
            <a:br>
              <a:rPr lang="en" altLang="zh-CN" sz="1400" b="0" dirty="0">
                <a:solidFill>
                  <a:srgbClr val="000000"/>
                </a:solidFill>
                <a:effectLst/>
                <a:latin typeface="Menlo" panose="020B0609030804020204" pitchFamily="49" charset="0"/>
              </a:rPr>
            </a:br>
            <a:r>
              <a:rPr lang="en" altLang="zh-CN" sz="1400" b="0" dirty="0">
                <a:solidFill>
                  <a:srgbClr val="AF00DB"/>
                </a:solidFill>
                <a:effectLst/>
                <a:latin typeface="Menlo" panose="020B0609030804020204" pitchFamily="49" charset="0"/>
              </a:rPr>
              <a:t>for</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 </a:t>
            </a:r>
            <a:r>
              <a:rPr lang="en" altLang="zh-CN" sz="1400" b="0" dirty="0">
                <a:solidFill>
                  <a:srgbClr val="AF00DB"/>
                </a:solidFill>
                <a:effectLst/>
                <a:latin typeface="Menlo" panose="020B0609030804020204" pitchFamily="49" charset="0"/>
              </a:rPr>
              <a:t>in</a:t>
            </a:r>
            <a:r>
              <a:rPr lang="en" altLang="zh-CN" sz="1400" b="0" dirty="0">
                <a:solidFill>
                  <a:srgbClr val="000000"/>
                </a:solidFill>
                <a:effectLst/>
                <a:latin typeface="Menlo" panose="020B0609030804020204" pitchFamily="49" charset="0"/>
              </a:rPr>
              <a:t> </a:t>
            </a:r>
            <a:r>
              <a:rPr lang="en" altLang="zh-CN" sz="1400" b="0" dirty="0" err="1">
                <a:solidFill>
                  <a:srgbClr val="001080"/>
                </a:solidFill>
                <a:effectLst/>
                <a:latin typeface="Menlo" panose="020B0609030804020204" pitchFamily="49" charset="0"/>
              </a:rPr>
              <a:t>possi_formats</a:t>
            </a:r>
            <a:r>
              <a:rPr lang="en" altLang="zh-CN" sz="1400" b="0" dirty="0">
                <a:solidFill>
                  <a:srgbClr val="000000"/>
                </a:solidFill>
                <a:effectLst/>
                <a:latin typeface="Menlo" panose="020B0609030804020204" pitchFamily="49" charset="0"/>
              </a:rPr>
              <a:t>:</a:t>
            </a:r>
          </a:p>
          <a:p>
            <a:r>
              <a:rPr lang="en" altLang="zh-CN" sz="1400" b="0" dirty="0">
                <a:solidFill>
                  <a:srgbClr val="AF00DB"/>
                </a:solidFill>
                <a:effectLst/>
                <a:latin typeface="Menlo" panose="020B0609030804020204" pitchFamily="49" charset="0"/>
              </a:rPr>
              <a:t>    try</a:t>
            </a:r>
            <a:r>
              <a:rPr lang="en" altLang="zh-CN" sz="1400" b="0" dirty="0">
                <a:solidFill>
                  <a:srgbClr val="000000"/>
                </a:solidFill>
                <a:effectLst/>
                <a:latin typeface="Menlo" panose="020B0609030804020204" pitchFamily="49" charset="0"/>
              </a:rPr>
              <a:t>:</a:t>
            </a:r>
          </a:p>
          <a:p>
            <a:r>
              <a:rPr lang="en" altLang="zh-CN" sz="1400" b="0" dirty="0">
                <a:solidFill>
                  <a:srgbClr val="001080"/>
                </a:solidFill>
                <a:effectLst/>
                <a:latin typeface="Menlo" panose="020B0609030804020204" pitchFamily="49" charset="0"/>
              </a:rPr>
              <a:t>        </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 = </a:t>
            </a:r>
            <a:r>
              <a:rPr lang="en" altLang="zh-CN" sz="1400" b="0" dirty="0" err="1">
                <a:solidFill>
                  <a:srgbClr val="267F99"/>
                </a:solidFill>
                <a:effectLst/>
                <a:latin typeface="Menlo" panose="020B0609030804020204" pitchFamily="49" charset="0"/>
              </a:rPr>
              <a:t>pd</a:t>
            </a:r>
            <a:r>
              <a:rPr lang="en" altLang="zh-CN" sz="1400" b="0" dirty="0" err="1">
                <a:solidFill>
                  <a:srgbClr val="000000"/>
                </a:solidFill>
                <a:effectLst/>
                <a:latin typeface="Menlo" panose="020B0609030804020204" pitchFamily="49" charset="0"/>
              </a:rPr>
              <a:t>.</a:t>
            </a:r>
            <a:r>
              <a:rPr lang="en" altLang="zh-CN" sz="1400" b="0" dirty="0" err="1">
                <a:solidFill>
                  <a:srgbClr val="795E26"/>
                </a:solidFill>
                <a:effectLst/>
                <a:latin typeface="Menlo" panose="020B0609030804020204" pitchFamily="49" charset="0"/>
              </a:rPr>
              <a:t>to_datetime</a:t>
            </a:r>
            <a:r>
              <a:rPr lang="en" altLang="zh-CN" sz="1400" b="0" dirty="0">
                <a:solidFill>
                  <a:srgbClr val="000000"/>
                </a:solidFill>
                <a:effectLst/>
                <a:latin typeface="Menlo" panose="020B0609030804020204" pitchFamily="49" charset="0"/>
              </a:rPr>
              <a:t>(</a:t>
            </a:r>
          </a:p>
          <a:p>
            <a:r>
              <a:rPr lang="en" altLang="zh-CN" sz="1400" dirty="0">
                <a:solidFill>
                  <a:srgbClr val="000000"/>
                </a:solidFill>
                <a:latin typeface="Menlo" panose="020B0609030804020204" pitchFamily="49" charset="0"/>
              </a:rPr>
              <a:t>           </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a:t>
            </a:r>
            <a:r>
              <a:rPr lang="en" altLang="zh-CN" sz="1400" b="0" dirty="0">
                <a:solidFill>
                  <a:srgbClr val="A31515"/>
                </a:solidFill>
                <a:effectLst/>
                <a:latin typeface="Menlo" panose="020B0609030804020204" pitchFamily="49" charset="0"/>
              </a:rPr>
              <a:t>'Date'</a:t>
            </a:r>
            <a:r>
              <a:rPr lang="en" altLang="zh-CN" sz="1400" b="0" dirty="0">
                <a:solidFill>
                  <a:srgbClr val="000000"/>
                </a:solidFill>
                <a:effectLst/>
                <a:latin typeface="Menlo" panose="020B0609030804020204" pitchFamily="49" charset="0"/>
              </a:rPr>
              <a:t>], </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a:t>
            </a:r>
            <a:r>
              <a:rPr lang="en" altLang="zh-CN" sz="1400" b="0" dirty="0">
                <a:solidFill>
                  <a:srgbClr val="001080"/>
                </a:solidFill>
                <a:effectLst/>
                <a:latin typeface="Menlo" panose="020B0609030804020204" pitchFamily="49" charset="0"/>
              </a:rPr>
              <a:t>format</a:t>
            </a:r>
            <a:r>
              <a:rPr lang="en" altLang="zh-CN" sz="1400" b="0" dirty="0">
                <a:solidFill>
                  <a:srgbClr val="000000"/>
                </a:solidFill>
                <a:effectLst/>
                <a:latin typeface="Menlo" panose="020B0609030804020204" pitchFamily="49" charset="0"/>
              </a:rPr>
              <a:t>)</a:t>
            </a:r>
          </a:p>
          <a:p>
            <a:r>
              <a:rPr lang="en" altLang="zh-CN" sz="1400" dirty="0">
                <a:solidFill>
                  <a:srgbClr val="000000"/>
                </a:solidFill>
                <a:latin typeface="Menlo" panose="020B0609030804020204" pitchFamily="49" charset="0"/>
              </a:rPr>
              <a:t>	</a:t>
            </a:r>
            <a:r>
              <a:rPr lang="en" altLang="zh-CN" sz="1400" b="0" dirty="0">
                <a:solidFill>
                  <a:srgbClr val="000000"/>
                </a:solidFill>
                <a:effectLst/>
                <a:latin typeface="Menlo" panose="020B0609030804020204" pitchFamily="49" charset="0"/>
              </a:rPr>
              <a:t>...</a:t>
            </a:r>
          </a:p>
        </p:txBody>
      </p:sp>
      <p:sp>
        <p:nvSpPr>
          <p:cNvPr id="42" name="矩形 41">
            <a:extLst>
              <a:ext uri="{FF2B5EF4-FFF2-40B4-BE49-F238E27FC236}">
                <a16:creationId xmlns:a16="http://schemas.microsoft.com/office/drawing/2014/main" id="{06FA744D-C3F1-AD63-3FDF-4308838323C3}"/>
              </a:ext>
            </a:extLst>
          </p:cNvPr>
          <p:cNvSpPr/>
          <p:nvPr/>
        </p:nvSpPr>
        <p:spPr>
          <a:xfrm>
            <a:off x="4900577" y="4597809"/>
            <a:ext cx="7020801" cy="1901473"/>
          </a:xfrm>
          <a:prstGeom prst="rect">
            <a:avLst/>
          </a:prstGeom>
          <a:noFill/>
          <a:ln w="12700"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cxnSp>
        <p:nvCxnSpPr>
          <p:cNvPr id="44" name="直线箭头连接符 32">
            <a:extLst>
              <a:ext uri="{FF2B5EF4-FFF2-40B4-BE49-F238E27FC236}">
                <a16:creationId xmlns:a16="http://schemas.microsoft.com/office/drawing/2014/main" id="{2C70A62A-2E7F-CA8A-728D-87B8C79AB8FD}"/>
              </a:ext>
            </a:extLst>
          </p:cNvPr>
          <p:cNvCxnSpPr>
            <a:cxnSpLocks/>
            <a:stCxn id="28" idx="3"/>
            <a:endCxn id="42" idx="0"/>
          </p:cNvCxnSpPr>
          <p:nvPr/>
        </p:nvCxnSpPr>
        <p:spPr>
          <a:xfrm>
            <a:off x="7291509" y="3857836"/>
            <a:ext cx="1119469" cy="739973"/>
          </a:xfrm>
          <a:prstGeom prst="bentConnector2">
            <a:avLst/>
          </a:prstGeom>
          <a:ln>
            <a:solidFill>
              <a:srgbClr val="FF0000"/>
            </a:solidFill>
            <a:tailEnd type="triangle" w="lg" len="lg"/>
          </a:ln>
        </p:spPr>
        <p:style>
          <a:lnRef idx="2">
            <a:schemeClr val="accent2"/>
          </a:lnRef>
          <a:fillRef idx="0">
            <a:schemeClr val="accent2"/>
          </a:fillRef>
          <a:effectRef idx="1">
            <a:schemeClr val="accent2"/>
          </a:effectRef>
          <a:fontRef idx="minor">
            <a:schemeClr val="tx1"/>
          </a:fontRef>
        </p:style>
      </p:cxnSp>
      <p:sp>
        <p:nvSpPr>
          <p:cNvPr id="5" name="文本框 4">
            <a:extLst>
              <a:ext uri="{FF2B5EF4-FFF2-40B4-BE49-F238E27FC236}">
                <a16:creationId xmlns:a16="http://schemas.microsoft.com/office/drawing/2014/main" id="{4BE71FFF-BC5C-C92B-6F0A-D0D70E8A8E24}"/>
              </a:ext>
            </a:extLst>
          </p:cNvPr>
          <p:cNvSpPr txBox="1"/>
          <p:nvPr/>
        </p:nvSpPr>
        <p:spPr>
          <a:xfrm>
            <a:off x="215659" y="6105492"/>
            <a:ext cx="3873430" cy="304915"/>
          </a:xfrm>
          <a:prstGeom prst="rect">
            <a:avLst/>
          </a:prstGeom>
          <a:noFill/>
          <a:ln w="19050">
            <a:solidFill>
              <a:schemeClr val="accent6">
                <a:lumMod val="75000"/>
              </a:schemeClr>
            </a:solidFill>
          </a:ln>
        </p:spPr>
        <p:txBody>
          <a:bodyPr wrap="square" rtlCol="0">
            <a:spAutoFit/>
          </a:bodyPr>
          <a:lstStyle/>
          <a:p>
            <a:r>
              <a:rPr lang="en" altLang="zh-CN" sz="1400" dirty="0" err="1">
                <a:solidFill>
                  <a:srgbClr val="795E26"/>
                </a:solidFill>
                <a:latin typeface="Menlo" panose="020B0609030804020204" pitchFamily="49" charset="0"/>
              </a:rPr>
              <a:t>normalize_country</a:t>
            </a:r>
            <a:r>
              <a:rPr lang="en" altLang="zh-CN" sz="1400" b="0" dirty="0">
                <a:solidFill>
                  <a:srgbClr val="000000"/>
                </a:solidFill>
                <a:effectLst/>
                <a:latin typeface="Menlo" panose="020B0609030804020204" pitchFamily="49" charset="0"/>
              </a:rPr>
              <a:t>(</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 </a:t>
            </a:r>
            <a:r>
              <a:rPr lang="en" altLang="zh-CN" sz="1400" b="0" dirty="0">
                <a:solidFill>
                  <a:srgbClr val="A31515"/>
                </a:solidFill>
                <a:effectLst/>
                <a:latin typeface="Menlo" panose="020B0609030804020204" pitchFamily="49" charset="0"/>
              </a:rPr>
              <a:t>'Country'</a:t>
            </a:r>
            <a:r>
              <a:rPr lang="en" altLang="zh-CN" sz="1400" b="0" dirty="0">
                <a:solidFill>
                  <a:srgbClr val="000000"/>
                </a:solidFill>
                <a:effectLst/>
                <a:latin typeface="Menlo" panose="020B0609030804020204" pitchFamily="49" charset="0"/>
              </a:rPr>
              <a:t>)</a:t>
            </a:r>
          </a:p>
        </p:txBody>
      </p:sp>
      <p:sp>
        <p:nvSpPr>
          <p:cNvPr id="6" name="下箭头 5">
            <a:extLst>
              <a:ext uri="{FF2B5EF4-FFF2-40B4-BE49-F238E27FC236}">
                <a16:creationId xmlns:a16="http://schemas.microsoft.com/office/drawing/2014/main" id="{A8094ED6-4747-F8E6-F7C4-38176AB02237}"/>
              </a:ext>
            </a:extLst>
          </p:cNvPr>
          <p:cNvSpPr/>
          <p:nvPr/>
        </p:nvSpPr>
        <p:spPr>
          <a:xfrm>
            <a:off x="2021840" y="5629435"/>
            <a:ext cx="294640" cy="392432"/>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1E664406-DA4B-BF33-F0A2-C83C782AE783}"/>
              </a:ext>
            </a:extLst>
          </p:cNvPr>
          <p:cNvSpPr txBox="1"/>
          <p:nvPr/>
        </p:nvSpPr>
        <p:spPr>
          <a:xfrm>
            <a:off x="9349858" y="5060469"/>
            <a:ext cx="2351693" cy="954107"/>
          </a:xfrm>
          <a:prstGeom prst="rect">
            <a:avLst/>
          </a:prstGeom>
          <a:noFill/>
          <a:ln w="19050">
            <a:solidFill>
              <a:schemeClr val="accent6">
                <a:lumMod val="75000"/>
              </a:schemeClr>
            </a:solidFill>
          </a:ln>
        </p:spPr>
        <p:txBody>
          <a:bodyPr wrap="square" rtlCol="0">
            <a:spAutoFit/>
          </a:bodyPr>
          <a:lstStyle/>
          <a:p>
            <a:r>
              <a:rPr lang="en" altLang="zh-CN" sz="1400" b="0" dirty="0" err="1">
                <a:solidFill>
                  <a:srgbClr val="795E26"/>
                </a:solidFill>
                <a:effectLst/>
                <a:latin typeface="Menlo" panose="020B0609030804020204" pitchFamily="49" charset="0"/>
              </a:rPr>
              <a:t>format_datetime</a:t>
            </a:r>
            <a:r>
              <a:rPr lang="en" altLang="zh-CN" sz="1400" b="0" dirty="0">
                <a:solidFill>
                  <a:srgbClr val="000000"/>
                </a:solidFill>
                <a:effectLst/>
                <a:latin typeface="Menlo" panose="020B0609030804020204" pitchFamily="49" charset="0"/>
              </a:rPr>
              <a:t>(</a:t>
            </a:r>
          </a:p>
          <a:p>
            <a:r>
              <a:rPr lang="en" altLang="zh-CN" sz="1400" dirty="0">
                <a:solidFill>
                  <a:srgbClr val="000000"/>
                </a:solidFill>
                <a:latin typeface="Menlo" panose="020B0609030804020204" pitchFamily="49" charset="0"/>
              </a:rPr>
              <a:t>	</a:t>
            </a:r>
            <a:r>
              <a:rPr lang="en" altLang="zh-CN" sz="1400" b="0" dirty="0" err="1">
                <a:solidFill>
                  <a:srgbClr val="001080"/>
                </a:solidFill>
                <a:effectLst/>
                <a:latin typeface="Menlo" panose="020B0609030804020204" pitchFamily="49" charset="0"/>
              </a:rPr>
              <a:t>df</a:t>
            </a:r>
            <a:r>
              <a:rPr lang="en" altLang="zh-CN" sz="1400" b="0" dirty="0">
                <a:solidFill>
                  <a:srgbClr val="000000"/>
                </a:solidFill>
                <a:effectLst/>
                <a:latin typeface="Menlo" panose="020B0609030804020204" pitchFamily="49" charset="0"/>
              </a:rPr>
              <a:t>, </a:t>
            </a:r>
          </a:p>
          <a:p>
            <a:pPr lvl="1"/>
            <a:r>
              <a:rPr lang="en" altLang="zh-CN" sz="1400" b="0" dirty="0">
                <a:solidFill>
                  <a:srgbClr val="A31515"/>
                </a:solidFill>
                <a:effectLst/>
                <a:latin typeface="Menlo" panose="020B0609030804020204" pitchFamily="49" charset="0"/>
              </a:rPr>
              <a:t>    'Date’</a:t>
            </a:r>
            <a:r>
              <a:rPr lang="en" altLang="zh-CN" sz="1400" b="0" dirty="0">
                <a:solidFill>
                  <a:srgbClr val="000000"/>
                </a:solidFill>
                <a:effectLst/>
                <a:latin typeface="Menlo" panose="020B0609030804020204" pitchFamily="49" charset="0"/>
              </a:rPr>
              <a:t>, </a:t>
            </a:r>
          </a:p>
          <a:p>
            <a:r>
              <a:rPr lang="en" altLang="zh-CN" sz="1400" dirty="0">
                <a:solidFill>
                  <a:srgbClr val="000000"/>
                </a:solidFill>
                <a:latin typeface="Menlo" panose="020B0609030804020204" pitchFamily="49" charset="0"/>
              </a:rPr>
              <a:t>	</a:t>
            </a:r>
            <a:r>
              <a:rPr lang="en" altLang="zh-CN" sz="1400" b="0" dirty="0">
                <a:solidFill>
                  <a:srgbClr val="A31515"/>
                </a:solidFill>
                <a:effectLst/>
                <a:latin typeface="Menlo" panose="020B0609030804020204" pitchFamily="49" charset="0"/>
              </a:rPr>
              <a:t>'%Y-%m-</a:t>
            </a:r>
            <a:r>
              <a:rPr lang="en" altLang="zh-CN" sz="1400" b="0" dirty="0">
                <a:solidFill>
                  <a:srgbClr val="0000FF"/>
                </a:solidFill>
                <a:effectLst/>
                <a:latin typeface="Menlo" panose="020B0609030804020204" pitchFamily="49" charset="0"/>
              </a:rPr>
              <a:t>%d</a:t>
            </a:r>
            <a:r>
              <a:rPr lang="en" altLang="zh-CN" sz="1400" b="0" dirty="0">
                <a:solidFill>
                  <a:srgbClr val="A31515"/>
                </a:solidFill>
                <a:effectLst/>
                <a:latin typeface="Menlo" panose="020B0609030804020204" pitchFamily="49" charset="0"/>
              </a:rPr>
              <a:t>'</a:t>
            </a:r>
            <a:r>
              <a:rPr lang="en" altLang="zh-CN" sz="1400" b="0" dirty="0">
                <a:solidFill>
                  <a:srgbClr val="000000"/>
                </a:solidFill>
                <a:effectLst/>
                <a:latin typeface="Menlo" panose="020B0609030804020204" pitchFamily="49" charset="0"/>
              </a:rPr>
              <a:t>)</a:t>
            </a:r>
          </a:p>
        </p:txBody>
      </p:sp>
      <p:sp>
        <p:nvSpPr>
          <p:cNvPr id="29" name="下箭头 28">
            <a:extLst>
              <a:ext uri="{FF2B5EF4-FFF2-40B4-BE49-F238E27FC236}">
                <a16:creationId xmlns:a16="http://schemas.microsoft.com/office/drawing/2014/main" id="{A1166C89-7DC1-9F94-2E78-CDB3A39E609C}"/>
              </a:ext>
            </a:extLst>
          </p:cNvPr>
          <p:cNvSpPr/>
          <p:nvPr/>
        </p:nvSpPr>
        <p:spPr>
          <a:xfrm rot="16200000">
            <a:off x="8786496" y="5309381"/>
            <a:ext cx="294640" cy="392432"/>
          </a:xfrm>
          <a:prstGeom prst="down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kumimoji="1" lang="zh-CN" altLang="en-US"/>
          </a:p>
        </p:txBody>
      </p:sp>
      <p:sp>
        <p:nvSpPr>
          <p:cNvPr id="30" name="文本框 29">
            <a:extLst>
              <a:ext uri="{FF2B5EF4-FFF2-40B4-BE49-F238E27FC236}">
                <a16:creationId xmlns:a16="http://schemas.microsoft.com/office/drawing/2014/main" id="{F2374665-F8C8-D25F-F8A0-3F90E5290C25}"/>
              </a:ext>
            </a:extLst>
          </p:cNvPr>
          <p:cNvSpPr txBox="1"/>
          <p:nvPr/>
        </p:nvSpPr>
        <p:spPr>
          <a:xfrm>
            <a:off x="8015288" y="2971636"/>
            <a:ext cx="4176713" cy="1569660"/>
          </a:xfrm>
          <a:prstGeom prst="rect">
            <a:avLst/>
          </a:prstGeom>
          <a:noFill/>
        </p:spPr>
        <p:txBody>
          <a:bodyPr wrap="square" rtlCol="0">
            <a:spAutoFit/>
          </a:bodyPr>
          <a:lstStyle/>
          <a:p>
            <a:r>
              <a:rPr kumimoji="1" lang="en-US" altLang="zh-CN" sz="2400" dirty="0"/>
              <a:t>We introduce </a:t>
            </a:r>
            <a:r>
              <a:rPr kumimoji="1" lang="en-US" altLang="zh-CN" sz="2400" dirty="0">
                <a:solidFill>
                  <a:srgbClr val="FF0000"/>
                </a:solidFill>
              </a:rPr>
              <a:t>a tool-augmented method</a:t>
            </a:r>
            <a:r>
              <a:rPr kumimoji="1" lang="en-US" altLang="zh-CN" sz="2400" dirty="0"/>
              <a:t>, enhancing LLMs’ code generation capabilities with predefined </a:t>
            </a:r>
            <a:r>
              <a:rPr kumimoji="1" lang="en-US" altLang="zh-CN" sz="2400" dirty="0">
                <a:solidFill>
                  <a:srgbClr val="FF0000"/>
                </a:solidFill>
              </a:rPr>
              <a:t>API functions</a:t>
            </a:r>
            <a:endParaRPr kumimoji="1" lang="zh-CN" altLang="en-US" sz="2400" dirty="0">
              <a:solidFill>
                <a:srgbClr val="FF0000"/>
              </a:solidFill>
            </a:endParaRPr>
          </a:p>
        </p:txBody>
      </p:sp>
    </p:spTree>
    <p:extLst>
      <p:ext uri="{BB962C8B-B14F-4D97-AF65-F5344CB8AC3E}">
        <p14:creationId xmlns:p14="http://schemas.microsoft.com/office/powerpoint/2010/main" val="844661015"/>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19430" y="210093"/>
            <a:ext cx="11062970" cy="880372"/>
          </a:xfrm>
        </p:spPr>
        <p:txBody>
          <a:bodyPr>
            <a:normAutofit/>
          </a:bodyPr>
          <a:lstStyle/>
          <a:p>
            <a:r>
              <a:rPr kumimoji="1" lang="en-US" altLang="zh-CN" sz="4400" dirty="0">
                <a:sym typeface="+mn-ea"/>
              </a:rPr>
              <a:t>The Programmer &amp; Executor</a:t>
            </a:r>
            <a:endParaRPr kumimoji="1" lang="en-US" sz="4400" dirty="0">
              <a:sym typeface="+mn-ea"/>
            </a:endParaRPr>
          </a:p>
        </p:txBody>
      </p:sp>
      <p:sp>
        <p:nvSpPr>
          <p:cNvPr id="3" name="内容占位符 2"/>
          <p:cNvSpPr>
            <a:spLocks noGrp="1"/>
          </p:cNvSpPr>
          <p:nvPr>
            <p:ph idx="1"/>
          </p:nvPr>
        </p:nvSpPr>
        <p:spPr>
          <a:xfrm>
            <a:off x="519430" y="1370329"/>
            <a:ext cx="11452860" cy="2595615"/>
          </a:xfrm>
        </p:spPr>
        <p:txBody>
          <a:bodyPr>
            <a:normAutofit/>
          </a:bodyPr>
          <a:lstStyle/>
          <a:p>
            <a:pPr>
              <a:lnSpc>
                <a:spcPct val="100000"/>
              </a:lnSpc>
            </a:pPr>
            <a:r>
              <a:rPr kumimoji="1" lang="en-US" altLang="zh-CN" sz="2800" dirty="0">
                <a:latin typeface="Calibri" panose="020F0502020204030204" charset="0"/>
                <a:cs typeface="Calibri" panose="020F0502020204030204" charset="0"/>
                <a:sym typeface="+mn-ea"/>
              </a:rPr>
              <a:t>Tool-augmented physical operation generation with iterative debugging</a:t>
            </a:r>
          </a:p>
          <a:p>
            <a:pPr lvl="1"/>
            <a:r>
              <a:rPr kumimoji="1" lang="en-US" altLang="zh-CN" sz="2400" dirty="0">
                <a:latin typeface="Calibri" panose="020F0502020204030204" charset="0"/>
                <a:cs typeface="Calibri" panose="020F0502020204030204" charset="0"/>
                <a:sym typeface="+mn-ea"/>
              </a:rPr>
              <a:t>Prompt the Programmer with the logical operation and related data, to select and complete a function for implementation</a:t>
            </a:r>
          </a:p>
          <a:p>
            <a:pPr lvl="1"/>
            <a:r>
              <a:rPr kumimoji="1" lang="en-US" altLang="zh-CN" sz="2400" dirty="0">
                <a:latin typeface="Calibri" panose="020F0502020204030204" charset="0"/>
                <a:cs typeface="Calibri" panose="020F0502020204030204" charset="0"/>
                <a:sym typeface="+mn-ea"/>
              </a:rPr>
              <a:t>Translate the function to codes for execution. Any execution errors will be diagnosed</a:t>
            </a:r>
            <a:r>
              <a:rPr kumimoji="1" lang="zh-CN" altLang="en-US" sz="2400" dirty="0">
                <a:latin typeface="Calibri" panose="020F0502020204030204" charset="0"/>
                <a:cs typeface="Calibri" panose="020F0502020204030204" charset="0"/>
                <a:sym typeface="+mn-ea"/>
              </a:rPr>
              <a:t> </a:t>
            </a:r>
            <a:r>
              <a:rPr kumimoji="1" lang="en-US" altLang="zh-CN" sz="2400" dirty="0">
                <a:latin typeface="Calibri" panose="020F0502020204030204" charset="0"/>
                <a:cs typeface="Calibri" panose="020F0502020204030204" charset="0"/>
                <a:sym typeface="+mn-ea"/>
              </a:rPr>
              <a:t>by an Executor agent, which will then be passed back for refinement.</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solidFill>
                  <a:prstClr val="black">
                    <a:tint val="75000"/>
                  </a:prstClr>
                </a:solidFill>
              </a:rPr>
              <a:t>16</a:t>
            </a:fld>
            <a:endParaRPr kumimoji="1" lang="zh-CN" altLang="en-US">
              <a:solidFill>
                <a:prstClr val="black">
                  <a:tint val="75000"/>
                </a:prstClr>
              </a:solidFill>
            </a:endParaRPr>
          </a:p>
        </p:txBody>
      </p:sp>
      <p:graphicFrame>
        <p:nvGraphicFramePr>
          <p:cNvPr id="5" name="对象 4">
            <a:extLst>
              <a:ext uri="{FF2B5EF4-FFF2-40B4-BE49-F238E27FC236}">
                <a16:creationId xmlns:a16="http://schemas.microsoft.com/office/drawing/2014/main" id="{8F9BB186-925B-1FAA-DB84-0EB2E24E4EE8}"/>
              </a:ext>
            </a:extLst>
          </p:cNvPr>
          <p:cNvGraphicFramePr/>
          <p:nvPr>
            <p:extLst>
              <p:ext uri="{D42A27DB-BD31-4B8C-83A1-F6EECF244321}">
                <p14:modId xmlns:p14="http://schemas.microsoft.com/office/powerpoint/2010/main" val="2277846971"/>
              </p:ext>
            </p:extLst>
          </p:nvPr>
        </p:nvGraphicFramePr>
        <p:xfrm>
          <a:off x="1636506" y="3584899"/>
          <a:ext cx="8918988" cy="1820552"/>
        </p:xfrm>
        <a:graphic>
          <a:graphicData uri="http://schemas.openxmlformats.org/presentationml/2006/ole">
            <mc:AlternateContent xmlns:mc="http://schemas.openxmlformats.org/markup-compatibility/2006">
              <mc:Choice xmlns:v="urn:schemas-microsoft-com:vml" Requires="v">
                <p:oleObj name="Visio" r:id="rId3" imgW="5225143" imgH="1055992" progId="Visio.Drawing.15">
                  <p:embed/>
                </p:oleObj>
              </mc:Choice>
              <mc:Fallback>
                <p:oleObj name="Visio" r:id="rId3" imgW="5225143" imgH="1055992" progId="Visio.Drawing.15">
                  <p:embed/>
                  <p:pic>
                    <p:nvPicPr>
                      <p:cNvPr id="6" name="对象 5">
                        <a:extLst>
                          <a:ext uri="{FF2B5EF4-FFF2-40B4-BE49-F238E27FC236}">
                            <a16:creationId xmlns:a16="http://schemas.microsoft.com/office/drawing/2014/main" id="{1F015E49-38D7-4766-9ACF-6383717D0E50}"/>
                          </a:ext>
                        </a:extLst>
                      </p:cNvPr>
                      <p:cNvPicPr/>
                      <p:nvPr/>
                    </p:nvPicPr>
                    <p:blipFill>
                      <a:blip r:embed="rId4"/>
                      <a:stretch>
                        <a:fillRect/>
                      </a:stretch>
                    </p:blipFill>
                    <p:spPr>
                      <a:xfrm>
                        <a:off x="1636506" y="3584899"/>
                        <a:ext cx="8918988" cy="1820552"/>
                      </a:xfrm>
                      <a:prstGeom prst="rect">
                        <a:avLst/>
                      </a:prstGeom>
                      <a:solidFill>
                        <a:schemeClr val="bg1"/>
                      </a:solidFill>
                    </p:spPr>
                  </p:pic>
                </p:oleObj>
              </mc:Fallback>
            </mc:AlternateContent>
          </a:graphicData>
        </a:graphic>
      </p:graphicFrame>
      <p:pic>
        <p:nvPicPr>
          <p:cNvPr id="7" name="图片 6">
            <a:extLst>
              <a:ext uri="{FF2B5EF4-FFF2-40B4-BE49-F238E27FC236}">
                <a16:creationId xmlns:a16="http://schemas.microsoft.com/office/drawing/2014/main" id="{AFCDB3E8-2944-4ECB-97F2-80D0211384E8}"/>
              </a:ext>
            </a:extLst>
          </p:cNvPr>
          <p:cNvPicPr>
            <a:picLocks noChangeAspect="1"/>
          </p:cNvPicPr>
          <p:nvPr/>
        </p:nvPicPr>
        <p:blipFill>
          <a:blip r:embed="rId5"/>
          <a:stretch>
            <a:fillRect/>
          </a:stretch>
        </p:blipFill>
        <p:spPr>
          <a:xfrm>
            <a:off x="1636506" y="5265137"/>
            <a:ext cx="7545600" cy="1552342"/>
          </a:xfrm>
          <a:prstGeom prst="rect">
            <a:avLst/>
          </a:prstGeom>
        </p:spPr>
      </p:pic>
      <p:sp>
        <p:nvSpPr>
          <p:cNvPr id="8" name="文本框 7">
            <a:extLst>
              <a:ext uri="{FF2B5EF4-FFF2-40B4-BE49-F238E27FC236}">
                <a16:creationId xmlns:a16="http://schemas.microsoft.com/office/drawing/2014/main" id="{9C542182-C8C1-7F7E-4593-C1945AA2F73E}"/>
              </a:ext>
            </a:extLst>
          </p:cNvPr>
          <p:cNvSpPr txBox="1"/>
          <p:nvPr/>
        </p:nvSpPr>
        <p:spPr>
          <a:xfrm>
            <a:off x="9239064" y="5748920"/>
            <a:ext cx="1947492" cy="830997"/>
          </a:xfrm>
          <a:prstGeom prst="rect">
            <a:avLst/>
          </a:prstGeom>
          <a:noFill/>
        </p:spPr>
        <p:txBody>
          <a:bodyPr wrap="square" rtlCol="0">
            <a:spAutoFit/>
          </a:bodyPr>
          <a:lstStyle/>
          <a:p>
            <a:r>
              <a:rPr lang="en-US" altLang="zh-CN" sz="1600" i="1" dirty="0">
                <a:solidFill>
                  <a:srgbClr val="0070C0"/>
                </a:solidFill>
              </a:rPr>
              <a:t>Several physical operations with typical arguments</a:t>
            </a:r>
            <a:endParaRPr lang="zh-CN" altLang="en-US" sz="1600" i="1" dirty="0">
              <a:solidFill>
                <a:srgbClr val="0070C0"/>
              </a:solidFill>
            </a:endParaRPr>
          </a:p>
        </p:txBody>
      </p:sp>
    </p:spTree>
    <p:extLst>
      <p:ext uri="{BB962C8B-B14F-4D97-AF65-F5344CB8AC3E}">
        <p14:creationId xmlns:p14="http://schemas.microsoft.com/office/powerpoint/2010/main" val="1220425898"/>
      </p:ext>
    </p:extLst>
  </p:cSld>
  <p:clrMapOvr>
    <a:masterClrMapping/>
  </p:clrMapOvr>
  <mc:AlternateContent xmlns:mc="http://schemas.openxmlformats.org/markup-compatibility/2006" xmlns:p14="http://schemas.microsoft.com/office/powerpoint/2010/main">
    <mc:Choice Requires="p14">
      <p:transition spd="slow" p14:dur="2000" advTm="45120"/>
    </mc:Choice>
    <mc:Fallback xmlns="">
      <p:transition spd="slow" advTm="4512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sym typeface="+mn-ea"/>
              </a:rPr>
              <a:t>Experimental Setup</a:t>
            </a:r>
            <a:endParaRPr kumimoji="1" lang="zh-CN" altLang="en-US" dirty="0"/>
          </a:p>
        </p:txBody>
      </p:sp>
      <p:sp>
        <p:nvSpPr>
          <p:cNvPr id="3" name="内容占位符 2"/>
          <p:cNvSpPr>
            <a:spLocks noGrp="1"/>
          </p:cNvSpPr>
          <p:nvPr>
            <p:ph idx="1"/>
          </p:nvPr>
        </p:nvSpPr>
        <p:spPr>
          <a:xfrm>
            <a:off x="290287" y="1370329"/>
            <a:ext cx="6702121" cy="2606585"/>
          </a:xfrm>
        </p:spPr>
        <p:txBody>
          <a:bodyPr>
            <a:normAutofit/>
          </a:bodyPr>
          <a:lstStyle/>
          <a:p>
            <a:pPr>
              <a:lnSpc>
                <a:spcPct val="100000"/>
              </a:lnSpc>
            </a:pPr>
            <a:r>
              <a:rPr kumimoji="1" lang="en-US" altLang="zh-CN" sz="2800" dirty="0">
                <a:latin typeface="Calibri" panose="020F0502020204030204" charset="0"/>
                <a:ea typeface="Calibri" panose="020F0502020204030204" charset="0"/>
                <a:cs typeface="Calibri" panose="020F0502020204030204" charset="0"/>
                <a:sym typeface="+mn-ea"/>
              </a:rPr>
              <a:t>Datasets</a:t>
            </a:r>
            <a:r>
              <a:rPr kumimoji="1" lang="zh-CN" altLang="en-US" sz="2800" dirty="0">
                <a:latin typeface="Calibri" panose="020F0502020204030204" charset="0"/>
                <a:ea typeface="Calibri" panose="020F0502020204030204" charset="0"/>
                <a:cs typeface="Calibri" panose="020F0502020204030204" charset="0"/>
                <a:sym typeface="+mn-ea"/>
              </a:rPr>
              <a:t> </a:t>
            </a:r>
            <a:endParaRPr kumimoji="1" lang="en-US" altLang="zh-CN" sz="2800" dirty="0">
              <a:solidFill>
                <a:srgbClr val="C00000"/>
              </a:solidFill>
              <a:latin typeface="Calibri" panose="020F0502020204030204" charset="0"/>
              <a:ea typeface="Calibri" panose="020F0502020204030204" charset="0"/>
              <a:cs typeface="Calibri" panose="020F0502020204030204" charset="0"/>
            </a:endParaRPr>
          </a:p>
          <a:p>
            <a:pPr lvl="1">
              <a:lnSpc>
                <a:spcPct val="100000"/>
              </a:lnSpc>
            </a:pPr>
            <a:r>
              <a:rPr kumimoji="1" lang="en-US" altLang="zh-CN" sz="2200" b="1" dirty="0">
                <a:latin typeface="Calibri" panose="020F0502020204030204" charset="0"/>
                <a:ea typeface="Calibri" panose="020F0502020204030204" charset="0"/>
                <a:cs typeface="Calibri" panose="020F0502020204030204" charset="0"/>
                <a:sym typeface="+mn-ea"/>
              </a:rPr>
              <a:t>WikiTQ:</a:t>
            </a:r>
            <a:r>
              <a:rPr kumimoji="1" lang="en-US" altLang="zh-CN" sz="2200" dirty="0">
                <a:latin typeface="Calibri" panose="020F0502020204030204" charset="0"/>
                <a:ea typeface="Calibri" panose="020F0502020204030204" charset="0"/>
                <a:cs typeface="Calibri" panose="020F0502020204030204" charset="0"/>
                <a:sym typeface="+mn-ea"/>
              </a:rPr>
              <a:t> answers a question based on a table</a:t>
            </a:r>
            <a:endParaRPr kumimoji="1" lang="en-US" altLang="zh-CN" sz="2200" dirty="0">
              <a:latin typeface="Calibri" panose="020F0502020204030204" charset="0"/>
              <a:ea typeface="Calibri" panose="020F0502020204030204" charset="0"/>
              <a:cs typeface="Calibri" panose="020F0502020204030204" charset="0"/>
            </a:endParaRPr>
          </a:p>
          <a:p>
            <a:pPr lvl="1">
              <a:lnSpc>
                <a:spcPct val="100000"/>
              </a:lnSpc>
            </a:pPr>
            <a:r>
              <a:rPr kumimoji="1" lang="en-US" altLang="zh-CN" sz="2200" b="1" dirty="0" err="1">
                <a:latin typeface="Calibri" panose="020F0502020204030204" charset="0"/>
                <a:ea typeface="Calibri" panose="020F0502020204030204" charset="0"/>
                <a:cs typeface="Calibri" panose="020F0502020204030204" charset="0"/>
                <a:sym typeface="+mn-ea"/>
              </a:rPr>
              <a:t>TabFact</a:t>
            </a:r>
            <a:r>
              <a:rPr kumimoji="1" lang="en-US" altLang="zh-CN" sz="2200" dirty="0">
                <a:latin typeface="Calibri" panose="020F0502020204030204" charset="0"/>
                <a:ea typeface="Calibri" panose="020F0502020204030204" charset="0"/>
                <a:cs typeface="Calibri" panose="020F0502020204030204" charset="0"/>
                <a:sym typeface="+mn-ea"/>
              </a:rPr>
              <a:t>:</a:t>
            </a:r>
            <a:r>
              <a:rPr kumimoji="1" lang="zh-CN" altLang="en-US" sz="2200" dirty="0">
                <a:latin typeface="Calibri" panose="020F0502020204030204" charset="0"/>
                <a:ea typeface="Calibri" panose="020F0502020204030204" charset="0"/>
                <a:cs typeface="Calibri" panose="020F0502020204030204" charset="0"/>
                <a:sym typeface="+mn-ea"/>
              </a:rPr>
              <a:t> </a:t>
            </a:r>
            <a:r>
              <a:rPr kumimoji="1" lang="en-US" altLang="zh-CN" sz="2200" dirty="0">
                <a:latin typeface="Calibri" panose="020F0502020204030204" charset="0"/>
                <a:ea typeface="Calibri" panose="020F0502020204030204" charset="0"/>
                <a:cs typeface="Calibri" panose="020F0502020204030204" charset="0"/>
                <a:sym typeface="+mn-ea"/>
              </a:rPr>
              <a:t>deduces a statement True or False based on a table</a:t>
            </a:r>
          </a:p>
          <a:p>
            <a:pPr lvl="1">
              <a:lnSpc>
                <a:spcPct val="100000"/>
              </a:lnSpc>
            </a:pPr>
            <a:r>
              <a:rPr kumimoji="1" lang="en-US" altLang="zh-CN" sz="2200" b="1" dirty="0" err="1">
                <a:latin typeface="Calibri" panose="020F0502020204030204" charset="0"/>
                <a:ea typeface="Calibri" panose="020F0502020204030204" charset="0"/>
                <a:cs typeface="Calibri" panose="020F0502020204030204" charset="0"/>
                <a:sym typeface="+mn-ea"/>
              </a:rPr>
              <a:t>TabBench</a:t>
            </a:r>
            <a:r>
              <a:rPr kumimoji="1" lang="en-US" altLang="zh-CN" sz="2200" dirty="0">
                <a:latin typeface="Calibri" panose="020F0502020204030204" charset="0"/>
                <a:ea typeface="Calibri" panose="020F0502020204030204" charset="0"/>
                <a:cs typeface="Calibri" panose="020F0502020204030204" charset="0"/>
                <a:sym typeface="+mn-ea"/>
              </a:rPr>
              <a:t>: involves multi-hop fact checking and numerical reasoning over a table</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17</a:t>
            </a:fld>
            <a:endParaRPr kumimoji="1" lang="zh-CN" altLang="en-US"/>
          </a:p>
        </p:txBody>
      </p:sp>
      <p:sp>
        <p:nvSpPr>
          <p:cNvPr id="15" name="文本框 14"/>
          <p:cNvSpPr txBox="1"/>
          <p:nvPr/>
        </p:nvSpPr>
        <p:spPr>
          <a:xfrm>
            <a:off x="11146097" y="5466483"/>
            <a:ext cx="235962" cy="215444"/>
          </a:xfrm>
          <a:prstGeom prst="rect">
            <a:avLst/>
          </a:prstGeom>
          <a:noFill/>
        </p:spPr>
        <p:txBody>
          <a:bodyPr wrap="none" rtlCol="0">
            <a:spAutoFit/>
          </a:bodyPr>
          <a:lstStyle/>
          <a:p>
            <a:r>
              <a:rPr kumimoji="1" lang="en-US" altLang="zh-CN" sz="800" dirty="0">
                <a:solidFill>
                  <a:schemeClr val="bg1"/>
                </a:solidFill>
              </a:rPr>
              <a:t>1</a:t>
            </a:r>
            <a:endParaRPr kumimoji="1" lang="zh-CN" altLang="en-US" sz="800" dirty="0">
              <a:solidFill>
                <a:schemeClr val="bg1"/>
              </a:solidFill>
            </a:endParaRPr>
          </a:p>
        </p:txBody>
      </p:sp>
      <p:sp>
        <p:nvSpPr>
          <p:cNvPr id="5" name="内容占位符 2"/>
          <p:cNvSpPr>
            <a:spLocks noGrp="1"/>
          </p:cNvSpPr>
          <p:nvPr/>
        </p:nvSpPr>
        <p:spPr>
          <a:xfrm>
            <a:off x="290287" y="5466483"/>
            <a:ext cx="11761924" cy="1391517"/>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pPr>
              <a:lnSpc>
                <a:spcPct val="100000"/>
              </a:lnSpc>
            </a:pPr>
            <a:r>
              <a:rPr lang="en-US" sz="2800" dirty="0">
                <a:latin typeface="Calibri" panose="020F0502020204030204" charset="0"/>
                <a:ea typeface="Calibri" panose="020F0502020204030204" charset="0"/>
                <a:cs typeface="Calibri" panose="020F0502020204030204" charset="0"/>
                <a:sym typeface="+mn-ea"/>
              </a:rPr>
              <a:t>Evaluation Metric</a:t>
            </a:r>
            <a:endParaRPr lang="en-US" sz="2800" dirty="0">
              <a:latin typeface="Calibri" panose="020F0502020204030204" charset="0"/>
              <a:ea typeface="Calibri" panose="020F0502020204030204" charset="0"/>
              <a:cs typeface="Calibri" panose="020F0502020204030204" charset="0"/>
            </a:endParaRPr>
          </a:p>
          <a:p>
            <a:pPr lvl="1">
              <a:lnSpc>
                <a:spcPct val="100000"/>
              </a:lnSpc>
            </a:pPr>
            <a:r>
              <a:rPr lang="en-US" sz="2200" dirty="0">
                <a:latin typeface="Calibri" panose="020F0502020204030204" charset="0"/>
                <a:ea typeface="Calibri" panose="020F0502020204030204" charset="0"/>
                <a:cs typeface="Calibri" panose="020F0502020204030204" charset="0"/>
                <a:sym typeface="+mn-ea"/>
              </a:rPr>
              <a:t>Accuracy. We adopt Binder[1] evaluator to avoid mismatches like: 7.45 and 7.4499.</a:t>
            </a:r>
          </a:p>
          <a:p>
            <a:pPr lvl="1"/>
            <a:r>
              <a:rPr lang="en-US" altLang="zh-CN" sz="2200" dirty="0">
                <a:latin typeface="Calibri" panose="020F0502020204030204" charset="0"/>
                <a:ea typeface="Calibri" panose="020F0502020204030204" charset="0"/>
                <a:cs typeface="Calibri" panose="020F0502020204030204" charset="0"/>
                <a:sym typeface="+mn-ea"/>
              </a:rPr>
              <a:t>Cost. We record both the time and API cost for all methods.</a:t>
            </a:r>
            <a:endParaRPr lang="en-US" sz="2200" dirty="0">
              <a:latin typeface="Calibri" panose="020F0502020204030204" charset="0"/>
              <a:ea typeface="Calibri" panose="020F0502020204030204" charset="0"/>
              <a:cs typeface="Calibri" panose="020F0502020204030204" charset="0"/>
              <a:sym typeface="+mn-ea"/>
            </a:endParaRPr>
          </a:p>
        </p:txBody>
      </p:sp>
      <p:pic>
        <p:nvPicPr>
          <p:cNvPr id="11" name="图片 10">
            <a:extLst>
              <a:ext uri="{FF2B5EF4-FFF2-40B4-BE49-F238E27FC236}">
                <a16:creationId xmlns:a16="http://schemas.microsoft.com/office/drawing/2014/main" id="{3FE4D425-9E9F-4146-9D47-1950F713D72F}"/>
              </a:ext>
            </a:extLst>
          </p:cNvPr>
          <p:cNvPicPr>
            <a:picLocks noChangeAspect="1"/>
          </p:cNvPicPr>
          <p:nvPr/>
        </p:nvPicPr>
        <p:blipFill>
          <a:blip r:embed="rId3"/>
          <a:stretch>
            <a:fillRect/>
          </a:stretch>
        </p:blipFill>
        <p:spPr>
          <a:xfrm>
            <a:off x="6992408" y="1929574"/>
            <a:ext cx="5087724" cy="1589702"/>
          </a:xfrm>
          <a:prstGeom prst="rect">
            <a:avLst/>
          </a:prstGeom>
        </p:spPr>
      </p:pic>
      <p:sp>
        <p:nvSpPr>
          <p:cNvPr id="13" name="内容占位符 2">
            <a:extLst>
              <a:ext uri="{FF2B5EF4-FFF2-40B4-BE49-F238E27FC236}">
                <a16:creationId xmlns:a16="http://schemas.microsoft.com/office/drawing/2014/main" id="{0A24D3AA-2120-47D9-8908-008CF3630D42}"/>
              </a:ext>
            </a:extLst>
          </p:cNvPr>
          <p:cNvSpPr>
            <a:spLocks noGrp="1"/>
          </p:cNvSpPr>
          <p:nvPr/>
        </p:nvSpPr>
        <p:spPr>
          <a:xfrm>
            <a:off x="290287" y="3750937"/>
            <a:ext cx="12003314" cy="1793520"/>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r>
              <a:rPr kumimoji="1" lang="en-US" altLang="zh-CN" sz="2800" dirty="0">
                <a:latin typeface="Calibri" panose="020F0502020204030204" charset="0"/>
                <a:ea typeface="Calibri" panose="020F0502020204030204" charset="0"/>
                <a:cs typeface="Calibri" panose="020F0502020204030204" charset="0"/>
                <a:sym typeface="+mn-ea"/>
              </a:rPr>
              <a:t>Baselines over 4 different LLM backbones</a:t>
            </a:r>
          </a:p>
          <a:p>
            <a:pPr lvl="1"/>
            <a:r>
              <a:rPr kumimoji="1" lang="en-US" altLang="zh-CN" sz="2200" b="1" dirty="0">
                <a:latin typeface="Calibri" panose="020F0502020204030204" charset="0"/>
                <a:ea typeface="Calibri" panose="020F0502020204030204" charset="0"/>
                <a:cs typeface="Calibri" panose="020F0502020204030204" charset="0"/>
                <a:sym typeface="+mn-ea"/>
              </a:rPr>
              <a:t>TQA Methods w/o Data Prep</a:t>
            </a:r>
            <a:r>
              <a:rPr kumimoji="1" lang="en-US" altLang="zh-CN" sz="2200" dirty="0">
                <a:latin typeface="Calibri" panose="020F0502020204030204" charset="0"/>
                <a:ea typeface="Calibri" panose="020F0502020204030204" charset="0"/>
                <a:cs typeface="Calibri" panose="020F0502020204030204" charset="0"/>
                <a:sym typeface="+mn-ea"/>
              </a:rPr>
              <a:t>:</a:t>
            </a:r>
            <a:r>
              <a:rPr kumimoji="1" lang="zh-CN" altLang="en-US" sz="2200" dirty="0">
                <a:latin typeface="Calibri" panose="020F0502020204030204" charset="0"/>
                <a:ea typeface="Calibri" panose="020F0502020204030204" charset="0"/>
                <a:cs typeface="Calibri" panose="020F0502020204030204" charset="0"/>
                <a:sym typeface="+mn-ea"/>
              </a:rPr>
              <a:t> </a:t>
            </a:r>
            <a:r>
              <a:rPr kumimoji="1" lang="en-US" sz="2200" dirty="0">
                <a:latin typeface="Calibri" panose="020F0502020204030204" charset="0"/>
                <a:ea typeface="Calibri" panose="020F0502020204030204" charset="0"/>
                <a:cs typeface="Calibri" panose="020F0502020204030204" charset="0"/>
                <a:sym typeface="+mn-ea"/>
              </a:rPr>
              <a:t>End2EndQA, Chain-of-Thought, NL2SQL, NL2Py</a:t>
            </a:r>
            <a:endParaRPr kumimoji="1" lang="en-US" altLang="zh-CN" sz="2200" dirty="0">
              <a:latin typeface="Calibri" panose="020F0502020204030204" charset="0"/>
              <a:ea typeface="Calibri" panose="020F0502020204030204" charset="0"/>
              <a:cs typeface="Calibri" panose="020F0502020204030204" charset="0"/>
              <a:sym typeface="+mn-ea"/>
            </a:endParaRPr>
          </a:p>
          <a:p>
            <a:pPr lvl="1"/>
            <a:r>
              <a:rPr kumimoji="1" lang="en-US" altLang="zh-CN" sz="2200" b="1" dirty="0">
                <a:latin typeface="Calibri" panose="020F0502020204030204" charset="0"/>
                <a:ea typeface="Calibri" panose="020F0502020204030204" charset="0"/>
                <a:cs typeface="Calibri" panose="020F0502020204030204" charset="0"/>
                <a:sym typeface="+mn-ea"/>
              </a:rPr>
              <a:t>Data Prep Baselines</a:t>
            </a:r>
            <a:r>
              <a:rPr kumimoji="1" lang="en-US" altLang="zh-CN" sz="2200" dirty="0">
                <a:latin typeface="Calibri" panose="020F0502020204030204" charset="0"/>
                <a:ea typeface="Calibri" panose="020F0502020204030204" charset="0"/>
                <a:cs typeface="Calibri" panose="020F0502020204030204" charset="0"/>
                <a:sym typeface="+mn-ea"/>
              </a:rPr>
              <a:t>:</a:t>
            </a:r>
            <a:r>
              <a:rPr kumimoji="1" lang="zh-CN" altLang="en-US" sz="2200" dirty="0">
                <a:latin typeface="Calibri" panose="020F0502020204030204" charset="0"/>
                <a:ea typeface="Calibri" panose="020F0502020204030204" charset="0"/>
                <a:cs typeface="Calibri" panose="020F0502020204030204" charset="0"/>
                <a:sym typeface="+mn-ea"/>
              </a:rPr>
              <a:t> </a:t>
            </a:r>
            <a:r>
              <a:rPr kumimoji="1" lang="en-US" altLang="zh-CN" sz="2200" dirty="0">
                <a:latin typeface="Calibri" panose="020F0502020204030204" charset="0"/>
                <a:ea typeface="Calibri" panose="020F0502020204030204" charset="0"/>
                <a:cs typeface="Calibri" panose="020F0502020204030204" charset="0"/>
                <a:sym typeface="+mn-ea"/>
              </a:rPr>
              <a:t>Offline Data Prep, In-context Learning Prep</a:t>
            </a:r>
          </a:p>
          <a:p>
            <a:pPr lvl="1"/>
            <a:r>
              <a:rPr kumimoji="1" lang="en-US" altLang="zh-CN" sz="2200" b="1" dirty="0">
                <a:latin typeface="Calibri" panose="020F0502020204030204" charset="0"/>
                <a:ea typeface="Calibri" panose="020F0502020204030204" charset="0"/>
                <a:cs typeface="Calibri" panose="020F0502020204030204" charset="0"/>
                <a:sym typeface="+mn-ea"/>
              </a:rPr>
              <a:t>SOTA TQA methods with Data Prep</a:t>
            </a:r>
            <a:r>
              <a:rPr kumimoji="1" lang="en-US" altLang="zh-CN" sz="2200" dirty="0">
                <a:latin typeface="Calibri" panose="020F0502020204030204" charset="0"/>
                <a:ea typeface="Calibri" panose="020F0502020204030204" charset="0"/>
                <a:cs typeface="Calibri" panose="020F0502020204030204" charset="0"/>
                <a:sym typeface="+mn-ea"/>
              </a:rPr>
              <a:t>:</a:t>
            </a:r>
            <a:r>
              <a:rPr kumimoji="1" lang="zh-CN" altLang="en-US" sz="2200" dirty="0">
                <a:latin typeface="Calibri" panose="020F0502020204030204" charset="0"/>
                <a:ea typeface="Calibri" panose="020F0502020204030204" charset="0"/>
                <a:cs typeface="Calibri" panose="020F0502020204030204" charset="0"/>
                <a:sym typeface="+mn-ea"/>
              </a:rPr>
              <a:t> </a:t>
            </a:r>
            <a:r>
              <a:rPr kumimoji="1" lang="en-US" altLang="zh-CN" sz="2200" dirty="0">
                <a:latin typeface="Calibri" panose="020F0502020204030204" charset="0"/>
                <a:ea typeface="Calibri" panose="020F0502020204030204" charset="0"/>
                <a:cs typeface="Calibri" panose="020F0502020204030204" charset="0"/>
                <a:sym typeface="+mn-ea"/>
              </a:rPr>
              <a:t>Binder, </a:t>
            </a:r>
            <a:r>
              <a:rPr kumimoji="1" lang="en-US" altLang="zh-CN" sz="2200" dirty="0" err="1">
                <a:latin typeface="Calibri" panose="020F0502020204030204" charset="0"/>
                <a:ea typeface="Calibri" panose="020F0502020204030204" charset="0"/>
                <a:cs typeface="Calibri" panose="020F0502020204030204" charset="0"/>
                <a:sym typeface="+mn-ea"/>
              </a:rPr>
              <a:t>AutoTQA</a:t>
            </a:r>
            <a:r>
              <a:rPr kumimoji="1" lang="en-US" altLang="zh-CN" sz="2200" dirty="0">
                <a:latin typeface="Calibri" panose="020F0502020204030204" charset="0"/>
                <a:ea typeface="Calibri" panose="020F0502020204030204" charset="0"/>
                <a:cs typeface="Calibri" panose="020F0502020204030204" charset="0"/>
                <a:sym typeface="+mn-ea"/>
              </a:rPr>
              <a:t>, </a:t>
            </a:r>
            <a:r>
              <a:rPr kumimoji="1" lang="en-US" altLang="zh-CN" sz="2200" dirty="0" err="1">
                <a:latin typeface="Calibri" panose="020F0502020204030204" charset="0"/>
                <a:ea typeface="Calibri" panose="020F0502020204030204" charset="0"/>
                <a:cs typeface="Calibri" panose="020F0502020204030204" charset="0"/>
                <a:sym typeface="+mn-ea"/>
              </a:rPr>
              <a:t>ReAcTable</a:t>
            </a:r>
            <a:r>
              <a:rPr kumimoji="1" lang="en-US" altLang="zh-CN" sz="2200" dirty="0">
                <a:latin typeface="Calibri" panose="020F0502020204030204" charset="0"/>
                <a:ea typeface="Calibri" panose="020F0502020204030204" charset="0"/>
                <a:cs typeface="Calibri" panose="020F0502020204030204" charset="0"/>
                <a:sym typeface="+mn-ea"/>
              </a:rPr>
              <a:t>, Chain-of-Table (</a:t>
            </a:r>
            <a:r>
              <a:rPr kumimoji="1" lang="en-US" altLang="zh-CN" sz="2200" dirty="0" err="1">
                <a:latin typeface="Calibri" panose="020F0502020204030204" charset="0"/>
                <a:ea typeface="Calibri" panose="020F0502020204030204" charset="0"/>
                <a:cs typeface="Calibri" panose="020F0502020204030204" charset="0"/>
                <a:sym typeface="+mn-ea"/>
              </a:rPr>
              <a:t>CoTable</a:t>
            </a:r>
            <a:r>
              <a:rPr kumimoji="1" lang="en-US" altLang="zh-CN" sz="2200" dirty="0">
                <a:latin typeface="Calibri" panose="020F0502020204030204" charset="0"/>
                <a:ea typeface="Calibri" panose="020F0502020204030204" charset="0"/>
                <a:cs typeface="Calibri" panose="020F0502020204030204" charset="0"/>
                <a:sym typeface="+mn-ea"/>
              </a:rPr>
              <a:t>)</a:t>
            </a:r>
          </a:p>
        </p:txBody>
      </p:sp>
    </p:spTree>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Improvement of Data Prep for TQA</a:t>
            </a:r>
          </a:p>
        </p:txBody>
      </p:sp>
      <p:sp>
        <p:nvSpPr>
          <p:cNvPr id="3" name="内容占位符 2"/>
          <p:cNvSpPr>
            <a:spLocks noGrp="1"/>
          </p:cNvSpPr>
          <p:nvPr>
            <p:ph idx="1"/>
          </p:nvPr>
        </p:nvSpPr>
        <p:spPr>
          <a:xfrm>
            <a:off x="609600" y="1370330"/>
            <a:ext cx="10978515" cy="2773499"/>
          </a:xfrm>
        </p:spPr>
        <p:txBody>
          <a:bodyPr>
            <a:normAutofit/>
          </a:bodyPr>
          <a:lstStyle/>
          <a:p>
            <a:pPr>
              <a:lnSpc>
                <a:spcPct val="100000"/>
              </a:lnSpc>
            </a:pPr>
            <a:r>
              <a:rPr lang="en-US" sz="2800" b="1" dirty="0">
                <a:latin typeface="Calibri Bold" panose="020F0702030404030204" charset="0"/>
                <a:cs typeface="Calibri Bold" panose="020F0702030404030204" charset="0"/>
                <a:sym typeface="+mn-ea"/>
              </a:rPr>
              <a:t>Takeaway:</a:t>
            </a:r>
            <a:r>
              <a:rPr lang="en-US" sz="2800" dirty="0">
                <a:sym typeface="+mn-ea"/>
              </a:rPr>
              <a:t> </a:t>
            </a:r>
            <a:r>
              <a:rPr lang="en-US" sz="2800" b="1" dirty="0">
                <a:solidFill>
                  <a:schemeClr val="bg1"/>
                </a:solidFill>
                <a:highlight>
                  <a:srgbClr val="0000FF"/>
                </a:highlight>
                <a:sym typeface="+mn-ea"/>
              </a:rPr>
              <a:t>(Work As Plug-in)</a:t>
            </a:r>
            <a:r>
              <a:rPr lang="en-US" sz="2800" dirty="0">
                <a:sym typeface="+mn-ea"/>
              </a:rPr>
              <a:t> Performance improves for all datasets across all baselines when integrated with question-aware data prep by </a:t>
            </a:r>
            <a:r>
              <a:rPr lang="en-US" sz="2800" dirty="0" err="1">
                <a:sym typeface="+mn-ea"/>
              </a:rPr>
              <a:t>AutoPrep</a:t>
            </a:r>
            <a:endParaRPr lang="en-US" sz="2800" dirty="0">
              <a:sym typeface="+mn-ea"/>
            </a:endParaRPr>
          </a:p>
          <a:p>
            <a:pPr lvl="1">
              <a:lnSpc>
                <a:spcPct val="100000"/>
              </a:lnSpc>
            </a:pPr>
            <a:r>
              <a:rPr lang="en-US" sz="2400" dirty="0">
                <a:sym typeface="+mn-ea"/>
              </a:rPr>
              <a:t>Notably, NL2SQL shows the most substantial gains, achieving  an average improvement by </a:t>
            </a:r>
            <a:r>
              <a:rPr lang="en-US" sz="2400" b="1" dirty="0">
                <a:sym typeface="+mn-ea"/>
              </a:rPr>
              <a:t>12.22</a:t>
            </a:r>
            <a:r>
              <a:rPr lang="en-US" sz="2400" dirty="0">
                <a:sym typeface="+mn-ea"/>
              </a:rPr>
              <a:t> on </a:t>
            </a:r>
            <a:r>
              <a:rPr lang="en-US" sz="2400" dirty="0" err="1">
                <a:sym typeface="+mn-ea"/>
              </a:rPr>
              <a:t>WikiTQ</a:t>
            </a:r>
            <a:r>
              <a:rPr lang="en-US" sz="2400" dirty="0">
                <a:sym typeface="+mn-ea"/>
              </a:rPr>
              <a:t> and </a:t>
            </a:r>
            <a:r>
              <a:rPr lang="en-US" sz="2400" b="1" dirty="0">
                <a:sym typeface="+mn-ea"/>
              </a:rPr>
              <a:t>13.23</a:t>
            </a:r>
            <a:r>
              <a:rPr lang="en-US" sz="2400" dirty="0">
                <a:sym typeface="+mn-ea"/>
              </a:rPr>
              <a:t> on </a:t>
            </a:r>
            <a:r>
              <a:rPr lang="en-US" sz="2400" dirty="0" err="1">
                <a:sym typeface="+mn-ea"/>
              </a:rPr>
              <a:t>TabFact</a:t>
            </a:r>
            <a:r>
              <a:rPr lang="en-US" sz="2400" dirty="0">
                <a:sym typeface="+mn-ea"/>
              </a:rPr>
              <a:t>. </a:t>
            </a:r>
            <a:endParaRPr lang="en-US" altLang="en-US" sz="2400" b="1" dirty="0">
              <a:sym typeface="+mn-ea"/>
            </a:endParaRP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18</a:t>
            </a:fld>
            <a:endParaRPr kumimoji="1" lang="zh-CN" altLang="en-US"/>
          </a:p>
        </p:txBody>
      </p:sp>
      <p:pic>
        <p:nvPicPr>
          <p:cNvPr id="12" name="图片 11">
            <a:extLst>
              <a:ext uri="{FF2B5EF4-FFF2-40B4-BE49-F238E27FC236}">
                <a16:creationId xmlns:a16="http://schemas.microsoft.com/office/drawing/2014/main" id="{E55B48A2-FF9F-4845-944F-BA9D28C8D4B5}"/>
              </a:ext>
            </a:extLst>
          </p:cNvPr>
          <p:cNvPicPr>
            <a:picLocks noChangeAspect="1"/>
          </p:cNvPicPr>
          <p:nvPr/>
        </p:nvPicPr>
        <p:blipFill>
          <a:blip r:embed="rId3"/>
          <a:stretch>
            <a:fillRect/>
          </a:stretch>
        </p:blipFill>
        <p:spPr>
          <a:xfrm>
            <a:off x="1221014" y="3743810"/>
            <a:ext cx="9749972" cy="2551608"/>
          </a:xfrm>
          <a:prstGeom prst="rect">
            <a:avLst/>
          </a:prstGeom>
        </p:spPr>
      </p:pic>
      <p:sp>
        <p:nvSpPr>
          <p:cNvPr id="5" name="矩形 4">
            <a:extLst>
              <a:ext uri="{FF2B5EF4-FFF2-40B4-BE49-F238E27FC236}">
                <a16:creationId xmlns:a16="http://schemas.microsoft.com/office/drawing/2014/main" id="{FD8AC6E1-8D54-AB69-102E-36A30B5DC158}"/>
              </a:ext>
            </a:extLst>
          </p:cNvPr>
          <p:cNvSpPr/>
          <p:nvPr/>
        </p:nvSpPr>
        <p:spPr>
          <a:xfrm>
            <a:off x="1221014" y="5724340"/>
            <a:ext cx="9749972" cy="57107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Data Prep Method Comparison</a:t>
            </a:r>
          </a:p>
        </p:txBody>
      </p:sp>
      <p:sp>
        <p:nvSpPr>
          <p:cNvPr id="3" name="内容占位符 2"/>
          <p:cNvSpPr>
            <a:spLocks noGrp="1"/>
          </p:cNvSpPr>
          <p:nvPr>
            <p:ph idx="1"/>
          </p:nvPr>
        </p:nvSpPr>
        <p:spPr>
          <a:xfrm>
            <a:off x="609600" y="1370329"/>
            <a:ext cx="10978515" cy="2664641"/>
          </a:xfrm>
        </p:spPr>
        <p:txBody>
          <a:bodyPr>
            <a:normAutofit/>
          </a:bodyPr>
          <a:lstStyle/>
          <a:p>
            <a:pPr>
              <a:lnSpc>
                <a:spcPct val="100000"/>
              </a:lnSpc>
            </a:pPr>
            <a:r>
              <a:rPr lang="en-US" sz="2800" b="1" dirty="0">
                <a:latin typeface="Calibri Bold" panose="020F0702030404030204" charset="0"/>
                <a:cs typeface="Calibri Bold" panose="020F0702030404030204" charset="0"/>
                <a:sym typeface="+mn-ea"/>
              </a:rPr>
              <a:t>Takeaway:</a:t>
            </a:r>
            <a:r>
              <a:rPr lang="en-US" sz="2800" dirty="0">
                <a:sym typeface="+mn-ea"/>
              </a:rPr>
              <a:t> </a:t>
            </a:r>
            <a:r>
              <a:rPr lang="en-US" altLang="zh-CN" sz="2800" dirty="0" err="1">
                <a:sym typeface="+mn-ea"/>
              </a:rPr>
              <a:t>AutoPrep</a:t>
            </a:r>
            <a:r>
              <a:rPr lang="en-US" altLang="zh-CN" sz="2800" dirty="0">
                <a:sym typeface="+mn-ea"/>
              </a:rPr>
              <a:t> achieves the </a:t>
            </a:r>
            <a:r>
              <a:rPr lang="en-US" altLang="zh-CN" sz="2800" b="1" dirty="0">
                <a:solidFill>
                  <a:schemeClr val="bg1"/>
                </a:solidFill>
                <a:highlight>
                  <a:srgbClr val="0000FF"/>
                </a:highlight>
                <a:sym typeface="+mn-ea"/>
              </a:rPr>
              <a:t>(Best Performance)</a:t>
            </a:r>
            <a:r>
              <a:rPr lang="en-US" altLang="zh-CN" sz="2800" dirty="0">
                <a:sym typeface="+mn-ea"/>
              </a:rPr>
              <a:t> over all datasets with different LLM backbones</a:t>
            </a:r>
            <a:endParaRPr lang="en-US" sz="2800" dirty="0">
              <a:sym typeface="+mn-ea"/>
            </a:endParaRPr>
          </a:p>
          <a:p>
            <a:pPr lvl="1"/>
            <a:r>
              <a:rPr lang="en-US" sz="2400" dirty="0">
                <a:sym typeface="+mn-ea"/>
              </a:rPr>
              <a:t>Firstly, compared with Chain-of-Table method, </a:t>
            </a:r>
            <a:r>
              <a:rPr lang="en-US" sz="2400" dirty="0" err="1">
                <a:sym typeface="+mn-ea"/>
              </a:rPr>
              <a:t>AutoPrep</a:t>
            </a:r>
            <a:r>
              <a:rPr lang="en-US" sz="2400" dirty="0">
                <a:sym typeface="+mn-ea"/>
              </a:rPr>
              <a:t> achieve new SOTA performance</a:t>
            </a:r>
            <a:r>
              <a:rPr lang="en-US" altLang="zh-CN" sz="2400" dirty="0">
                <a:sym typeface="+mn-ea"/>
              </a:rPr>
              <a:t> with an impressive average improvement of </a:t>
            </a:r>
            <a:r>
              <a:rPr lang="en-US" altLang="zh-CN" sz="2400" b="1" dirty="0">
                <a:sym typeface="+mn-ea"/>
              </a:rPr>
              <a:t>3.05</a:t>
            </a:r>
            <a:r>
              <a:rPr lang="en-US" altLang="zh-CN" sz="2400" dirty="0">
                <a:sym typeface="+mn-ea"/>
              </a:rPr>
              <a:t> and </a:t>
            </a:r>
            <a:r>
              <a:rPr lang="en-US" altLang="zh-CN" sz="2400" b="1" dirty="0">
                <a:sym typeface="+mn-ea"/>
              </a:rPr>
              <a:t>1.96</a:t>
            </a:r>
            <a:endParaRPr lang="en-US" sz="2400" dirty="0">
              <a:sym typeface="+mn-ea"/>
            </a:endParaRPr>
          </a:p>
          <a:p>
            <a:pPr lvl="1"/>
            <a:r>
              <a:rPr lang="en-US" sz="2400" dirty="0">
                <a:sym typeface="+mn-ea"/>
              </a:rPr>
              <a:t>Secondly, </a:t>
            </a:r>
            <a:r>
              <a:rPr lang="en-US" altLang="zh-CN" sz="2400" dirty="0">
                <a:sym typeface="+mn-ea"/>
              </a:rPr>
              <a:t>compared with Off-Prep, </a:t>
            </a:r>
            <a:r>
              <a:rPr lang="en-US" altLang="zh-CN" sz="2400" dirty="0" err="1">
                <a:sym typeface="+mn-ea"/>
              </a:rPr>
              <a:t>AutoPrep</a:t>
            </a:r>
            <a:r>
              <a:rPr lang="en-US" altLang="zh-CN" sz="2400" dirty="0">
                <a:sym typeface="+mn-ea"/>
              </a:rPr>
              <a:t> achieves remarkable improvement by </a:t>
            </a:r>
            <a:r>
              <a:rPr lang="en-US" altLang="zh-CN" sz="2400" b="1" dirty="0">
                <a:sym typeface="+mn-ea"/>
              </a:rPr>
              <a:t>10.02</a:t>
            </a:r>
            <a:r>
              <a:rPr lang="en-US" altLang="zh-CN" sz="2400" dirty="0">
                <a:sym typeface="+mn-ea"/>
              </a:rPr>
              <a:t> and </a:t>
            </a:r>
            <a:r>
              <a:rPr lang="en-US" altLang="zh-CN" sz="2400" b="1" dirty="0">
                <a:sym typeface="+mn-ea"/>
              </a:rPr>
              <a:t>5.55</a:t>
            </a:r>
            <a:r>
              <a:rPr lang="en-US" altLang="zh-CN" sz="2400" dirty="0">
                <a:sym typeface="+mn-ea"/>
              </a:rPr>
              <a:t> on average</a:t>
            </a:r>
            <a:endParaRPr lang="en-US" altLang="en-US" sz="2400" b="1" dirty="0">
              <a:sym typeface="+mn-ea"/>
            </a:endParaRP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19</a:t>
            </a:fld>
            <a:endParaRPr kumimoji="1" lang="zh-CN" altLang="en-US"/>
          </a:p>
        </p:txBody>
      </p:sp>
      <p:sp>
        <p:nvSpPr>
          <p:cNvPr id="15" name="文本框 14"/>
          <p:cNvSpPr txBox="1"/>
          <p:nvPr/>
        </p:nvSpPr>
        <p:spPr>
          <a:xfrm>
            <a:off x="11182382" y="5412695"/>
            <a:ext cx="235962" cy="215444"/>
          </a:xfrm>
          <a:prstGeom prst="rect">
            <a:avLst/>
          </a:prstGeom>
          <a:noFill/>
        </p:spPr>
        <p:txBody>
          <a:bodyPr wrap="none" rtlCol="0">
            <a:spAutoFit/>
          </a:bodyPr>
          <a:lstStyle/>
          <a:p>
            <a:r>
              <a:rPr kumimoji="1" lang="en-US" altLang="zh-CN" sz="800" dirty="0">
                <a:solidFill>
                  <a:schemeClr val="bg1"/>
                </a:solidFill>
              </a:rPr>
              <a:t>1</a:t>
            </a:r>
            <a:endParaRPr kumimoji="1" lang="zh-CN" altLang="en-US" sz="800" dirty="0">
              <a:solidFill>
                <a:schemeClr val="bg1"/>
              </a:solidFill>
            </a:endParaRPr>
          </a:p>
        </p:txBody>
      </p:sp>
      <p:pic>
        <p:nvPicPr>
          <p:cNvPr id="6" name="图片 5">
            <a:extLst>
              <a:ext uri="{FF2B5EF4-FFF2-40B4-BE49-F238E27FC236}">
                <a16:creationId xmlns:a16="http://schemas.microsoft.com/office/drawing/2014/main" id="{C505B93F-7EE3-4626-8C6B-C8167378A338}"/>
              </a:ext>
            </a:extLst>
          </p:cNvPr>
          <p:cNvPicPr>
            <a:picLocks noChangeAspect="1"/>
          </p:cNvPicPr>
          <p:nvPr/>
        </p:nvPicPr>
        <p:blipFill>
          <a:blip r:embed="rId3"/>
          <a:stretch>
            <a:fillRect/>
          </a:stretch>
        </p:blipFill>
        <p:spPr>
          <a:xfrm>
            <a:off x="1262742" y="4005152"/>
            <a:ext cx="9666516" cy="2728002"/>
          </a:xfrm>
          <a:prstGeom prst="rect">
            <a:avLst/>
          </a:prstGeom>
        </p:spPr>
      </p:pic>
      <p:sp>
        <p:nvSpPr>
          <p:cNvPr id="5" name="矩形 4">
            <a:extLst>
              <a:ext uri="{FF2B5EF4-FFF2-40B4-BE49-F238E27FC236}">
                <a16:creationId xmlns:a16="http://schemas.microsoft.com/office/drawing/2014/main" id="{061DBF92-E956-45CA-EA59-9C24B3D78E1A}"/>
              </a:ext>
            </a:extLst>
          </p:cNvPr>
          <p:cNvSpPr/>
          <p:nvPr/>
        </p:nvSpPr>
        <p:spPr>
          <a:xfrm>
            <a:off x="1221014" y="4546267"/>
            <a:ext cx="9749972" cy="365125"/>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87EABA8-E5EC-04E4-D2F2-13A60F022215}"/>
              </a:ext>
            </a:extLst>
          </p:cNvPr>
          <p:cNvSpPr/>
          <p:nvPr/>
        </p:nvSpPr>
        <p:spPr>
          <a:xfrm>
            <a:off x="1221014" y="6091085"/>
            <a:ext cx="9749972" cy="647908"/>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09152073"/>
      </p:ext>
    </p:extLst>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Evaluation on Efficiency</a:t>
            </a:r>
          </a:p>
        </p:txBody>
      </p:sp>
      <p:sp>
        <p:nvSpPr>
          <p:cNvPr id="3" name="内容占位符 2"/>
          <p:cNvSpPr>
            <a:spLocks noGrp="1"/>
          </p:cNvSpPr>
          <p:nvPr>
            <p:ph idx="1"/>
          </p:nvPr>
        </p:nvSpPr>
        <p:spPr>
          <a:xfrm>
            <a:off x="609599" y="1370330"/>
            <a:ext cx="10698321" cy="1908364"/>
          </a:xfrm>
        </p:spPr>
        <p:txBody>
          <a:bodyPr>
            <a:normAutofit/>
          </a:bodyPr>
          <a:lstStyle/>
          <a:p>
            <a:pPr>
              <a:lnSpc>
                <a:spcPct val="100000"/>
              </a:lnSpc>
            </a:pPr>
            <a:r>
              <a:rPr lang="en-US" sz="2800" b="1" dirty="0">
                <a:latin typeface="Calibri Bold" panose="020F0702030404030204" charset="0"/>
                <a:cs typeface="Calibri Bold" panose="020F0702030404030204" charset="0"/>
                <a:sym typeface="+mn-ea"/>
              </a:rPr>
              <a:t>Takeaway:</a:t>
            </a:r>
            <a:r>
              <a:rPr lang="en-US" sz="2800" dirty="0">
                <a:sym typeface="+mn-ea"/>
              </a:rPr>
              <a:t> </a:t>
            </a:r>
            <a:r>
              <a:rPr lang="en-US" altLang="zh-CN" sz="2800" dirty="0" err="1">
                <a:sym typeface="+mn-ea"/>
              </a:rPr>
              <a:t>AutoPrep</a:t>
            </a:r>
            <a:r>
              <a:rPr lang="en-US" altLang="zh-CN" sz="2800" dirty="0">
                <a:sym typeface="+mn-ea"/>
              </a:rPr>
              <a:t> achieves the </a:t>
            </a:r>
            <a:r>
              <a:rPr lang="en-US" altLang="zh-CN" sz="2800" b="1" dirty="0">
                <a:solidFill>
                  <a:schemeClr val="bg1"/>
                </a:solidFill>
                <a:highlight>
                  <a:srgbClr val="0000FF"/>
                </a:highlight>
                <a:sym typeface="+mn-ea"/>
              </a:rPr>
              <a:t>(Highest Efficiency)</a:t>
            </a:r>
            <a:endParaRPr lang="en-US" altLang="zh-CN" sz="2400" dirty="0">
              <a:sym typeface="+mn-ea"/>
            </a:endParaRPr>
          </a:p>
          <a:p>
            <a:pPr lvl="1">
              <a:lnSpc>
                <a:spcPct val="100000"/>
              </a:lnSpc>
            </a:pPr>
            <a:r>
              <a:rPr lang="en-US" altLang="zh-CN" sz="2400" dirty="0">
                <a:sym typeface="+mn-ea"/>
              </a:rPr>
              <a:t>It achieves </a:t>
            </a:r>
            <a:r>
              <a:rPr lang="en-US" altLang="zh-CN" sz="2400" b="1" dirty="0">
                <a:sym typeface="+mn-ea"/>
              </a:rPr>
              <a:t>obviously higher</a:t>
            </a:r>
            <a:r>
              <a:rPr lang="en-US" altLang="zh-CN" sz="2400" dirty="0">
                <a:sym typeface="+mn-ea"/>
              </a:rPr>
              <a:t> accuracy than all</a:t>
            </a:r>
            <a:r>
              <a:rPr lang="zh-CN" altLang="en-US" sz="2400" dirty="0">
                <a:sym typeface="+mn-ea"/>
              </a:rPr>
              <a:t> </a:t>
            </a:r>
            <a:r>
              <a:rPr lang="en-US" altLang="zh-CN" sz="2400" dirty="0">
                <a:sym typeface="+mn-ea"/>
              </a:rPr>
              <a:t>data</a:t>
            </a:r>
            <a:r>
              <a:rPr lang="zh-CN" altLang="en-US" sz="2400" dirty="0">
                <a:sym typeface="+mn-ea"/>
              </a:rPr>
              <a:t> </a:t>
            </a:r>
            <a:r>
              <a:rPr lang="en-US" altLang="zh-CN" sz="2400" dirty="0">
                <a:sym typeface="+mn-ea"/>
              </a:rPr>
              <a:t>prep</a:t>
            </a:r>
            <a:r>
              <a:rPr lang="zh-CN" altLang="en-US" sz="2400" dirty="0">
                <a:sym typeface="+mn-ea"/>
              </a:rPr>
              <a:t> </a:t>
            </a:r>
            <a:r>
              <a:rPr lang="en-US" altLang="zh-CN" sz="2400" dirty="0">
                <a:sym typeface="+mn-ea"/>
              </a:rPr>
              <a:t>methods (improved by at least </a:t>
            </a:r>
            <a:r>
              <a:rPr lang="en-US" altLang="zh-CN" sz="2400" b="1" dirty="0">
                <a:sym typeface="+mn-ea"/>
              </a:rPr>
              <a:t>9.36</a:t>
            </a:r>
            <a:r>
              <a:rPr lang="en-US" altLang="zh-CN" sz="2400" dirty="0">
                <a:sym typeface="+mn-ea"/>
              </a:rPr>
              <a:t> and </a:t>
            </a:r>
            <a:r>
              <a:rPr lang="en-US" altLang="zh-CN" sz="2400" b="1" dirty="0">
                <a:sym typeface="+mn-ea"/>
              </a:rPr>
              <a:t>5.77</a:t>
            </a:r>
            <a:r>
              <a:rPr lang="en-US" altLang="zh-CN" sz="2400" dirty="0">
                <a:sym typeface="+mn-ea"/>
              </a:rPr>
              <a:t> points)</a:t>
            </a:r>
          </a:p>
          <a:p>
            <a:pPr lvl="1">
              <a:lnSpc>
                <a:spcPct val="100000"/>
              </a:lnSpc>
            </a:pPr>
            <a:r>
              <a:rPr lang="en-US" altLang="en-US" sz="2400" dirty="0">
                <a:sym typeface="+mn-ea"/>
              </a:rPr>
              <a:t>It requires obviously fewer cost than previous SOTA TQA methods</a:t>
            </a:r>
          </a:p>
          <a:p>
            <a:pPr lvl="1">
              <a:lnSpc>
                <a:spcPct val="100000"/>
              </a:lnSpc>
            </a:pPr>
            <a:endParaRPr lang="en-US" altLang="en-US" sz="2400" dirty="0">
              <a:sym typeface="+mn-ea"/>
            </a:endParaRP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20</a:t>
            </a:fld>
            <a:endParaRPr kumimoji="1" lang="zh-CN" altLang="en-US"/>
          </a:p>
        </p:txBody>
      </p:sp>
      <p:sp>
        <p:nvSpPr>
          <p:cNvPr id="15" name="文本框 14"/>
          <p:cNvSpPr txBox="1"/>
          <p:nvPr/>
        </p:nvSpPr>
        <p:spPr>
          <a:xfrm>
            <a:off x="11182382" y="5412695"/>
            <a:ext cx="235962" cy="215444"/>
          </a:xfrm>
          <a:prstGeom prst="rect">
            <a:avLst/>
          </a:prstGeom>
          <a:noFill/>
        </p:spPr>
        <p:txBody>
          <a:bodyPr wrap="none" rtlCol="0">
            <a:spAutoFit/>
          </a:bodyPr>
          <a:lstStyle/>
          <a:p>
            <a:r>
              <a:rPr kumimoji="1" lang="en-US" altLang="zh-CN" sz="800" dirty="0">
                <a:solidFill>
                  <a:schemeClr val="bg1"/>
                </a:solidFill>
              </a:rPr>
              <a:t>1</a:t>
            </a:r>
            <a:endParaRPr kumimoji="1" lang="zh-CN" altLang="en-US" sz="800" dirty="0">
              <a:solidFill>
                <a:schemeClr val="bg1"/>
              </a:solidFill>
            </a:endParaRPr>
          </a:p>
        </p:txBody>
      </p:sp>
      <p:grpSp>
        <p:nvGrpSpPr>
          <p:cNvPr id="13" name="组合 12">
            <a:extLst>
              <a:ext uri="{FF2B5EF4-FFF2-40B4-BE49-F238E27FC236}">
                <a16:creationId xmlns:a16="http://schemas.microsoft.com/office/drawing/2014/main" id="{716C2860-894E-C167-AF4D-01E6E8BBEC76}"/>
              </a:ext>
            </a:extLst>
          </p:cNvPr>
          <p:cNvGrpSpPr/>
          <p:nvPr/>
        </p:nvGrpSpPr>
        <p:grpSpPr>
          <a:xfrm>
            <a:off x="2940946" y="3278694"/>
            <a:ext cx="6035625" cy="3369213"/>
            <a:chOff x="3469965" y="3593660"/>
            <a:chExt cx="4977587" cy="2612497"/>
          </a:xfrm>
        </p:grpSpPr>
        <p:grpSp>
          <p:nvGrpSpPr>
            <p:cNvPr id="12" name="组合 11">
              <a:extLst>
                <a:ext uri="{FF2B5EF4-FFF2-40B4-BE49-F238E27FC236}">
                  <a16:creationId xmlns:a16="http://schemas.microsoft.com/office/drawing/2014/main" id="{F1E6AACB-34DD-6EAF-9ACA-F0AA43585978}"/>
                </a:ext>
              </a:extLst>
            </p:cNvPr>
            <p:cNvGrpSpPr/>
            <p:nvPr/>
          </p:nvGrpSpPr>
          <p:grpSpPr>
            <a:xfrm>
              <a:off x="3469965" y="3593660"/>
              <a:ext cx="4977587" cy="1809876"/>
              <a:chOff x="3057033" y="4418803"/>
              <a:chExt cx="4977587" cy="1809876"/>
            </a:xfrm>
          </p:grpSpPr>
          <p:pic>
            <p:nvPicPr>
              <p:cNvPr id="7" name="图片 6">
                <a:extLst>
                  <a:ext uri="{FF2B5EF4-FFF2-40B4-BE49-F238E27FC236}">
                    <a16:creationId xmlns:a16="http://schemas.microsoft.com/office/drawing/2014/main" id="{BBAF4114-33C6-4F5A-8FF4-5AFE6345C1C1}"/>
                  </a:ext>
                </a:extLst>
              </p:cNvPr>
              <p:cNvPicPr>
                <a:picLocks noChangeAspect="1"/>
              </p:cNvPicPr>
              <p:nvPr/>
            </p:nvPicPr>
            <p:blipFill rotWithShape="1">
              <a:blip r:embed="rId3"/>
              <a:srcRect b="21162"/>
              <a:stretch/>
            </p:blipFill>
            <p:spPr>
              <a:xfrm>
                <a:off x="3410248" y="4418803"/>
                <a:ext cx="4624372" cy="1809876"/>
              </a:xfrm>
              <a:prstGeom prst="rect">
                <a:avLst/>
              </a:prstGeom>
            </p:spPr>
          </p:pic>
          <p:sp>
            <p:nvSpPr>
              <p:cNvPr id="6" name="矩形 5">
                <a:extLst>
                  <a:ext uri="{FF2B5EF4-FFF2-40B4-BE49-F238E27FC236}">
                    <a16:creationId xmlns:a16="http://schemas.microsoft.com/office/drawing/2014/main" id="{6AB62B47-CD34-B0F1-D452-A011608A86BD}"/>
                  </a:ext>
                </a:extLst>
              </p:cNvPr>
              <p:cNvSpPr/>
              <p:nvPr/>
            </p:nvSpPr>
            <p:spPr>
              <a:xfrm flipV="1">
                <a:off x="4107463" y="5633078"/>
                <a:ext cx="299809" cy="20489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D368D972-A7D9-16CA-CD4F-7ECA579C3222}"/>
                  </a:ext>
                </a:extLst>
              </p:cNvPr>
              <p:cNvSpPr/>
              <p:nvPr/>
            </p:nvSpPr>
            <p:spPr>
              <a:xfrm flipV="1">
                <a:off x="6211063" y="5633078"/>
                <a:ext cx="299809" cy="204892"/>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38B02BB-D88E-DABC-9BFA-FBA32BCA62E9}"/>
                  </a:ext>
                </a:extLst>
              </p:cNvPr>
              <p:cNvSpPr txBox="1"/>
              <p:nvPr/>
            </p:nvSpPr>
            <p:spPr>
              <a:xfrm rot="5400000">
                <a:off x="2664393" y="5091307"/>
                <a:ext cx="1154611" cy="369332"/>
              </a:xfrm>
              <a:prstGeom prst="rect">
                <a:avLst/>
              </a:prstGeom>
              <a:noFill/>
            </p:spPr>
            <p:txBody>
              <a:bodyPr wrap="none" rtlCol="0">
                <a:spAutoFit/>
              </a:bodyPr>
              <a:lstStyle/>
              <a:p>
                <a:r>
                  <a:rPr kumimoji="1" lang="en-US" altLang="zh-CN" dirty="0"/>
                  <a:t>Money ($)</a:t>
                </a:r>
                <a:endParaRPr kumimoji="1" lang="zh-CN" altLang="en-US" dirty="0"/>
              </a:p>
            </p:txBody>
          </p:sp>
        </p:grpSp>
        <p:sp>
          <p:nvSpPr>
            <p:cNvPr id="10" name="文本框 9">
              <a:extLst>
                <a:ext uri="{FF2B5EF4-FFF2-40B4-BE49-F238E27FC236}">
                  <a16:creationId xmlns:a16="http://schemas.microsoft.com/office/drawing/2014/main" id="{29173A0E-F98F-3BDC-4CFF-0FBC2F42AE79}"/>
                </a:ext>
              </a:extLst>
            </p:cNvPr>
            <p:cNvSpPr txBox="1"/>
            <p:nvPr/>
          </p:nvSpPr>
          <p:spPr>
            <a:xfrm>
              <a:off x="5663476" y="5335751"/>
              <a:ext cx="960519" cy="369332"/>
            </a:xfrm>
            <a:prstGeom prst="rect">
              <a:avLst/>
            </a:prstGeom>
            <a:noFill/>
          </p:spPr>
          <p:txBody>
            <a:bodyPr wrap="none" rtlCol="0">
              <a:spAutoFit/>
            </a:bodyPr>
            <a:lstStyle/>
            <a:p>
              <a:r>
                <a:rPr kumimoji="1" lang="en-US" altLang="zh-CN" dirty="0"/>
                <a:t>Time (s)</a:t>
              </a:r>
              <a:endParaRPr kumimoji="1" lang="zh-CN" altLang="en-US" dirty="0"/>
            </a:p>
          </p:txBody>
        </p:sp>
        <p:pic>
          <p:nvPicPr>
            <p:cNvPr id="11" name="图片 10">
              <a:extLst>
                <a:ext uri="{FF2B5EF4-FFF2-40B4-BE49-F238E27FC236}">
                  <a16:creationId xmlns:a16="http://schemas.microsoft.com/office/drawing/2014/main" id="{FCA6176B-54F9-3207-7257-1D18902561CF}"/>
                </a:ext>
              </a:extLst>
            </p:cNvPr>
            <p:cNvPicPr>
              <a:picLocks noChangeAspect="1"/>
            </p:cNvPicPr>
            <p:nvPr/>
          </p:nvPicPr>
          <p:blipFill rotWithShape="1">
            <a:blip r:embed="rId3"/>
            <a:srcRect t="79105"/>
            <a:stretch/>
          </p:blipFill>
          <p:spPr>
            <a:xfrm>
              <a:off x="3646573" y="5726460"/>
              <a:ext cx="4624372" cy="479697"/>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In-Depth Exploration of System Capabilities</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21</a:t>
            </a:fld>
            <a:endParaRPr kumimoji="1" lang="zh-CN" altLang="en-US"/>
          </a:p>
        </p:txBody>
      </p:sp>
      <p:pic>
        <p:nvPicPr>
          <p:cNvPr id="6" name="图片 5">
            <a:extLst>
              <a:ext uri="{FF2B5EF4-FFF2-40B4-BE49-F238E27FC236}">
                <a16:creationId xmlns:a16="http://schemas.microsoft.com/office/drawing/2014/main" id="{DABD6616-B165-4301-9C06-653DE276A8E2}"/>
              </a:ext>
            </a:extLst>
          </p:cNvPr>
          <p:cNvPicPr>
            <a:picLocks noChangeAspect="1"/>
          </p:cNvPicPr>
          <p:nvPr/>
        </p:nvPicPr>
        <p:blipFill>
          <a:blip r:embed="rId3"/>
          <a:stretch>
            <a:fillRect/>
          </a:stretch>
        </p:blipFill>
        <p:spPr>
          <a:xfrm>
            <a:off x="1225263" y="4012369"/>
            <a:ext cx="3664598" cy="1541554"/>
          </a:xfrm>
          <a:prstGeom prst="rect">
            <a:avLst/>
          </a:prstGeom>
        </p:spPr>
      </p:pic>
      <p:sp>
        <p:nvSpPr>
          <p:cNvPr id="12" name="内容占位符 2">
            <a:extLst>
              <a:ext uri="{FF2B5EF4-FFF2-40B4-BE49-F238E27FC236}">
                <a16:creationId xmlns:a16="http://schemas.microsoft.com/office/drawing/2014/main" id="{9243232A-B816-43C1-AB95-6B0C66F6AE96}"/>
              </a:ext>
            </a:extLst>
          </p:cNvPr>
          <p:cNvSpPr txBox="1">
            <a:spLocks/>
          </p:cNvSpPr>
          <p:nvPr/>
        </p:nvSpPr>
        <p:spPr>
          <a:xfrm>
            <a:off x="280318" y="1370329"/>
            <a:ext cx="6231643" cy="3010174"/>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r>
              <a:rPr lang="en-US" sz="2800" b="1" dirty="0">
                <a:latin typeface="Calibri Bold" panose="020F0702030404030204" charset="0"/>
                <a:cs typeface="Calibri Bold" panose="020F0702030404030204" charset="0"/>
                <a:sym typeface="+mn-ea"/>
              </a:rPr>
              <a:t>Takeaway:</a:t>
            </a:r>
            <a:r>
              <a:rPr lang="en-US" sz="2800" dirty="0">
                <a:sym typeface="+mn-ea"/>
              </a:rPr>
              <a:t> </a:t>
            </a:r>
            <a:r>
              <a:rPr lang="en-US" altLang="zh-CN" sz="2800" dirty="0" err="1">
                <a:sym typeface="+mn-ea"/>
              </a:rPr>
              <a:t>AutoPrep</a:t>
            </a:r>
            <a:r>
              <a:rPr lang="en-US" altLang="zh-CN" sz="2800" dirty="0">
                <a:sym typeface="+mn-ea"/>
              </a:rPr>
              <a:t> achieves the </a:t>
            </a:r>
            <a:r>
              <a:rPr lang="en-US" altLang="zh-CN" sz="2800" b="1" dirty="0">
                <a:solidFill>
                  <a:schemeClr val="bg1"/>
                </a:solidFill>
                <a:highlight>
                  <a:srgbClr val="0000FF"/>
                </a:highlight>
                <a:sym typeface="+mn-ea"/>
              </a:rPr>
              <a:t>(Best Extensibility)</a:t>
            </a:r>
            <a:endParaRPr lang="en-US" altLang="en-US" sz="2800" dirty="0">
              <a:sym typeface="+mn-ea"/>
            </a:endParaRPr>
          </a:p>
          <a:p>
            <a:pPr lvl="1"/>
            <a:r>
              <a:rPr lang="en-US" altLang="zh-CN" sz="2400" dirty="0">
                <a:sym typeface="+mn-ea"/>
              </a:rPr>
              <a:t>After integrating a new logical operation </a:t>
            </a:r>
            <a:r>
              <a:rPr lang="en-US" altLang="zh-CN" sz="2400" i="1" dirty="0">
                <a:sym typeface="+mn-ea"/>
              </a:rPr>
              <a:t>Transform</a:t>
            </a:r>
            <a:r>
              <a:rPr lang="en-US" altLang="zh-CN" sz="2400" dirty="0">
                <a:sym typeface="+mn-ea"/>
              </a:rPr>
              <a:t>, </a:t>
            </a:r>
            <a:r>
              <a:rPr lang="en-US" altLang="zh-CN" sz="2400" dirty="0" err="1">
                <a:sym typeface="+mn-ea"/>
              </a:rPr>
              <a:t>AutoPrep</a:t>
            </a:r>
            <a:r>
              <a:rPr lang="en-US" altLang="zh-CN" sz="2400" dirty="0">
                <a:sym typeface="+mn-ea"/>
              </a:rPr>
              <a:t> performs the best without degrading performance on the original </a:t>
            </a:r>
            <a:r>
              <a:rPr lang="en-US" altLang="zh-CN" sz="2400" dirty="0" err="1">
                <a:sym typeface="+mn-ea"/>
              </a:rPr>
              <a:t>WikiTQ</a:t>
            </a:r>
            <a:r>
              <a:rPr lang="en-US" altLang="zh-CN" sz="2400" dirty="0">
                <a:sym typeface="+mn-ea"/>
              </a:rPr>
              <a:t> dataset</a:t>
            </a:r>
          </a:p>
        </p:txBody>
      </p:sp>
      <p:sp>
        <p:nvSpPr>
          <p:cNvPr id="13" name="文本框 12">
            <a:extLst>
              <a:ext uri="{FF2B5EF4-FFF2-40B4-BE49-F238E27FC236}">
                <a16:creationId xmlns:a16="http://schemas.microsoft.com/office/drawing/2014/main" id="{20182C10-9E98-4475-94B3-E6F322840ECE}"/>
              </a:ext>
            </a:extLst>
          </p:cNvPr>
          <p:cNvSpPr txBox="1"/>
          <p:nvPr/>
        </p:nvSpPr>
        <p:spPr>
          <a:xfrm>
            <a:off x="1225263" y="5602750"/>
            <a:ext cx="3961976" cy="584775"/>
          </a:xfrm>
          <a:prstGeom prst="rect">
            <a:avLst/>
          </a:prstGeom>
          <a:noFill/>
        </p:spPr>
        <p:txBody>
          <a:bodyPr wrap="square" rtlCol="0">
            <a:spAutoFit/>
          </a:bodyPr>
          <a:lstStyle/>
          <a:p>
            <a:r>
              <a:rPr lang="en-US" altLang="zh-CN" sz="1600" dirty="0">
                <a:solidFill>
                  <a:schemeClr val="bg1">
                    <a:lumMod val="50000"/>
                  </a:schemeClr>
                </a:solidFill>
              </a:rPr>
              <a:t>* </a:t>
            </a:r>
            <a:r>
              <a:rPr lang="en-US" altLang="zh-CN" sz="1600" dirty="0" err="1">
                <a:solidFill>
                  <a:schemeClr val="bg1">
                    <a:lumMod val="50000"/>
                  </a:schemeClr>
                </a:solidFill>
              </a:rPr>
              <a:t>TransTQ</a:t>
            </a:r>
            <a:r>
              <a:rPr lang="en-US" altLang="zh-CN" sz="1600" dirty="0">
                <a:solidFill>
                  <a:schemeClr val="bg1">
                    <a:lumMod val="50000"/>
                  </a:schemeClr>
                </a:solidFill>
              </a:rPr>
              <a:t> dataset requires complicated table transformation operation for data prep</a:t>
            </a:r>
          </a:p>
        </p:txBody>
      </p:sp>
      <p:sp>
        <p:nvSpPr>
          <p:cNvPr id="11" name="矩形 10">
            <a:extLst>
              <a:ext uri="{FF2B5EF4-FFF2-40B4-BE49-F238E27FC236}">
                <a16:creationId xmlns:a16="http://schemas.microsoft.com/office/drawing/2014/main" id="{624633A2-1878-7134-6B97-526E3E104476}"/>
              </a:ext>
            </a:extLst>
          </p:cNvPr>
          <p:cNvSpPr/>
          <p:nvPr/>
        </p:nvSpPr>
        <p:spPr>
          <a:xfrm>
            <a:off x="1134431" y="5245763"/>
            <a:ext cx="3846261" cy="332574"/>
          </a:xfrm>
          <a:prstGeom prst="rect">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14" name="内容占位符 2">
            <a:extLst>
              <a:ext uri="{FF2B5EF4-FFF2-40B4-BE49-F238E27FC236}">
                <a16:creationId xmlns:a16="http://schemas.microsoft.com/office/drawing/2014/main" id="{52F83BE9-F922-86BB-B772-F3206D254F52}"/>
              </a:ext>
            </a:extLst>
          </p:cNvPr>
          <p:cNvSpPr>
            <a:spLocks noGrp="1"/>
          </p:cNvSpPr>
          <p:nvPr>
            <p:ph idx="1"/>
          </p:nvPr>
        </p:nvSpPr>
        <p:spPr>
          <a:xfrm>
            <a:off x="6335916" y="1391183"/>
            <a:ext cx="5575766" cy="2383019"/>
          </a:xfrm>
        </p:spPr>
        <p:txBody>
          <a:bodyPr>
            <a:normAutofit/>
          </a:bodyPr>
          <a:lstStyle/>
          <a:p>
            <a:pPr>
              <a:lnSpc>
                <a:spcPct val="100000"/>
              </a:lnSpc>
            </a:pPr>
            <a:r>
              <a:rPr lang="en-US" sz="2800" b="1" dirty="0">
                <a:latin typeface="Calibri Bold" panose="020F0702030404030204" charset="0"/>
                <a:cs typeface="Calibri Bold" panose="020F0702030404030204" charset="0"/>
                <a:sym typeface="+mn-ea"/>
              </a:rPr>
              <a:t>Takeaway:</a:t>
            </a:r>
            <a:r>
              <a:rPr lang="en-US" sz="2800" dirty="0">
                <a:sym typeface="+mn-ea"/>
              </a:rPr>
              <a:t> </a:t>
            </a:r>
            <a:r>
              <a:rPr lang="en-US" altLang="zh-CN" sz="2800" dirty="0" err="1">
                <a:sym typeface="+mn-ea"/>
              </a:rPr>
              <a:t>AutoPrep</a:t>
            </a:r>
            <a:r>
              <a:rPr lang="en-US" altLang="zh-CN" sz="2800" dirty="0">
                <a:sym typeface="+mn-ea"/>
              </a:rPr>
              <a:t> achieves the </a:t>
            </a:r>
            <a:r>
              <a:rPr lang="en-US" altLang="zh-CN" sz="2800" b="1" dirty="0">
                <a:solidFill>
                  <a:schemeClr val="bg1"/>
                </a:solidFill>
                <a:highlight>
                  <a:srgbClr val="0000FF"/>
                </a:highlight>
                <a:sym typeface="+mn-ea"/>
              </a:rPr>
              <a:t>(Best Generalization)</a:t>
            </a:r>
            <a:r>
              <a:rPr lang="en-US" altLang="zh-CN" sz="2800" dirty="0">
                <a:sym typeface="+mn-ea"/>
              </a:rPr>
              <a:t> on a new dataset </a:t>
            </a:r>
            <a:r>
              <a:rPr lang="en-US" altLang="zh-CN" sz="2800" dirty="0" err="1">
                <a:sym typeface="+mn-ea"/>
              </a:rPr>
              <a:t>TabBench</a:t>
            </a:r>
            <a:endParaRPr lang="en-US" altLang="en-US" sz="2800" dirty="0">
              <a:sym typeface="+mn-ea"/>
            </a:endParaRPr>
          </a:p>
          <a:p>
            <a:pPr lvl="1">
              <a:lnSpc>
                <a:spcPct val="100000"/>
              </a:lnSpc>
            </a:pPr>
            <a:r>
              <a:rPr lang="en-US" altLang="zh-CN" sz="2400" dirty="0" err="1">
                <a:sym typeface="+mn-ea"/>
              </a:rPr>
              <a:t>AutoPrep</a:t>
            </a:r>
            <a:r>
              <a:rPr lang="en-US" altLang="zh-CN" sz="2400" dirty="0">
                <a:sym typeface="+mn-ea"/>
              </a:rPr>
              <a:t> outperforms all methods on both FC and NR subsets</a:t>
            </a:r>
          </a:p>
        </p:txBody>
      </p:sp>
      <p:pic>
        <p:nvPicPr>
          <p:cNvPr id="15" name="图片 14">
            <a:extLst>
              <a:ext uri="{FF2B5EF4-FFF2-40B4-BE49-F238E27FC236}">
                <a16:creationId xmlns:a16="http://schemas.microsoft.com/office/drawing/2014/main" id="{F9004EAD-41E2-60A7-C984-9903E43E69EC}"/>
              </a:ext>
            </a:extLst>
          </p:cNvPr>
          <p:cNvPicPr>
            <a:picLocks noChangeAspect="1"/>
          </p:cNvPicPr>
          <p:nvPr/>
        </p:nvPicPr>
        <p:blipFill>
          <a:blip r:embed="rId4"/>
          <a:stretch>
            <a:fillRect/>
          </a:stretch>
        </p:blipFill>
        <p:spPr>
          <a:xfrm>
            <a:off x="6864176" y="4014851"/>
            <a:ext cx="5019140" cy="2544916"/>
          </a:xfrm>
          <a:prstGeom prst="rect">
            <a:avLst/>
          </a:prstGeom>
        </p:spPr>
      </p:pic>
      <p:cxnSp>
        <p:nvCxnSpPr>
          <p:cNvPr id="16" name="直线连接符 15">
            <a:extLst>
              <a:ext uri="{FF2B5EF4-FFF2-40B4-BE49-F238E27FC236}">
                <a16:creationId xmlns:a16="http://schemas.microsoft.com/office/drawing/2014/main" id="{DA7B842A-6265-1522-F8A3-0415153605E7}"/>
              </a:ext>
            </a:extLst>
          </p:cNvPr>
          <p:cNvCxnSpPr/>
          <p:nvPr/>
        </p:nvCxnSpPr>
        <p:spPr>
          <a:xfrm>
            <a:off x="7505663" y="4701710"/>
            <a:ext cx="1480457"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cxnSp>
        <p:nvCxnSpPr>
          <p:cNvPr id="17" name="直线连接符 16">
            <a:extLst>
              <a:ext uri="{FF2B5EF4-FFF2-40B4-BE49-F238E27FC236}">
                <a16:creationId xmlns:a16="http://schemas.microsoft.com/office/drawing/2014/main" id="{F67E162D-85F9-E4FC-203E-6265C83F330B}"/>
              </a:ext>
            </a:extLst>
          </p:cNvPr>
          <p:cNvCxnSpPr/>
          <p:nvPr/>
        </p:nvCxnSpPr>
        <p:spPr>
          <a:xfrm>
            <a:off x="9911406" y="4701710"/>
            <a:ext cx="1480457" cy="0"/>
          </a:xfrm>
          <a:prstGeom prst="line">
            <a:avLst/>
          </a:prstGeom>
          <a:ln>
            <a:solidFill>
              <a:srgbClr val="FF0000"/>
            </a:solidFill>
            <a:prstDash val="dash"/>
          </a:ln>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080340089"/>
      </p:ext>
    </p:extLst>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sym typeface="+mn-ea"/>
              </a:rPr>
              <a:t>Case Study</a:t>
            </a:r>
          </a:p>
        </p:txBody>
      </p:sp>
      <p:sp>
        <p:nvSpPr>
          <p:cNvPr id="4" name="灯片编号占位符 3"/>
          <p:cNvSpPr>
            <a:spLocks noGrp="1"/>
          </p:cNvSpPr>
          <p:nvPr>
            <p:ph type="sldNum" sz="quarter" idx="12"/>
          </p:nvPr>
        </p:nvSpPr>
        <p:spPr/>
        <p:txBody>
          <a:bodyPr/>
          <a:lstStyle/>
          <a:p>
            <a:fld id="{666ED1DC-EB24-2D46-9C9F-DBDF840474EE}" type="slidenum">
              <a:rPr kumimoji="1" lang="zh-CN" altLang="en-US" smtClean="0"/>
              <a:t>22</a:t>
            </a:fld>
            <a:endParaRPr kumimoji="1" lang="zh-CN" altLang="en-US"/>
          </a:p>
        </p:txBody>
      </p:sp>
      <p:sp>
        <p:nvSpPr>
          <p:cNvPr id="15" name="文本框 14"/>
          <p:cNvSpPr txBox="1"/>
          <p:nvPr/>
        </p:nvSpPr>
        <p:spPr>
          <a:xfrm>
            <a:off x="11182382" y="5412695"/>
            <a:ext cx="235962" cy="215444"/>
          </a:xfrm>
          <a:prstGeom prst="rect">
            <a:avLst/>
          </a:prstGeom>
          <a:noFill/>
        </p:spPr>
        <p:txBody>
          <a:bodyPr wrap="none" rtlCol="0">
            <a:spAutoFit/>
          </a:bodyPr>
          <a:lstStyle/>
          <a:p>
            <a:r>
              <a:rPr kumimoji="1" lang="en-US" altLang="zh-CN" sz="800" dirty="0">
                <a:solidFill>
                  <a:schemeClr val="bg1"/>
                </a:solidFill>
              </a:rPr>
              <a:t>1</a:t>
            </a:r>
            <a:endParaRPr kumimoji="1" lang="zh-CN" altLang="en-US" sz="800" dirty="0">
              <a:solidFill>
                <a:schemeClr val="bg1"/>
              </a:solidFill>
            </a:endParaRPr>
          </a:p>
        </p:txBody>
      </p:sp>
      <p:pic>
        <p:nvPicPr>
          <p:cNvPr id="13" name="图片 12">
            <a:extLst>
              <a:ext uri="{FF2B5EF4-FFF2-40B4-BE49-F238E27FC236}">
                <a16:creationId xmlns:a16="http://schemas.microsoft.com/office/drawing/2014/main" id="{9CEBE0FB-DEF5-4261-844D-84D81F990CCA}"/>
              </a:ext>
            </a:extLst>
          </p:cNvPr>
          <p:cNvPicPr>
            <a:picLocks noChangeAspect="1"/>
          </p:cNvPicPr>
          <p:nvPr/>
        </p:nvPicPr>
        <p:blipFill>
          <a:blip r:embed="rId3"/>
          <a:stretch>
            <a:fillRect/>
          </a:stretch>
        </p:blipFill>
        <p:spPr>
          <a:xfrm>
            <a:off x="203199" y="3786637"/>
            <a:ext cx="6121040" cy="2569715"/>
          </a:xfrm>
          <a:prstGeom prst="rect">
            <a:avLst/>
          </a:prstGeom>
        </p:spPr>
      </p:pic>
      <mc:AlternateContent xmlns:mc="http://schemas.openxmlformats.org/markup-compatibility/2006" xmlns:a14="http://schemas.microsoft.com/office/drawing/2010/main">
        <mc:Choice Requires="a14">
          <p:sp>
            <p:nvSpPr>
              <p:cNvPr id="22" name="内容占位符 2">
                <a:extLst>
                  <a:ext uri="{FF2B5EF4-FFF2-40B4-BE49-F238E27FC236}">
                    <a16:creationId xmlns:a16="http://schemas.microsoft.com/office/drawing/2014/main" id="{F293A838-5790-4981-B80B-A60D561E0CCC}"/>
                  </a:ext>
                </a:extLst>
              </p:cNvPr>
              <p:cNvSpPr>
                <a:spLocks noGrp="1"/>
              </p:cNvSpPr>
              <p:nvPr>
                <p:ph idx="1"/>
              </p:nvPr>
            </p:nvSpPr>
            <p:spPr>
              <a:xfrm>
                <a:off x="609599" y="1370330"/>
                <a:ext cx="11023867" cy="2055458"/>
              </a:xfrm>
            </p:spPr>
            <p:txBody>
              <a:bodyPr>
                <a:normAutofit lnSpcReduction="10000"/>
              </a:bodyPr>
              <a:lstStyle/>
              <a:p>
                <a:pPr>
                  <a:lnSpc>
                    <a:spcPct val="100000"/>
                  </a:lnSpc>
                </a:pPr>
                <a:r>
                  <a:rPr lang="en-US" altLang="zh-CN" sz="2800" dirty="0">
                    <a:sym typeface="+mn-ea"/>
                  </a:rPr>
                  <a:t>The Figure illustrates a real case on </a:t>
                </a:r>
                <a:r>
                  <a:rPr lang="en-US" altLang="zh-CN" sz="2800" dirty="0" err="1">
                    <a:sym typeface="+mn-ea"/>
                  </a:rPr>
                  <a:t>TabBench</a:t>
                </a:r>
                <a:r>
                  <a:rPr lang="en-US" altLang="zh-CN" sz="2800" dirty="0">
                    <a:sym typeface="+mn-ea"/>
                  </a:rPr>
                  <a:t> dataset that qualitatively analyze the effectiveness of </a:t>
                </a:r>
                <a:r>
                  <a:rPr lang="en-US" altLang="zh-CN" sz="2800" dirty="0" err="1">
                    <a:sym typeface="+mn-ea"/>
                  </a:rPr>
                  <a:t>AutoPrep</a:t>
                </a:r>
                <a:endParaRPr lang="en-US" altLang="zh-CN" sz="2800" dirty="0">
                  <a:sym typeface="+mn-ea"/>
                </a:endParaRPr>
              </a:p>
              <a:p>
                <a:pPr>
                  <a:lnSpc>
                    <a:spcPct val="100000"/>
                  </a:lnSpc>
                </a:pPr>
                <a:r>
                  <a:rPr lang="en-US" altLang="zh-CN" sz="2800" dirty="0">
                    <a:sym typeface="+mn-ea"/>
                  </a:rPr>
                  <a:t>The case requires to (1) first calculate the total expense (</a:t>
                </a:r>
                <a14:m>
                  <m:oMath xmlns:m="http://schemas.openxmlformats.org/officeDocument/2006/math">
                    <m:r>
                      <a:rPr lang="en-US" altLang="zh-CN" sz="2800" b="0" i="1" smtClean="0">
                        <a:latin typeface="Cambria Math" panose="02040503050406030204" pitchFamily="18" charset="0"/>
                        <a:sym typeface="+mn-ea"/>
                      </a:rPr>
                      <m:t>=</m:t>
                    </m:r>
                    <m:f>
                      <m:fPr>
                        <m:ctrlPr>
                          <a:rPr lang="en-US" altLang="zh-CN" sz="2800" b="0" i="1" smtClean="0">
                            <a:latin typeface="Cambria Math" panose="02040503050406030204" pitchFamily="18" charset="0"/>
                            <a:sym typeface="+mn-ea"/>
                          </a:rPr>
                        </m:ctrlPr>
                      </m:fPr>
                      <m:num>
                        <m:r>
                          <a:rPr lang="en-US" altLang="zh-CN" sz="2800" b="0" i="1" smtClean="0">
                            <a:latin typeface="Cambria Math" panose="02040503050406030204" pitchFamily="18" charset="0"/>
                            <a:sym typeface="+mn-ea"/>
                          </a:rPr>
                          <m:t>𝑒𝑥𝑝𝑒𝑛𝑠𝑒</m:t>
                        </m:r>
                      </m:num>
                      <m:den>
                        <m:r>
                          <a:rPr lang="en-US" altLang="zh-CN" sz="2800" b="0" i="1" smtClean="0">
                            <a:latin typeface="Cambria Math" panose="02040503050406030204" pitchFamily="18" charset="0"/>
                            <a:sym typeface="+mn-ea"/>
                          </a:rPr>
                          <m:t>𝑝𝑒𝑟𝑐𝑒𝑛𝑡</m:t>
                        </m:r>
                      </m:den>
                    </m:f>
                  </m:oMath>
                </a14:m>
                <a:r>
                  <a:rPr lang="en-US" altLang="zh-CN" sz="2800" dirty="0">
                    <a:sym typeface="+mn-ea"/>
                  </a:rPr>
                  <a:t>) and (2) then calculate the difference of total expense from 2017 to 2018</a:t>
                </a:r>
              </a:p>
            </p:txBody>
          </p:sp>
        </mc:Choice>
        <mc:Fallback xmlns="">
          <p:sp>
            <p:nvSpPr>
              <p:cNvPr id="22" name="内容占位符 2">
                <a:extLst>
                  <a:ext uri="{FF2B5EF4-FFF2-40B4-BE49-F238E27FC236}">
                    <a16:creationId xmlns:a16="http://schemas.microsoft.com/office/drawing/2014/main" id="{F293A838-5790-4981-B80B-A60D561E0CCC}"/>
                  </a:ext>
                </a:extLst>
              </p:cNvPr>
              <p:cNvSpPr>
                <a:spLocks noGrp="1" noRot="1" noChangeAspect="1" noMove="1" noResize="1" noEditPoints="1" noAdjustHandles="1" noChangeArrowheads="1" noChangeShapeType="1" noTextEdit="1"/>
              </p:cNvSpPr>
              <p:nvPr>
                <p:ph idx="1"/>
              </p:nvPr>
            </p:nvSpPr>
            <p:spPr>
              <a:xfrm>
                <a:off x="609599" y="1370330"/>
                <a:ext cx="11023867" cy="2055458"/>
              </a:xfrm>
              <a:blipFill>
                <a:blip r:embed="rId4"/>
                <a:stretch>
                  <a:fillRect l="-1037" t="-5556" r="-691" b="-1852"/>
                </a:stretch>
              </a:blipFill>
            </p:spPr>
            <p:txBody>
              <a:bodyPr/>
              <a:lstStyle/>
              <a:p>
                <a:r>
                  <a:rPr lang="zh-CN" altLang="en-US">
                    <a:noFill/>
                  </a:rPr>
                  <a:t> </a:t>
                </a:r>
              </a:p>
            </p:txBody>
          </p:sp>
        </mc:Fallback>
      </mc:AlternateContent>
      <p:sp>
        <p:nvSpPr>
          <p:cNvPr id="23" name="内容占位符 2">
            <a:extLst>
              <a:ext uri="{FF2B5EF4-FFF2-40B4-BE49-F238E27FC236}">
                <a16:creationId xmlns:a16="http://schemas.microsoft.com/office/drawing/2014/main" id="{B7E000E4-CA69-4B2D-9552-FC5DA4B403E5}"/>
              </a:ext>
            </a:extLst>
          </p:cNvPr>
          <p:cNvSpPr txBox="1">
            <a:spLocks/>
          </p:cNvSpPr>
          <p:nvPr/>
        </p:nvSpPr>
        <p:spPr>
          <a:xfrm>
            <a:off x="6379029" y="3535899"/>
            <a:ext cx="5609772" cy="3046330"/>
          </a:xfrm>
          <a:prstGeom prst="rect">
            <a:avLst/>
          </a:prstGeom>
        </p:spPr>
        <p:txBody>
          <a:bodyPr vert="horz" lIns="91440" tIns="45720" rIns="91440" bIns="45720" rtlCol="0">
            <a:normAutofit/>
          </a:bodyPr>
          <a:lstStyle>
            <a:lvl1pPr marL="411480" indent="-411480" algn="l" defTabSz="548640" rtl="0" eaLnBrk="1" latinLnBrk="0" hangingPunct="1">
              <a:spcBef>
                <a:spcPct val="20000"/>
              </a:spcBef>
              <a:buFont typeface="Arial" panose="020B0604020202020204"/>
              <a:buChar char="•"/>
              <a:defRPr sz="3360" kern="1200">
                <a:solidFill>
                  <a:schemeClr val="tx1"/>
                </a:solidFill>
                <a:latin typeface="+mn-lt"/>
                <a:ea typeface="+mn-ea"/>
                <a:cs typeface="+mn-cs"/>
              </a:defRPr>
            </a:lvl1pPr>
            <a:lvl2pPr marL="891540" indent="-342900" algn="l" defTabSz="548640" rtl="0" eaLnBrk="1" latinLnBrk="0" hangingPunct="1">
              <a:spcBef>
                <a:spcPct val="20000"/>
              </a:spcBef>
              <a:buFont typeface="Arial" panose="020B0604020202020204"/>
              <a:buChar char="–"/>
              <a:defRPr sz="2880" kern="1200">
                <a:solidFill>
                  <a:schemeClr val="tx1"/>
                </a:solidFill>
                <a:latin typeface="+mn-lt"/>
                <a:ea typeface="+mn-ea"/>
                <a:cs typeface="+mn-cs"/>
              </a:defRPr>
            </a:lvl2pPr>
            <a:lvl3pPr marL="13716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9202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4pPr>
            <a:lvl5pPr marL="246888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5pPr>
            <a:lvl6pPr marL="301752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6pPr>
            <a:lvl7pPr marL="356616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7pPr>
            <a:lvl8pPr marL="411480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8pPr>
            <a:lvl9pPr marL="4663440" indent="-274320" algn="l" defTabSz="548640" rtl="0" eaLnBrk="1" latinLnBrk="0" hangingPunct="1">
              <a:spcBef>
                <a:spcPct val="20000"/>
              </a:spcBef>
              <a:buFont typeface="Arial" panose="020B0604020202020204"/>
              <a:buChar char="•"/>
              <a:defRPr sz="2400" kern="1200">
                <a:solidFill>
                  <a:schemeClr val="tx1"/>
                </a:solidFill>
                <a:latin typeface="+mn-lt"/>
                <a:ea typeface="+mn-ea"/>
                <a:cs typeface="+mn-cs"/>
              </a:defRPr>
            </a:lvl9pPr>
          </a:lstStyle>
          <a:p>
            <a:r>
              <a:rPr lang="en-US" altLang="zh-CN" sz="2000" dirty="0" err="1">
                <a:sym typeface="+mn-ea"/>
              </a:rPr>
              <a:t>CoTable</a:t>
            </a:r>
            <a:r>
              <a:rPr lang="en-US" altLang="zh-CN" sz="2000" dirty="0">
                <a:sym typeface="+mn-ea"/>
              </a:rPr>
              <a:t> </a:t>
            </a:r>
            <a:r>
              <a:rPr lang="en-US" altLang="zh-CN" sz="2000" dirty="0">
                <a:solidFill>
                  <a:srgbClr val="FF0000"/>
                </a:solidFill>
                <a:sym typeface="+mn-ea"/>
              </a:rPr>
              <a:t>directly prompts </a:t>
            </a:r>
            <a:r>
              <a:rPr lang="en-US" altLang="zh-CN" sz="2000" dirty="0">
                <a:sym typeface="+mn-ea"/>
              </a:rPr>
              <a:t>LLMs to output the total expense </a:t>
            </a:r>
            <a:r>
              <a:rPr lang="en-US" altLang="zh-CN" sz="2000" dirty="0">
                <a:solidFill>
                  <a:srgbClr val="FF0000"/>
                </a:solidFill>
                <a:sym typeface="+mn-ea"/>
              </a:rPr>
              <a:t>without utilizing codes </a:t>
            </a:r>
            <a:r>
              <a:rPr lang="en-US" altLang="zh-CN" sz="2000" dirty="0">
                <a:sym typeface="+mn-ea"/>
              </a:rPr>
              <a:t>for calculation. Thus, it generates wrong values</a:t>
            </a:r>
          </a:p>
          <a:p>
            <a:r>
              <a:rPr lang="en-US" altLang="en-US" sz="2000" dirty="0" err="1">
                <a:sym typeface="+mn-ea"/>
              </a:rPr>
              <a:t>ReAcTable</a:t>
            </a:r>
            <a:r>
              <a:rPr lang="en-US" altLang="en-US" sz="2000" dirty="0">
                <a:sym typeface="+mn-ea"/>
              </a:rPr>
              <a:t> uses codes but occur execution errors due </a:t>
            </a:r>
            <a:r>
              <a:rPr lang="en-US" altLang="en-US" sz="2000" dirty="0">
                <a:solidFill>
                  <a:srgbClr val="FF0000"/>
                </a:solidFill>
                <a:sym typeface="+mn-ea"/>
              </a:rPr>
              <a:t>to </a:t>
            </a:r>
            <a:r>
              <a:rPr lang="en-US" altLang="zh-CN" sz="2000" dirty="0">
                <a:solidFill>
                  <a:srgbClr val="FF0000"/>
                </a:solidFill>
                <a:sym typeface="+mn-ea"/>
              </a:rPr>
              <a:t>inadequately</a:t>
            </a:r>
            <a:r>
              <a:rPr lang="en-US" altLang="en-US" sz="2000" dirty="0">
                <a:solidFill>
                  <a:srgbClr val="FF0000"/>
                </a:solidFill>
                <a:sym typeface="+mn-ea"/>
              </a:rPr>
              <a:t> addressing data prep issues</a:t>
            </a:r>
          </a:p>
          <a:p>
            <a:r>
              <a:rPr lang="en-US" altLang="en-US" sz="2000" dirty="0" err="1">
                <a:sym typeface="+mn-ea"/>
              </a:rPr>
              <a:t>AutoPrep</a:t>
            </a:r>
            <a:r>
              <a:rPr lang="en-US" altLang="en-US" sz="2000" dirty="0">
                <a:sym typeface="+mn-ea"/>
              </a:rPr>
              <a:t> extracts </a:t>
            </a:r>
            <a:r>
              <a:rPr lang="en-US" altLang="en-US" sz="2000" dirty="0">
                <a:solidFill>
                  <a:srgbClr val="FF0000"/>
                </a:solidFill>
                <a:sym typeface="+mn-ea"/>
              </a:rPr>
              <a:t>all data prep issues </a:t>
            </a:r>
            <a:r>
              <a:rPr lang="en-US" altLang="en-US" sz="2000" dirty="0">
                <a:sym typeface="+mn-ea"/>
              </a:rPr>
              <a:t>with Chain-of-Clauses method and generates </a:t>
            </a:r>
            <a:r>
              <a:rPr lang="en-US" altLang="en-US" sz="2000" dirty="0">
                <a:solidFill>
                  <a:srgbClr val="FF0000"/>
                </a:solidFill>
                <a:sym typeface="+mn-ea"/>
              </a:rPr>
              <a:t>correct codes</a:t>
            </a:r>
            <a:r>
              <a:rPr lang="en-US" altLang="en-US" sz="2000" dirty="0">
                <a:sym typeface="+mn-ea"/>
              </a:rPr>
              <a:t> to prepare the table with Tool-augmented method</a:t>
            </a:r>
          </a:p>
        </p:txBody>
      </p:sp>
    </p:spTree>
  </p:cSld>
  <p:clrMapOvr>
    <a:masterClrMapping/>
  </p:clrMapOvr>
  <mc:AlternateContent xmlns:mc="http://schemas.openxmlformats.org/markup-compatibility/2006" xmlns:p14="http://schemas.microsoft.com/office/powerpoint/2010/main">
    <mc:Choice Requires="p14">
      <p:transition spd="slow" p14:dur="2000" advTm="50432"/>
    </mc:Choice>
    <mc:Fallback xmlns="">
      <p:transition spd="slow" advTm="5043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Conclusion</a:t>
            </a:r>
          </a:p>
        </p:txBody>
      </p:sp>
      <p:sp>
        <p:nvSpPr>
          <p:cNvPr id="3" name="Content Placeholder 2"/>
          <p:cNvSpPr>
            <a:spLocks noGrp="1"/>
          </p:cNvSpPr>
          <p:nvPr>
            <p:ph idx="1"/>
          </p:nvPr>
        </p:nvSpPr>
        <p:spPr>
          <a:xfrm>
            <a:off x="609600" y="1370572"/>
            <a:ext cx="11087595" cy="5119566"/>
          </a:xfrm>
        </p:spPr>
        <p:txBody>
          <a:bodyPr>
            <a:noAutofit/>
          </a:bodyPr>
          <a:lstStyle/>
          <a:p>
            <a:r>
              <a:rPr lang="en-US" sz="2800" dirty="0"/>
              <a:t>We have introduced </a:t>
            </a:r>
            <a:r>
              <a:rPr lang="en-US" altLang="zh-CN" sz="2800" dirty="0">
                <a:solidFill>
                  <a:srgbClr val="FF0000"/>
                </a:solidFill>
              </a:rPr>
              <a:t>AutoPrep</a:t>
            </a:r>
            <a:r>
              <a:rPr lang="en-US" altLang="zh-CN" sz="2800" baseline="30000" dirty="0">
                <a:solidFill>
                  <a:srgbClr val="FF0000"/>
                </a:solidFill>
              </a:rPr>
              <a:t>1</a:t>
            </a:r>
            <a:r>
              <a:rPr lang="en-US" sz="2800" dirty="0"/>
              <a:t>, an </a:t>
            </a:r>
            <a:r>
              <a:rPr lang="en-US" sz="2800" dirty="0">
                <a:solidFill>
                  <a:srgbClr val="FF0000"/>
                </a:solidFill>
              </a:rPr>
              <a:t>LLM-based multi-agent framework </a:t>
            </a:r>
            <a:r>
              <a:rPr lang="en-US" sz="2800" dirty="0"/>
              <a:t>to support </a:t>
            </a:r>
            <a:r>
              <a:rPr lang="en-US" sz="2800" dirty="0">
                <a:solidFill>
                  <a:srgbClr val="FF0000"/>
                </a:solidFill>
              </a:rPr>
              <a:t>question-aware data prep for TQA </a:t>
            </a:r>
            <a:r>
              <a:rPr lang="en-US" sz="2800" dirty="0"/>
              <a:t>task.</a:t>
            </a:r>
          </a:p>
          <a:p>
            <a:endParaRPr lang="en-US" sz="2800" dirty="0"/>
          </a:p>
          <a:p>
            <a:r>
              <a:rPr lang="en-US" altLang="zh-CN" sz="2800" dirty="0"/>
              <a:t>We propose a </a:t>
            </a:r>
            <a:r>
              <a:rPr lang="en-US" altLang="zh-CN" sz="2800" dirty="0">
                <a:solidFill>
                  <a:srgbClr val="FF0000"/>
                </a:solidFill>
              </a:rPr>
              <a:t>Chain-of-Clauses reasoning method </a:t>
            </a:r>
            <a:r>
              <a:rPr lang="en-US" altLang="zh-CN" sz="2800" dirty="0"/>
              <a:t>to accurately generate data prep tasks. We also propose a </a:t>
            </a:r>
            <a:r>
              <a:rPr lang="en-US" altLang="zh-CN" sz="2800" dirty="0">
                <a:solidFill>
                  <a:srgbClr val="FF0000"/>
                </a:solidFill>
              </a:rPr>
              <a:t>Tool-augmented method </a:t>
            </a:r>
            <a:r>
              <a:rPr lang="en-US" altLang="zh-CN" sz="2800" dirty="0"/>
              <a:t>to generate codes for effective table processing.</a:t>
            </a:r>
          </a:p>
          <a:p>
            <a:endParaRPr lang="en-US" sz="2800" dirty="0"/>
          </a:p>
          <a:p>
            <a:r>
              <a:rPr lang="en-US" altLang="zh-CN" sz="2800" dirty="0"/>
              <a:t>Experiments demonstrate that (1) </a:t>
            </a:r>
            <a:r>
              <a:rPr lang="en-US" altLang="zh-CN" sz="2800" dirty="0" err="1"/>
              <a:t>AutoPrep</a:t>
            </a:r>
            <a:r>
              <a:rPr lang="en-US" altLang="zh-CN" sz="2800" dirty="0"/>
              <a:t> can </a:t>
            </a:r>
            <a:r>
              <a:rPr lang="en-US" altLang="zh-CN" sz="2800" dirty="0">
                <a:solidFill>
                  <a:srgbClr val="FF0000"/>
                </a:solidFill>
              </a:rPr>
              <a:t>work as a plug-in </a:t>
            </a:r>
            <a:r>
              <a:rPr lang="en-US" altLang="zh-CN" sz="2800" dirty="0"/>
              <a:t>to improve the performance of other TQA methods and (2) </a:t>
            </a:r>
            <a:r>
              <a:rPr lang="en-US" altLang="zh-CN" sz="2800" dirty="0" err="1"/>
              <a:t>AutoPrep</a:t>
            </a:r>
            <a:r>
              <a:rPr lang="en-US" altLang="zh-CN" sz="2800" dirty="0"/>
              <a:t> achieves new </a:t>
            </a:r>
            <a:r>
              <a:rPr lang="en-US" altLang="zh-CN" sz="2800" dirty="0">
                <a:solidFill>
                  <a:srgbClr val="FF0000"/>
                </a:solidFill>
              </a:rPr>
              <a:t>SOTA performance </a:t>
            </a:r>
            <a:r>
              <a:rPr lang="en-US" altLang="zh-CN" sz="2800" dirty="0"/>
              <a:t>for TQA task</a:t>
            </a:r>
            <a:endParaRPr sz="2800" dirty="0"/>
          </a:p>
        </p:txBody>
      </p:sp>
      <p:sp>
        <p:nvSpPr>
          <p:cNvPr id="4" name="Slide Number Placeholder 3"/>
          <p:cNvSpPr>
            <a:spLocks noGrp="1"/>
          </p:cNvSpPr>
          <p:nvPr>
            <p:ph type="sldNum" sz="quarter" idx="12"/>
          </p:nvPr>
        </p:nvSpPr>
        <p:spPr/>
        <p:txBody>
          <a:bodyPr/>
          <a:lstStyle/>
          <a:p>
            <a:fld id="{666ED1DC-EB24-2D46-9C9F-DBDF840474EE}" type="slidenum">
              <a:rPr kumimoji="1" lang="zh-CN" altLang="en-US" smtClean="0"/>
              <a:t>23</a:t>
            </a:fld>
            <a:endParaRPr kumimoji="1" lang="zh-CN" altLang="en-US"/>
          </a:p>
        </p:txBody>
      </p:sp>
      <p:sp>
        <p:nvSpPr>
          <p:cNvPr id="5" name="Rectangle 7"/>
          <p:cNvSpPr/>
          <p:nvPr>
            <p:custDataLst>
              <p:tags r:id="rId1"/>
            </p:custDataLst>
          </p:nvPr>
        </p:nvSpPr>
        <p:spPr>
          <a:xfrm>
            <a:off x="131379" y="6463241"/>
            <a:ext cx="11761075" cy="369332"/>
          </a:xfrm>
          <a:prstGeom prst="rect">
            <a:avLst/>
          </a:prstGeom>
        </p:spPr>
        <p:txBody>
          <a:bodyPr wrap="square">
            <a:spAutoFit/>
          </a:bodyPr>
          <a:lstStyle/>
          <a:p>
            <a:r>
              <a:rPr lang="en-US" dirty="0">
                <a:solidFill>
                  <a:schemeClr val="tx1">
                    <a:lumMod val="50000"/>
                    <a:lumOff val="50000"/>
                  </a:schemeClr>
                </a:solidFill>
                <a:latin typeface="Arial" panose="020B0604020202020204" pitchFamily="34" charset="0"/>
              </a:rPr>
              <a:t>[1] Code is available at </a:t>
            </a:r>
            <a:r>
              <a:rPr lang="en-US" dirty="0">
                <a:solidFill>
                  <a:schemeClr val="tx1">
                    <a:lumMod val="50000"/>
                    <a:lumOff val="50000"/>
                  </a:schemeClr>
                </a:solidFill>
                <a:latin typeface="Arial" panose="020B0604020202020204" pitchFamily="34" charset="0"/>
                <a:hlinkClick r:id="rId4"/>
              </a:rPr>
              <a:t>https://github.com/ruc-datalab/AutoPrep/</a:t>
            </a:r>
            <a:r>
              <a:rPr lang="en-US" dirty="0">
                <a:solidFill>
                  <a:schemeClr val="tx1">
                    <a:lumMod val="50000"/>
                    <a:lumOff val="50000"/>
                  </a:schemeClr>
                </a:solidFill>
                <a:latin typeface="Arial" panose="020B0604020202020204" pitchFamily="34" charset="0"/>
              </a:rPr>
              <a:t>     Contact us at </a:t>
            </a:r>
            <a:r>
              <a:rPr lang="en-US" dirty="0">
                <a:solidFill>
                  <a:schemeClr val="tx1">
                    <a:lumMod val="50000"/>
                    <a:lumOff val="50000"/>
                  </a:schemeClr>
                </a:solidFill>
                <a:latin typeface="Arial" panose="020B0604020202020204" pitchFamily="34" charset="0"/>
                <a:hlinkClick r:id="rId5"/>
              </a:rPr>
              <a:t>fanj@ruc.edu.cn</a:t>
            </a:r>
            <a:endParaRPr lang="en-US" dirty="0">
              <a:solidFill>
                <a:schemeClr val="tx1">
                  <a:lumMod val="50000"/>
                  <a:lumOff val="50000"/>
                </a:schemeClr>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7210"/>
    </mc:Choice>
    <mc:Fallback xmlns="">
      <p:transition spd="slow" advTm="4721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a:extLst>
              <a:ext uri="{28A0092B-C50C-407E-A947-70E740481C1C}">
                <a14:useLocalDpi xmlns:a14="http://schemas.microsoft.com/office/drawing/2010/main" val="0"/>
              </a:ext>
            </a:extLst>
          </a:blip>
          <a:srcRect t="18139" b="14853"/>
          <a:stretch>
            <a:fillRect/>
          </a:stretch>
        </p:blipFill>
        <p:spPr>
          <a:xfrm>
            <a:off x="609600" y="342900"/>
            <a:ext cx="10972800" cy="3589020"/>
          </a:xfrm>
          <a:prstGeom prst="rect">
            <a:avLst/>
          </a:prstGeom>
        </p:spPr>
      </p:pic>
      <p:pic>
        <p:nvPicPr>
          <p:cNvPr id="4" name="图片 3"/>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Layer>
                </a14:imgProps>
              </a:ext>
              <a:ext uri="{28A0092B-C50C-407E-A947-70E740481C1C}">
                <a14:useLocalDpi xmlns:a14="http://schemas.microsoft.com/office/drawing/2010/main" val="0"/>
              </a:ext>
            </a:extLst>
          </a:blip>
          <a:stretch>
            <a:fillRect/>
          </a:stretch>
        </p:blipFill>
        <p:spPr>
          <a:xfrm>
            <a:off x="2998471" y="611506"/>
            <a:ext cx="5634990" cy="5634990"/>
          </a:xfrm>
          <a:prstGeom prst="rect">
            <a:avLst/>
          </a:prstGeom>
        </p:spPr>
      </p:pic>
      <p:sp>
        <p:nvSpPr>
          <p:cNvPr id="5" name="矩形 4"/>
          <p:cNvSpPr/>
          <p:nvPr/>
        </p:nvSpPr>
        <p:spPr>
          <a:xfrm>
            <a:off x="592456" y="354330"/>
            <a:ext cx="10972800" cy="3589020"/>
          </a:xfrm>
          <a:prstGeom prst="rect">
            <a:avLst/>
          </a:prstGeom>
          <a:solidFill>
            <a:srgbClr val="AE0C2A">
              <a:alpha val="6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dirty="0">
              <a:cs typeface="+mn-ea"/>
              <a:sym typeface="+mn-lt"/>
            </a:endParaRPr>
          </a:p>
        </p:txBody>
      </p:sp>
      <p:sp>
        <p:nvSpPr>
          <p:cNvPr id="26" name="矩形 25"/>
          <p:cNvSpPr/>
          <p:nvPr/>
        </p:nvSpPr>
        <p:spPr>
          <a:xfrm>
            <a:off x="592456" y="3943351"/>
            <a:ext cx="10972800" cy="2571750"/>
          </a:xfrm>
          <a:prstGeom prst="rect">
            <a:avLst/>
          </a:prstGeom>
          <a:solidFill>
            <a:schemeClr val="bg1">
              <a:alpha val="9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dirty="0">
              <a:cs typeface="+mn-ea"/>
              <a:sym typeface="+mn-lt"/>
            </a:endParaRPr>
          </a:p>
        </p:txBody>
      </p:sp>
      <p:sp>
        <p:nvSpPr>
          <p:cNvPr id="29" name="椭圆 28"/>
          <p:cNvSpPr/>
          <p:nvPr/>
        </p:nvSpPr>
        <p:spPr>
          <a:xfrm>
            <a:off x="3910013" y="1474470"/>
            <a:ext cx="3811906" cy="3909060"/>
          </a:xfrm>
          <a:prstGeom prst="ellipse">
            <a:avLst/>
          </a:prstGeom>
          <a:noFill/>
          <a:ln w="57150">
            <a:gradFill flip="none" rotWithShape="1">
              <a:gsLst>
                <a:gs pos="42000">
                  <a:schemeClr val="bg1"/>
                </a:gs>
                <a:gs pos="32000">
                  <a:srgbClr val="AE0C2A"/>
                </a:gs>
                <a:gs pos="0">
                  <a:srgbClr val="AE0C2A"/>
                </a:gs>
                <a:gs pos="100000">
                  <a:schemeClr val="bg1"/>
                </a:gs>
              </a:gsLst>
              <a:lin ang="162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20">
              <a:cs typeface="+mn-ea"/>
              <a:sym typeface="+mn-lt"/>
            </a:endParaRPr>
          </a:p>
        </p:txBody>
      </p:sp>
      <p:sp>
        <p:nvSpPr>
          <p:cNvPr id="31" name="文本框 30"/>
          <p:cNvSpPr txBox="1"/>
          <p:nvPr/>
        </p:nvSpPr>
        <p:spPr>
          <a:xfrm>
            <a:off x="3798830" y="2649850"/>
            <a:ext cx="4285991" cy="1290097"/>
          </a:xfrm>
          <a:prstGeom prst="rect">
            <a:avLst/>
          </a:prstGeom>
          <a:noFill/>
        </p:spPr>
        <p:txBody>
          <a:bodyPr wrap="square" rtlCol="0">
            <a:spAutoFit/>
          </a:bodyPr>
          <a:lstStyle/>
          <a:p>
            <a:pPr algn="ctr">
              <a:spcAft>
                <a:spcPts val="720"/>
              </a:spcAft>
            </a:pPr>
            <a:r>
              <a:rPr lang="en-US" altLang="zh-CN" sz="3600" b="1" spc="636" dirty="0">
                <a:solidFill>
                  <a:srgbClr val="FFFBEE"/>
                </a:solidFill>
                <a:cs typeface="+mn-ea"/>
                <a:sym typeface="+mn-lt"/>
              </a:rPr>
              <a:t>THANK</a:t>
            </a:r>
            <a:r>
              <a:rPr lang="zh-CN" altLang="en-US" sz="3600" b="1" spc="636" dirty="0">
                <a:solidFill>
                  <a:srgbClr val="FFFBEE"/>
                </a:solidFill>
                <a:cs typeface="+mn-ea"/>
                <a:sym typeface="+mn-lt"/>
              </a:rPr>
              <a:t> </a:t>
            </a:r>
            <a:r>
              <a:rPr lang="en-US" altLang="zh-CN" sz="3600" b="1" spc="636" dirty="0">
                <a:solidFill>
                  <a:srgbClr val="FFFBEE"/>
                </a:solidFill>
                <a:cs typeface="+mn-ea"/>
                <a:sym typeface="+mn-lt"/>
              </a:rPr>
              <a:t>YOU</a:t>
            </a:r>
          </a:p>
          <a:p>
            <a:pPr algn="ctr">
              <a:spcAft>
                <a:spcPts val="720"/>
              </a:spcAft>
            </a:pPr>
            <a:r>
              <a:rPr lang="en-US" altLang="zh-CN" sz="3600" b="1" spc="636" dirty="0">
                <a:solidFill>
                  <a:srgbClr val="FFFBEE"/>
                </a:solidFill>
                <a:cs typeface="+mn-ea"/>
                <a:sym typeface="+mn-lt"/>
              </a:rPr>
              <a:t>Q</a:t>
            </a:r>
            <a:r>
              <a:rPr lang="zh-CN" altLang="en-US" sz="3600" b="1" spc="636" dirty="0">
                <a:solidFill>
                  <a:srgbClr val="FFFBEE"/>
                </a:solidFill>
                <a:cs typeface="+mn-ea"/>
                <a:sym typeface="+mn-lt"/>
              </a:rPr>
              <a:t> </a:t>
            </a:r>
            <a:r>
              <a:rPr lang="en-US" altLang="zh-CN" sz="3600" b="1" spc="636" dirty="0">
                <a:solidFill>
                  <a:srgbClr val="FFFBEE"/>
                </a:solidFill>
                <a:cs typeface="+mn-ea"/>
                <a:sym typeface="+mn-lt"/>
              </a:rPr>
              <a:t>&amp;</a:t>
            </a:r>
            <a:r>
              <a:rPr lang="zh-CN" altLang="en-US" sz="3600" b="1" spc="636" dirty="0">
                <a:solidFill>
                  <a:srgbClr val="FFFBEE"/>
                </a:solidFill>
                <a:cs typeface="+mn-ea"/>
                <a:sym typeface="+mn-lt"/>
              </a:rPr>
              <a:t> </a:t>
            </a:r>
            <a:r>
              <a:rPr lang="en-US" altLang="zh-CN" sz="3600" b="1" spc="636" dirty="0">
                <a:solidFill>
                  <a:srgbClr val="FFFBEE"/>
                </a:solidFill>
                <a:cs typeface="+mn-ea"/>
                <a:sym typeface="+mn-lt"/>
              </a:rPr>
              <a:t>A</a:t>
            </a:r>
            <a:endParaRPr lang="zh-CN" altLang="en-US" sz="3600" b="1" spc="636" dirty="0">
              <a:solidFill>
                <a:srgbClr val="FFFBEE"/>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9376</TotalTime>
  <Words>3339</Words>
  <Application>Microsoft Macintosh PowerPoint</Application>
  <PresentationFormat>宽屏</PresentationFormat>
  <Paragraphs>353</Paragraphs>
  <Slides>24</Slides>
  <Notes>24</Notes>
  <HiddenSlides>1</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24</vt:i4>
      </vt:variant>
    </vt:vector>
  </HeadingPairs>
  <TitlesOfParts>
    <vt:vector size="40" baseType="lpstr">
      <vt:lpstr>等线</vt:lpstr>
      <vt:lpstr>等线 Light</vt:lpstr>
      <vt:lpstr>Calibri Bold</vt:lpstr>
      <vt:lpstr>Calibri Regular</vt:lpstr>
      <vt:lpstr>Inter</vt:lpstr>
      <vt:lpstr>PingFang SC</vt:lpstr>
      <vt:lpstr>Arial</vt:lpstr>
      <vt:lpstr>Calibri</vt:lpstr>
      <vt:lpstr>Cambria Math</vt:lpstr>
      <vt:lpstr>Courier New</vt:lpstr>
      <vt:lpstr>Menlo</vt:lpstr>
      <vt:lpstr>Wingdings</vt:lpstr>
      <vt:lpstr>Office 主题​​</vt:lpstr>
      <vt:lpstr>Office 主题</vt:lpstr>
      <vt:lpstr>Visio</vt:lpstr>
      <vt:lpstr>Visio.Drawing.15</vt:lpstr>
      <vt:lpstr>AutoPrep: Natural Language Question-Aware Data Preparation with a Multi-Agent Framework</vt:lpstr>
      <vt:lpstr>Tabular Question Answering</vt:lpstr>
      <vt:lpstr>Data Prep Issues in TQA method</vt:lpstr>
      <vt:lpstr>Data Prep Issues in TQA method</vt:lpstr>
      <vt:lpstr>Data Prep Issues in TQA method</vt:lpstr>
      <vt:lpstr>Performance bottleneck lies in Data Qualities</vt:lpstr>
      <vt:lpstr>Question-aware Data Prep for TQA</vt:lpstr>
      <vt:lpstr>Key Challenge of Question-Aware Data Prep</vt:lpstr>
      <vt:lpstr>Our Proposed AutoPrep Framework</vt:lpstr>
      <vt:lpstr>Our Proposed AutoPrep Framework</vt:lpstr>
      <vt:lpstr>Our Proposed AutoPrep Framework</vt:lpstr>
      <vt:lpstr>The Planner</vt:lpstr>
      <vt:lpstr>The Planner</vt:lpstr>
      <vt:lpstr>The Programmer</vt:lpstr>
      <vt:lpstr>The Programmer</vt:lpstr>
      <vt:lpstr>The Programmer &amp; Executor</vt:lpstr>
      <vt:lpstr>Experimental Setup</vt:lpstr>
      <vt:lpstr>Improvement of Data Prep for TQA</vt:lpstr>
      <vt:lpstr>Data Prep Method Comparison</vt:lpstr>
      <vt:lpstr>Evaluation on Efficiency</vt:lpstr>
      <vt:lpstr>In-Depth Exploration of System Capabilities</vt:lpstr>
      <vt:lpstr>Case Study</vt:lpstr>
      <vt:lpstr>Conclusion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Domain Adaptation for Deep Entity Resolution</dc:title>
  <dc:creator>Microsoft Office User</dc:creator>
  <cp:lastModifiedBy>范梅浩 Fan</cp:lastModifiedBy>
  <cp:revision>783</cp:revision>
  <cp:lastPrinted>2025-09-02T10:35:45Z</cp:lastPrinted>
  <dcterms:created xsi:type="dcterms:W3CDTF">2024-08-28T09:48:00Z</dcterms:created>
  <dcterms:modified xsi:type="dcterms:W3CDTF">2025-09-16T06:51:49Z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093B33EF0038430609DECE6640AC15FB_43</vt:lpwstr>
  </property>
  <property fmtid="{D5CDD505-2E9C-101B-9397-08002B2CF9AE}" pid="3" name="KSOProductBuildVer">
    <vt:lpwstr>2052-11.8.2.12195</vt:lpwstr>
  </property>
</Properties>
</file>